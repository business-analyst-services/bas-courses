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uzzl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05  ·  Solution Design &amp; Business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Generate Solution 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Solution Options — blank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YOUR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3710330" cy="2651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3710330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&lt;item&gt;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828800"/>
            <a:ext cx="418592" cy="20116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819656"/>
            <a:ext cx="418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372868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371600"/>
            <a:ext cx="3710330" cy="2651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0682" y="1371600"/>
            <a:ext cx="3710330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6986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&lt;item&gt;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6986" y="1828800"/>
            <a:ext cx="418592" cy="20116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6986" y="1819656"/>
            <a:ext cx="418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6986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6986" y="2372868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7316" y="1371600"/>
            <a:ext cx="3710330" cy="2651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7316" y="1371600"/>
            <a:ext cx="3710330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3620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&lt;item&gt;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3620" y="1828800"/>
            <a:ext cx="418592" cy="20116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3620" y="1819656"/>
            <a:ext cx="418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3620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3620" y="2372868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YOUR PROJECT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88575" y="950976"/>
            <a:ext cx="1691640" cy="237744"/>
          </a:xfrm>
          <a:prstGeom prst="roundRect">
            <a:avLst/>
          </a:prstGeom>
          <a:solidFill>
            <a:srgbClr val="23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88575" y="960120"/>
            <a:ext cx="16916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★ MARQUEE TEMPLATE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uzzl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05  ·  Solution Design &amp; Business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Score the 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Weighted Scorecard — blank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YOUR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749808" y="4389120"/>
            <a:ext cx="11057839" cy="0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41247" y="1645919"/>
            <a:ext cx="502920" cy="2743200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444751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4443983"/>
            <a:ext cx="57607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5B6B75"/>
                </a:solidFill>
                <a:latin typeface="Arial"/>
              </a:rPr>
              <a:t>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66234" y="1645919"/>
            <a:ext cx="502920" cy="2743200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4794" y="1444751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6234" y="4443983"/>
            <a:ext cx="57607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5B6B75"/>
                </a:solidFill>
                <a:latin typeface="Arial"/>
              </a:rPr>
              <a:t>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1220" y="1645919"/>
            <a:ext cx="502920" cy="2743200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99780" y="1444751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1220" y="4443983"/>
            <a:ext cx="57607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5B6B75"/>
                </a:solidFill>
                <a:latin typeface="Arial"/>
              </a:rPr>
              <a:t>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7" y="4700016"/>
            <a:ext cx="146304" cy="14630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5" y="4681728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4283F"/>
                </a:solidFill>
                <a:latin typeface="Arial"/>
              </a:rPr>
              <a:t>Weighted score (of 5)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4992624"/>
            <a:ext cx="11423599" cy="713232"/>
          </a:xfrm>
          <a:prstGeom prst="roundRect">
            <a:avLst/>
          </a:prstGeom>
          <a:solidFill>
            <a:srgbClr val="F3FAF8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4992624"/>
            <a:ext cx="11423599" cy="45720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" y="5120640"/>
            <a:ext cx="111675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4283F"/>
                </a:solidFill>
                <a:latin typeface="Arial"/>
              </a:rPr>
              <a:t>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" y="5486400"/>
            <a:ext cx="1116756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RECOMMENDATION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YOUR PROJECT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uzzl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05  ·  Solution Design &amp; Business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Size Costs &amp;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Cost-Benefit Model — blank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YOUR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749808" y="4389120"/>
            <a:ext cx="11057839" cy="0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41247" y="2331720"/>
            <a:ext cx="502920" cy="2057400"/>
          </a:xfrm>
          <a:prstGeom prst="roundRect">
            <a:avLst/>
          </a:prstGeom>
          <a:solidFill>
            <a:srgbClr val="88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130551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17319" y="1645919"/>
            <a:ext cx="502920" cy="2743200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79" y="1444751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4443983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5B6B75"/>
                </a:solidFill>
                <a:latin typeface="Arial"/>
              </a:rPr>
              <a:t>Year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66234" y="2331720"/>
            <a:ext cx="502920" cy="2057400"/>
          </a:xfrm>
          <a:prstGeom prst="roundRect">
            <a:avLst/>
          </a:prstGeom>
          <a:solidFill>
            <a:srgbClr val="88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4794" y="2130551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42306" y="1645919"/>
            <a:ext cx="502920" cy="2743200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50866" y="1444751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6234" y="4443983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5B6B75"/>
                </a:solidFill>
                <a:latin typeface="Arial"/>
              </a:rPr>
              <a:t>Year 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1220" y="2331720"/>
            <a:ext cx="502920" cy="2057400"/>
          </a:xfrm>
          <a:prstGeom prst="roundRect">
            <a:avLst/>
          </a:prstGeom>
          <a:solidFill>
            <a:srgbClr val="88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99780" y="2130551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67292" y="1645919"/>
            <a:ext cx="502920" cy="2743200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75852" y="1444751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1220" y="4443983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5B6B75"/>
                </a:solidFill>
                <a:latin typeface="Arial"/>
              </a:rPr>
              <a:t>Year 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7" y="4700016"/>
            <a:ext cx="146304" cy="146304"/>
          </a:xfrm>
          <a:prstGeom prst="rect">
            <a:avLst/>
          </a:prstGeom>
          <a:solidFill>
            <a:srgbClr val="88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5" y="4681728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4283F"/>
                </a:solidFill>
                <a:latin typeface="Arial"/>
              </a:rPr>
              <a:t>Cost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91056" y="4700016"/>
            <a:ext cx="146304" cy="14630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92224" y="4681728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4283F"/>
                </a:solidFill>
                <a:latin typeface="Arial"/>
              </a:rPr>
              <a:t>Benefit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" y="4992624"/>
            <a:ext cx="3710330" cy="713232"/>
          </a:xfrm>
          <a:prstGeom prst="roundRect">
            <a:avLst/>
          </a:prstGeom>
          <a:solidFill>
            <a:srgbClr val="F3FAF8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4048" y="4992624"/>
            <a:ext cx="3710330" cy="45720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5120640"/>
            <a:ext cx="3454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4283F"/>
                </a:solidFill>
                <a:latin typeface="Arial"/>
              </a:rPr>
              <a:t>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" y="5486400"/>
            <a:ext cx="345429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NPV (3-YR)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40682" y="4992624"/>
            <a:ext cx="3710330" cy="713232"/>
          </a:xfrm>
          <a:prstGeom prst="roundRect">
            <a:avLst/>
          </a:prstGeom>
          <a:solidFill>
            <a:srgbClr val="F3FAF8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40682" y="4992624"/>
            <a:ext cx="3710330" cy="45720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68698" y="5120640"/>
            <a:ext cx="3454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4283F"/>
                </a:solidFill>
                <a:latin typeface="Arial"/>
              </a:rPr>
              <a:t>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68698" y="5486400"/>
            <a:ext cx="345429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PAYBACK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97316" y="4992624"/>
            <a:ext cx="3710330" cy="713232"/>
          </a:xfrm>
          <a:prstGeom prst="roundRect">
            <a:avLst/>
          </a:prstGeom>
          <a:solidFill>
            <a:srgbClr val="F3FAF8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97316" y="4992624"/>
            <a:ext cx="3710330" cy="45720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5332" y="5120640"/>
            <a:ext cx="3454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4283F"/>
                </a:solidFill>
                <a:latin typeface="Arial"/>
              </a:rPr>
              <a:t>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5332" y="5486400"/>
            <a:ext cx="345429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YEAR-1 COST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YOUR PROJECT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uzzl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05  ·  Solution Design &amp; Business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One-Page Business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One-Page Business Case — blank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YOUR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11423599" cy="603504"/>
          </a:xfrm>
          <a:prstGeom prst="roundRect">
            <a:avLst/>
          </a:prstGeom>
          <a:solidFill>
            <a:srgbClr val="F3FAF8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54864" cy="60350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426464"/>
            <a:ext cx="110578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THE 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91056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4283F"/>
                </a:solidFill>
                <a:latin typeface="Arial"/>
              </a:rPr>
              <a:t>State it in one clear sentence (plain language, with a number).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2139696"/>
            <a:ext cx="371033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139696"/>
            <a:ext cx="3710330" cy="5486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2304288"/>
            <a:ext cx="34542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14283F"/>
                </a:solidFill>
                <a:latin typeface="Arial"/>
              </a:rPr>
              <a:t>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2743200"/>
            <a:ext cx="345429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NPV (3-YR)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0682" y="2139696"/>
            <a:ext cx="371033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40682" y="2139696"/>
            <a:ext cx="3710330" cy="5486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8698" y="2304288"/>
            <a:ext cx="34542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14283F"/>
                </a:solidFill>
                <a:latin typeface="Arial"/>
              </a:rPr>
              <a:t>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8698" y="2743200"/>
            <a:ext cx="345429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PAYBACK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7316" y="2139696"/>
            <a:ext cx="371033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7316" y="2139696"/>
            <a:ext cx="3710330" cy="5486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5332" y="2304288"/>
            <a:ext cx="34542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14283F"/>
                </a:solidFill>
                <a:latin typeface="Arial"/>
              </a:rPr>
              <a:t>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5332" y="2743200"/>
            <a:ext cx="345429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YEAR-1 COST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3191256"/>
            <a:ext cx="368594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RECOMMENDED OPTION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3429000"/>
            <a:ext cx="365760" cy="22860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584447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3520439"/>
            <a:ext cx="35213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0" name="Oval 29"/>
          <p:cNvSpPr/>
          <p:nvPr/>
        </p:nvSpPr>
        <p:spPr>
          <a:xfrm>
            <a:off x="384048" y="3822191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3758183"/>
            <a:ext cx="35213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2" name="Oval 31"/>
          <p:cNvSpPr/>
          <p:nvPr/>
        </p:nvSpPr>
        <p:spPr>
          <a:xfrm>
            <a:off x="384048" y="4059935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3995927"/>
            <a:ext cx="35213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2874" y="3191256"/>
            <a:ext cx="368594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TOP RISKS &amp; MITIGATIONS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52874" y="3429000"/>
            <a:ext cx="365760" cy="22860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252874" y="3584447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99178" y="3520439"/>
            <a:ext cx="35213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8" name="Oval 37"/>
          <p:cNvSpPr/>
          <p:nvPr/>
        </p:nvSpPr>
        <p:spPr>
          <a:xfrm>
            <a:off x="4252874" y="3822191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99178" y="3758183"/>
            <a:ext cx="35213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40" name="Oval 39"/>
          <p:cNvSpPr/>
          <p:nvPr/>
        </p:nvSpPr>
        <p:spPr>
          <a:xfrm>
            <a:off x="4252874" y="4059935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99178" y="3995927"/>
            <a:ext cx="35213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21700" y="3191256"/>
            <a:ext cx="368594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DECISION REQUIRED BY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21700" y="3429000"/>
            <a:ext cx="365760" cy="22860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121700" y="3584447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68004" y="3520439"/>
            <a:ext cx="35213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46" name="Oval 45"/>
          <p:cNvSpPr/>
          <p:nvPr/>
        </p:nvSpPr>
        <p:spPr>
          <a:xfrm>
            <a:off x="8121700" y="3822191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68004" y="3758183"/>
            <a:ext cx="35213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48" name="Oval 47"/>
          <p:cNvSpPr/>
          <p:nvPr/>
        </p:nvSpPr>
        <p:spPr>
          <a:xfrm>
            <a:off x="8121700" y="4059935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68004" y="3995927"/>
            <a:ext cx="35213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YOUR PROJECT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088575" y="950976"/>
            <a:ext cx="1691640" cy="237744"/>
          </a:xfrm>
          <a:prstGeom prst="roundRect">
            <a:avLst/>
          </a:prstGeom>
          <a:solidFill>
            <a:srgbClr val="23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88575" y="960120"/>
            <a:ext cx="16916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★ MARQUEE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