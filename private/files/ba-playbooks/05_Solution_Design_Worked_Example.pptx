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uzz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05  ·  Solution Design &amp; Business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Generate Solution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Solution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 - Build in-house KYC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693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69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Build ID verification and orchestration in-house against core banking.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Components: KYC service, orchestration, fraud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889504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Assumes: We can hire ML/KYC engineers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 - Buy SaaS ID-verification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6986" y="1828800"/>
            <a:ext cx="4693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6986" y="1819656"/>
            <a:ext cx="469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Customer form -&gt; SaaS API -&gt; core banking via middleware.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Components: SaaS provider, integration 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6986" y="2889504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Assumes: Provider supports our compliance regime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7316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 - Configure core banking add-on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3620" y="1828800"/>
            <a:ext cx="4693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3620" y="1819656"/>
            <a:ext cx="469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Enable the core banking vendor's onboarding module.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Components: Vendor module, config, light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3620" y="2889504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Assumes: Module meets KYC depth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uzz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05  ·  Solution Design &amp; Business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Score the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Weighted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49808" y="4389120"/>
            <a:ext cx="11057839" cy="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7" y="2226832"/>
            <a:ext cx="502920" cy="2162287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2566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3.35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443983"/>
            <a:ext cx="576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6234" y="1645919"/>
            <a:ext cx="502920" cy="274320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4794" y="14447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4.25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6234" y="4443983"/>
            <a:ext cx="576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1220" y="2355924"/>
            <a:ext cx="502920" cy="2033195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9780" y="2154756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3.15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1220" y="4443983"/>
            <a:ext cx="5760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7" y="4700016"/>
            <a:ext cx="146304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468172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Weighted score (of 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992624"/>
            <a:ext cx="11423599" cy="713232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4992624"/>
            <a:ext cx="11423599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5120640"/>
            <a:ext cx="111675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4283F"/>
                </a:solidFill>
                <a:latin typeface="Arial"/>
              </a:rPr>
              <a:t>Buy SaaS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5486400"/>
            <a:ext cx="1116756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RECOMMENDATION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uzz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05  ·  Solution Design &amp; Business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Size Costs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Cost-Benefit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49808" y="4389120"/>
            <a:ext cx="11057839" cy="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7" y="2230536"/>
            <a:ext cx="502920" cy="2158583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29368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$480k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19" y="3444739"/>
            <a:ext cx="502920" cy="94438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79" y="324357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$210k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443983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Year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6234" y="3624621"/>
            <a:ext cx="502920" cy="764498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4794" y="3423453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$170k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2306" y="1870772"/>
            <a:ext cx="502920" cy="2518347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0866" y="166960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$560k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6234" y="4443983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Year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1220" y="3624621"/>
            <a:ext cx="502920" cy="764498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9780" y="3423453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$170k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67292" y="1645919"/>
            <a:ext cx="502920" cy="274320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5852" y="1444751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$610k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1220" y="4443983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B6B75"/>
                </a:solidFill>
                <a:latin typeface="Arial"/>
              </a:rPr>
              <a:t>Year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7" y="4700016"/>
            <a:ext cx="146304" cy="146304"/>
          </a:xfrm>
          <a:prstGeom prst="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468172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91056" y="4700016"/>
            <a:ext cx="146304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92224" y="468172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Benefit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992624"/>
            <a:ext cx="3710330" cy="713232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992624"/>
            <a:ext cx="3710330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20640"/>
            <a:ext cx="3454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4283F"/>
                </a:solidFill>
                <a:latin typeface="Arial"/>
              </a:rPr>
              <a:t>$890k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5486400"/>
            <a:ext cx="345429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NPV (3-YR)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682" y="4992624"/>
            <a:ext cx="3710330" cy="713232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40682" y="4992624"/>
            <a:ext cx="3710330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8698" y="5120640"/>
            <a:ext cx="3454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4283F"/>
                </a:solidFill>
                <a:latin typeface="Arial"/>
              </a:rPr>
              <a:t>14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8698" y="5486400"/>
            <a:ext cx="345429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PAYBACK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7316" y="4992624"/>
            <a:ext cx="3710330" cy="713232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7316" y="4992624"/>
            <a:ext cx="3710330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5332" y="5120640"/>
            <a:ext cx="3454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4283F"/>
                </a:solidFill>
                <a:latin typeface="Arial"/>
              </a:rPr>
              <a:t>$480k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5332" y="5486400"/>
            <a:ext cx="345429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YEAR-1 COST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uzz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05  ·  Solution Design &amp; Business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One-Page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One-Page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11423599" cy="603504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4864" cy="6035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2646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283F"/>
                </a:solidFill>
                <a:latin typeface="Arial"/>
              </a:rPr>
              <a:t>Approve $480k year-1 to cut onboarding from 14 to 5 days; NPV $890k, payback 14 months.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$890k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743200"/>
            <a:ext cx="34542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NPV (3-YR)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0682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8698" y="2304288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14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2743200"/>
            <a:ext cx="34542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PAYBACK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5332" y="2304288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$480k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5332" y="2743200"/>
            <a:ext cx="34542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YEAR-1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191256"/>
            <a:ext cx="368594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RECOMMENDED OPTION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520439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Option B - Buy the SaaS ID-verification platform and integrate via middleware.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2874" y="3191256"/>
            <a:ext cx="368594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TOP RISKS &amp; MITIGATIONS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2874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52874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9178" y="3520439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Vendor outage halts onboarding → Queue-and-retry + manual fallback path</a:t>
            </a:r>
          </a:p>
        </p:txBody>
      </p:sp>
      <p:sp>
        <p:nvSpPr>
          <p:cNvPr id="34" name="Oval 33"/>
          <p:cNvSpPr/>
          <p:nvPr/>
        </p:nvSpPr>
        <p:spPr>
          <a:xfrm>
            <a:off x="4252874" y="3877056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9178" y="3813048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False-accept rate breaches appetite → Tunable thresholds + monthly model review</a:t>
            </a:r>
          </a:p>
        </p:txBody>
      </p:sp>
      <p:sp>
        <p:nvSpPr>
          <p:cNvPr id="36" name="Oval 35"/>
          <p:cNvSpPr/>
          <p:nvPr/>
        </p:nvSpPr>
        <p:spPr>
          <a:xfrm>
            <a:off x="4252874" y="4169664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9178" y="4105656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PII handling gap → PCI DSS review + data-minimisation in the contract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1700" y="3191256"/>
            <a:ext cx="368594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DECISION REQUIRED BY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1700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21700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8004" y="3520439"/>
            <a:ext cx="3521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End-of-November steering, to start in January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