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4" r:id="rId3"/>
    <p:sldId id="265" r:id="rId4"/>
    <p:sldId id="266" r:id="rId5"/>
    <p:sldId id="309" r:id="rId6"/>
    <p:sldId id="310" r:id="rId7"/>
    <p:sldId id="311" r:id="rId8"/>
    <p:sldId id="31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1A02C2-5E92-4B42-A09F-5E8E056750B3}" v="2" dt="2026-05-25T14:40:49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le Dodge" userId="dc0199a935818bc1" providerId="LiveId" clId="{91991F84-C581-4593-8D69-68EBBDE776F9}"/>
    <pc:docChg chg="custSel addSld modSld">
      <pc:chgData name="Chale Dodge" userId="dc0199a935818bc1" providerId="LiveId" clId="{91991F84-C581-4593-8D69-68EBBDE776F9}" dt="2026-05-25T14:41:09.327" v="3" actId="478"/>
      <pc:docMkLst>
        <pc:docMk/>
      </pc:docMkLst>
      <pc:sldChg chg="add">
        <pc:chgData name="Chale Dodge" userId="dc0199a935818bc1" providerId="LiveId" clId="{91991F84-C581-4593-8D69-68EBBDE776F9}" dt="2026-05-25T14:40:49.973" v="1"/>
        <pc:sldMkLst>
          <pc:docMk/>
          <pc:sldMk cId="0" sldId="309"/>
        </pc:sldMkLst>
      </pc:sldChg>
      <pc:sldChg chg="delSp add mod">
        <pc:chgData name="Chale Dodge" userId="dc0199a935818bc1" providerId="LiveId" clId="{91991F84-C581-4593-8D69-68EBBDE776F9}" dt="2026-05-25T14:41:09.327" v="3" actId="478"/>
        <pc:sldMkLst>
          <pc:docMk/>
          <pc:sldMk cId="0" sldId="310"/>
        </pc:sldMkLst>
        <pc:spChg chg="del">
          <ac:chgData name="Chale Dodge" userId="dc0199a935818bc1" providerId="LiveId" clId="{91991F84-C581-4593-8D69-68EBBDE776F9}" dt="2026-05-25T14:41:09.327" v="3" actId="478"/>
          <ac:spMkLst>
            <pc:docMk/>
            <pc:sldMk cId="0" sldId="310"/>
            <ac:spMk id="4" creationId="{00000000-0000-0000-0000-000000000000}"/>
          </ac:spMkLst>
        </pc:spChg>
        <pc:spChg chg="del">
          <ac:chgData name="Chale Dodge" userId="dc0199a935818bc1" providerId="LiveId" clId="{91991F84-C581-4593-8D69-68EBBDE776F9}" dt="2026-05-25T14:41:06.972" v="2" actId="478"/>
          <ac:spMkLst>
            <pc:docMk/>
            <pc:sldMk cId="0" sldId="310"/>
            <ac:spMk id="5" creationId="{00000000-0000-0000-0000-000000000000}"/>
          </ac:spMkLst>
        </pc:spChg>
      </pc:sldChg>
      <pc:sldChg chg="add">
        <pc:chgData name="Chale Dodge" userId="dc0199a935818bc1" providerId="LiveId" clId="{91991F84-C581-4593-8D69-68EBBDE776F9}" dt="2026-05-25T14:40:09.014" v="0"/>
        <pc:sldMkLst>
          <pc:docMk/>
          <pc:sldMk cId="0" sldId="311"/>
        </pc:sldMkLst>
      </pc:sldChg>
      <pc:sldChg chg="add">
        <pc:chgData name="Chale Dodge" userId="dc0199a935818bc1" providerId="LiveId" clId="{91991F84-C581-4593-8D69-68EBBDE776F9}" dt="2026-05-25T14:40:09.014" v="0"/>
        <pc:sldMkLst>
          <pc:docMk/>
          <pc:sldMk cId="0" sldId="31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02  ·  Process Mapping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Confirm Scope &amp; 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Process Scope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11423599" cy="603504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4864" cy="6035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426464"/>
            <a:ext cx="1105783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9105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283F"/>
                </a:solidFill>
                <a:latin typeface="Arial"/>
              </a:rPr>
              <a:t>Customer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Customer submits onboarding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743200"/>
            <a:ext cx="34542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0682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40682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68698" y="2304288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Customer account is active and fun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2743200"/>
            <a:ext cx="34542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END EVENT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7316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5332" y="2304288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Level 2 (per role)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5332" y="2743200"/>
            <a:ext cx="34542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191256"/>
            <a:ext cx="56203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LANES (ROLES / SYSTEMS)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4048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3520439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Customer</a:t>
            </a:r>
          </a:p>
        </p:txBody>
      </p:sp>
      <p:sp>
        <p:nvSpPr>
          <p:cNvPr id="30" name="Oval 29"/>
          <p:cNvSpPr/>
          <p:nvPr/>
        </p:nvSpPr>
        <p:spPr>
          <a:xfrm>
            <a:off x="384048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3758183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Onboarding Ops</a:t>
            </a:r>
          </a:p>
        </p:txBody>
      </p:sp>
      <p:sp>
        <p:nvSpPr>
          <p:cNvPr id="32" name="Oval 31"/>
          <p:cNvSpPr/>
          <p:nvPr/>
        </p:nvSpPr>
        <p:spPr>
          <a:xfrm>
            <a:off x="384048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3995927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Compliance</a:t>
            </a:r>
          </a:p>
        </p:txBody>
      </p:sp>
      <p:sp>
        <p:nvSpPr>
          <p:cNvPr id="34" name="Oval 33"/>
          <p:cNvSpPr/>
          <p:nvPr/>
        </p:nvSpPr>
        <p:spPr>
          <a:xfrm>
            <a:off x="384048" y="4297679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4233671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Core Banking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7287" y="3191256"/>
            <a:ext cx="56203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OUT OF SCOPE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87287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187287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33591" y="3520439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Marketing acquisition</a:t>
            </a:r>
          </a:p>
        </p:txBody>
      </p:sp>
      <p:sp>
        <p:nvSpPr>
          <p:cNvPr id="40" name="Oval 39"/>
          <p:cNvSpPr/>
          <p:nvPr/>
        </p:nvSpPr>
        <p:spPr>
          <a:xfrm>
            <a:off x="6187287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33591" y="3758183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Card production &amp; mailing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02  ·  Process Mapping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Map the As-Is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As-Is Swimlane + Task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371600"/>
            <a:ext cx="1554480" cy="877824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444752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Customer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8528" y="1371600"/>
            <a:ext cx="986911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2286000"/>
            <a:ext cx="1554480" cy="877824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359152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Onboarding 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2286000"/>
            <a:ext cx="9869119" cy="877824"/>
          </a:xfrm>
          <a:prstGeom prst="rect">
            <a:avLst/>
          </a:prstGeom>
          <a:solidFill>
            <a:srgbClr val="F2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3200400"/>
            <a:ext cx="1554480" cy="877824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273552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38528" y="3200400"/>
            <a:ext cx="986911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4048" y="4114800"/>
            <a:ext cx="1554480" cy="877824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4187952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Core Banking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38528" y="4114800"/>
            <a:ext cx="9869119" cy="877824"/>
          </a:xfrm>
          <a:prstGeom prst="rect">
            <a:avLst/>
          </a:prstGeom>
          <a:solidFill>
            <a:srgbClr val="F2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048256" y="3291840"/>
            <a:ext cx="1828800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48256" y="3291840"/>
            <a:ext cx="45720" cy="69494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57984" y="334670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14283F"/>
                </a:solidFill>
                <a:latin typeface="Arial"/>
              </a:rPr>
              <a:t>Manually verify 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57984" y="3730752"/>
            <a:ext cx="412242" cy="20116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57984" y="3721608"/>
            <a:ext cx="41224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38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15946" y="3730752"/>
            <a:ext cx="453517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15946" y="3721608"/>
            <a:ext cx="45351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18% rwk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41648" y="2377440"/>
            <a:ext cx="1828800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41648" y="2377440"/>
            <a:ext cx="45720" cy="69494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51376" y="243230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14283F"/>
                </a:solidFill>
                <a:latin typeface="Arial"/>
              </a:rPr>
              <a:t>Review supporting documents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51376" y="2816352"/>
            <a:ext cx="412242" cy="20116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51376" y="2807208"/>
            <a:ext cx="41224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09338" y="2816352"/>
            <a:ext cx="453517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09338" y="2807208"/>
            <a:ext cx="45351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12% rwk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7912" y="307238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8896A0"/>
                </a:solidFill>
                <a:latin typeface="Arial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4206240"/>
            <a:ext cx="1828800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35040" y="4206240"/>
            <a:ext cx="45720" cy="69494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44768" y="4261103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14283F"/>
                </a:solidFill>
                <a:latin typeface="Arial"/>
              </a:rPr>
              <a:t>Provision account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44768" y="4645151"/>
            <a:ext cx="370967" cy="20116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44768" y="4636007"/>
            <a:ext cx="37096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1 day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61455" y="4645151"/>
            <a:ext cx="41224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61455" y="4636007"/>
            <a:ext cx="41224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6% rwk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1304" y="352958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8896A0"/>
                </a:solidFill>
                <a:latin typeface="Arial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8432" y="3291840"/>
            <a:ext cx="1828800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028432" y="3291840"/>
            <a:ext cx="45720" cy="69494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38160" y="334670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14283F"/>
                </a:solidFill>
                <a:latin typeface="Arial"/>
              </a:rPr>
              <a:t>Manual fraud queue check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3730752"/>
            <a:ext cx="783717" cy="20116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38160" y="3721608"/>
            <a:ext cx="78371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6 days p95 wait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7597" y="3730752"/>
            <a:ext cx="41224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67597" y="3721608"/>
            <a:ext cx="41224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9% rwk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54696" y="398678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8896A0"/>
                </a:solidFill>
                <a:latin typeface="Arial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02  ·  Process Mapping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Identify Pain Points &amp; Value Leaks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Pain Point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638647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Handoff Onboarding Ops -&gt;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672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672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Priority 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76096" y="1828800"/>
            <a:ext cx="3677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76096" y="1819656"/>
            <a:ext cx="3677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wait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103120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Avg 2.4 days delay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372868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Cost: $87k/yr deferred 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8999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8999" y="1371600"/>
            <a:ext cx="5638647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15303" y="14996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Manual ID verification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5303" y="1828800"/>
            <a:ext cx="672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5303" y="1819656"/>
            <a:ext cx="672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Priority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61047" y="1828800"/>
            <a:ext cx="4693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1047" y="1819656"/>
            <a:ext cx="4693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5303" y="2103120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Structured digital data keyed by hand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03" y="2372868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Cost: $190k/yr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4048" y="3968496"/>
            <a:ext cx="5638647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4096511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Fraud review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4425696"/>
            <a:ext cx="672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4416552"/>
            <a:ext cx="672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Priority 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76096" y="4425696"/>
            <a:ext cx="3677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76096" y="4416552"/>
            <a:ext cx="3677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wait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4700016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p95 of 6 days wait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969764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Cost: $310k/yr deferred revenue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8999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68999" y="3968496"/>
            <a:ext cx="5638647" cy="64008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15303" y="4096511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ID rework loop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15303" y="4425696"/>
            <a:ext cx="672592" cy="201168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15303" y="4416552"/>
            <a:ext cx="672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Priority 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61047" y="4425696"/>
            <a:ext cx="469392" cy="20116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61047" y="4416552"/>
            <a:ext cx="4693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rework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5303" y="4700016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18% of IDs returned for image quality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5303" y="4969764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Cost: $120k/yr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02  ·  Process Mapping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Design the To-Be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To-Be Change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638647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Change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7233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7233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As-Is: Manual ID verification (38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72868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To-Be: API call to ID provider (45 sec)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642615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Impact: 99% time cut, removes rework loop, reskill 2 FTEs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8999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8999" y="1371600"/>
            <a:ext cx="5638647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15303" y="14996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Change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303" y="1828800"/>
            <a:ext cx="7233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15303" y="1819656"/>
            <a:ext cx="7233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IMPROVEMENT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5303" y="2103120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As-Is: Sequential review then provision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5303" y="2372868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To-Be: Parallel compliance + provisioning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303" y="2642615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Impact: Removes ~1 day of waiting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4048" y="3968496"/>
            <a:ext cx="5638647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4096511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Change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4425696"/>
            <a:ext cx="7233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4416552"/>
            <a:ext cx="7233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IMPROVEMENT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700016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As-Is: Fraud queue (p95 6 days)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4969764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To-Be: Risk-scored triage, exceptions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239512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Impact: p95 6 days -&gt; under 24 hrs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8999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68999" y="3968496"/>
            <a:ext cx="5638647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15303" y="4096511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Change 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15303" y="4425696"/>
            <a:ext cx="7233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15303" y="4416552"/>
            <a:ext cx="7233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IMPROVEMENT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303" y="4700016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As-Is: Document review (25 min)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5303" y="4969764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To-Be: Auto-extract + validate, exception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5303" y="5239512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Impact: 25 min -&gt; 4 min average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66344" y="283464"/>
            <a:ext cx="566928" cy="5669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" y="396849"/>
            <a:ext cx="340156" cy="340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8686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789A0"/>
                </a:solidFill>
                <a:latin typeface="Arial"/>
              </a:rPr>
              <a:t>PLAYBOOK 02  ·  BPMN 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96926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4283F"/>
                </a:solidFill>
                <a:latin typeface="Arial"/>
              </a:rPr>
              <a:t>BPMN — the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9264"/>
            <a:ext cx="9692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WHAT THIS IS  </a:t>
            </a:r>
            <a:r>
              <a:rPr sz="1000" b="1" i="0">
                <a:solidFill>
                  <a:srgbClr val="0E6E80"/>
                </a:solidFill>
                <a:latin typeface="Arial"/>
              </a:rPr>
              <a:t>The shapes you use to map the As-Is and design the To-Be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274320"/>
            <a:ext cx="2971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6C2"/>
                </a:solidFill>
                <a:latin typeface="Arial"/>
              </a:rPr>
              <a:t>BPMN 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95967" y="603504"/>
            <a:ext cx="1993392" cy="246888"/>
          </a:xfrm>
          <a:prstGeom prst="round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95967" y="598932"/>
            <a:ext cx="1993392" cy="2468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★ REFERENCE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11274552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1417320"/>
            <a:ext cx="2697480" cy="4946904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417320"/>
            <a:ext cx="269748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435608"/>
            <a:ext cx="251460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 i="0">
                <a:solidFill>
                  <a:srgbClr val="FFFFFF"/>
                </a:solidFill>
                <a:latin typeface="Arial"/>
              </a:rPr>
              <a:t>FLOW OBJECTS —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2388108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2342388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Start 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543556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Begins the process (the trigger)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" y="3909059"/>
            <a:ext cx="347472" cy="3474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81446" y="3968130"/>
            <a:ext cx="229331" cy="22933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3863339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Intermediate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064508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Something happens mid-flow (timer / message)</a:t>
            </a:r>
          </a:p>
        </p:txBody>
      </p:sp>
      <p:sp>
        <p:nvSpPr>
          <p:cNvPr id="22" name="Oval 21"/>
          <p:cNvSpPr/>
          <p:nvPr/>
        </p:nvSpPr>
        <p:spPr>
          <a:xfrm>
            <a:off x="722376" y="5430012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6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5384292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End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585460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Ends the process (the outcome)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82696" y="1417320"/>
            <a:ext cx="2697480" cy="4946904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82696" y="1417320"/>
            <a:ext cx="269748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92424" y="1435608"/>
            <a:ext cx="251460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 i="0">
                <a:solidFill>
                  <a:srgbClr val="FFFFFF"/>
                </a:solidFill>
                <a:latin typeface="Arial"/>
              </a:rPr>
              <a:t>ACTIVITIES &amp; GATEWAYS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0712" y="2216277"/>
            <a:ext cx="621792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23944" y="2152269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3944" y="2353437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 single unit of work, in one lane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10712" y="3356991"/>
            <a:ext cx="621792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11880" y="3512439"/>
            <a:ext cx="219456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23944" y="3292983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Sub-process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23944" y="3494151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 collapsed set of tasks (+)</a:t>
            </a:r>
          </a:p>
        </p:txBody>
      </p:sp>
      <p:sp>
        <p:nvSpPr>
          <p:cNvPr id="35" name="Diamond 34"/>
          <p:cNvSpPr/>
          <p:nvPr/>
        </p:nvSpPr>
        <p:spPr>
          <a:xfrm>
            <a:off x="3529584" y="4461129"/>
            <a:ext cx="384048" cy="384048"/>
          </a:xfrm>
          <a:prstGeom prst="diamond">
            <a:avLst/>
          </a:prstGeom>
          <a:solidFill>
            <a:srgbClr val="FFFFFF"/>
          </a:solidFill>
          <a:ln w="17780">
            <a:solidFill>
              <a:srgbClr val="0E6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29584" y="4451985"/>
            <a:ext cx="384048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E6E80"/>
                </a:solidFill>
                <a:latin typeface="Arial"/>
              </a:rP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23944" y="4433697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Exclusive gateway (XOR)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23944" y="4634865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One path only — a decision</a:t>
            </a:r>
          </a:p>
        </p:txBody>
      </p:sp>
      <p:sp>
        <p:nvSpPr>
          <p:cNvPr id="39" name="Diamond 38"/>
          <p:cNvSpPr/>
          <p:nvPr/>
        </p:nvSpPr>
        <p:spPr>
          <a:xfrm>
            <a:off x="3529584" y="5601843"/>
            <a:ext cx="384048" cy="384048"/>
          </a:xfrm>
          <a:prstGeom prst="diamond">
            <a:avLst/>
          </a:prstGeom>
          <a:solidFill>
            <a:srgbClr val="FFFFFF"/>
          </a:solidFill>
          <a:ln w="17780">
            <a:solidFill>
              <a:srgbClr val="0E6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29584" y="5592699"/>
            <a:ext cx="384048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E6E80"/>
                </a:solidFill>
                <a:latin typeface="Arial"/>
              </a:rPr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23944" y="5574411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Parallel gateway (AND)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23944" y="5775579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All paths run at once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08192" y="1417320"/>
            <a:ext cx="2697480" cy="4946904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08192" y="1417320"/>
            <a:ext cx="269748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0" y="1435608"/>
            <a:ext cx="251460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 i="0">
                <a:solidFill>
                  <a:srgbClr val="FFFFFF"/>
                </a:solidFill>
                <a:latin typeface="Arial"/>
              </a:rPr>
              <a:t>CONNECTING OBJECTS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199632" y="2561844"/>
            <a:ext cx="621792" cy="0"/>
          </a:xfrm>
          <a:prstGeom prst="line">
            <a:avLst/>
          </a:prstGeom>
          <a:ln w="20320">
            <a:solidFill>
              <a:srgbClr val="1428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6793992" y="2497836"/>
            <a:ext cx="137160" cy="128016"/>
          </a:xfrm>
          <a:prstGeom prst="triangl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49440" y="2342388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Sequence flow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2543556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Order of steps within a lane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99632" y="4082796"/>
            <a:ext cx="621792" cy="0"/>
          </a:xfrm>
          <a:prstGeom prst="line">
            <a:avLst/>
          </a:prstGeom>
          <a:ln w="20320">
            <a:solidFill>
              <a:srgbClr val="5B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6793992" y="4018787"/>
            <a:ext cx="137160" cy="128016"/>
          </a:xfrm>
          <a:prstGeom prst="triangle">
            <a:avLst/>
          </a:prstGeom>
          <a:solidFill>
            <a:srgbClr val="5B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49440" y="3863339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Message 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064508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 message between pools (dashed)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199632" y="5603748"/>
            <a:ext cx="694944" cy="0"/>
          </a:xfrm>
          <a:prstGeom prst="line">
            <a:avLst/>
          </a:prstGeom>
          <a:ln w="16510">
            <a:solidFill>
              <a:srgbClr val="5B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949440" y="5384292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Association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5585460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Links a note or data to a step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33688" y="1417320"/>
            <a:ext cx="2697480" cy="4946904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933688" y="1417320"/>
            <a:ext cx="269748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43416" y="1435608"/>
            <a:ext cx="251460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 i="0">
                <a:solidFill>
                  <a:srgbClr val="FFFFFF"/>
                </a:solidFill>
                <a:latin typeface="Arial"/>
              </a:rPr>
              <a:t>SWIMLANES &amp; DATA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06840" y="2197989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006840" y="2197989"/>
            <a:ext cx="118872" cy="34747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774936" y="2152269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Pool / Lane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74936" y="2353437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Participant (pool); role or system (lane)</a:t>
            </a:r>
          </a:p>
        </p:txBody>
      </p:sp>
      <p:sp>
        <p:nvSpPr>
          <p:cNvPr id="64" name="Folded Corner 63"/>
          <p:cNvSpPr/>
          <p:nvPr/>
        </p:nvSpPr>
        <p:spPr>
          <a:xfrm>
            <a:off x="9171432" y="3320415"/>
            <a:ext cx="402336" cy="384048"/>
          </a:xfrm>
          <a:prstGeom prst="foldedCorner">
            <a:avLst/>
          </a:prstGeom>
          <a:solidFill>
            <a:srgbClr val="FFFFFF"/>
          </a:solidFill>
          <a:ln w="1524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774936" y="3292983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Data object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74936" y="3494151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Data a step consumes or produces</a:t>
            </a:r>
          </a:p>
        </p:txBody>
      </p:sp>
      <p:sp>
        <p:nvSpPr>
          <p:cNvPr id="67" name="Can 66"/>
          <p:cNvSpPr/>
          <p:nvPr/>
        </p:nvSpPr>
        <p:spPr>
          <a:xfrm>
            <a:off x="9171432" y="4461129"/>
            <a:ext cx="420624" cy="384048"/>
          </a:xfrm>
          <a:prstGeom prst="can">
            <a:avLst/>
          </a:prstGeom>
          <a:solidFill>
            <a:srgbClr val="FFFFFF"/>
          </a:solidFill>
          <a:ln w="1524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774936" y="4433697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Data store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74936" y="4634865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 system of record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116568" y="5638419"/>
            <a:ext cx="0" cy="310896"/>
          </a:xfrm>
          <a:prstGeom prst="line">
            <a:avLst/>
          </a:prstGeom>
          <a:ln w="17780">
            <a:solidFill>
              <a:srgbClr val="5B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116568" y="5638419"/>
            <a:ext cx="73152" cy="0"/>
          </a:xfrm>
          <a:prstGeom prst="line">
            <a:avLst/>
          </a:prstGeom>
          <a:ln w="17780">
            <a:solidFill>
              <a:srgbClr val="5B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116568" y="5949315"/>
            <a:ext cx="73152" cy="0"/>
          </a:xfrm>
          <a:prstGeom prst="line">
            <a:avLst/>
          </a:prstGeom>
          <a:ln w="17780">
            <a:solidFill>
              <a:srgbClr val="5B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262872" y="5693283"/>
            <a:ext cx="457200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B6B75"/>
                </a:solidFill>
                <a:latin typeface="Arial"/>
              </a:rPr>
              <a:t>abc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74936" y="5574411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Text annotation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74936" y="5775579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An explanatory note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0" y="6565392"/>
            <a:ext cx="82296" cy="2926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57200" y="6592824"/>
            <a:ext cx="1133856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Rules of thumb: one start &amp; one end per pool · gateways balance (split = join) · every task in exactly one lane.  Notation: BPMN 2.0 (OMG).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11274552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4283F"/>
                </a:solidFill>
                <a:latin typeface="Arial"/>
              </a:rPr>
              <a:t>As-Is and To-Be Process Models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4552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5B6B75"/>
                </a:solidFill>
                <a:latin typeface="Arial"/>
              </a:rPr>
              <a:t>Silver tier  ·  Delivery-grade depth  ·  Buildable from these models  ·  Roles, systems, controls, measures all explicit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5455" y="1005840"/>
            <a:ext cx="3749039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APPLIED TO:  </a:t>
            </a:r>
            <a:r>
              <a:rPr sz="900" b="1" i="0">
                <a:solidFill>
                  <a:srgbClr val="14283F"/>
                </a:solidFill>
                <a:latin typeface="Arial"/>
              </a:rPr>
              <a:t>Fintech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5541264" cy="4956048"/>
          </a:xfrm>
          <a:prstGeom prst="rect">
            <a:avLst/>
          </a:prstGeom>
          <a:solidFill>
            <a:srgbClr val="F6F8FA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0488" y="1389888"/>
            <a:ext cx="5541264" cy="4956048"/>
          </a:xfrm>
          <a:prstGeom prst="rect">
            <a:avLst/>
          </a:prstGeom>
          <a:solidFill>
            <a:srgbClr val="EFF4FB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5541264" cy="365760"/>
          </a:xfrm>
          <a:prstGeom prst="rect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408176"/>
            <a:ext cx="5266944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AS-IS PROCESS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389888"/>
            <a:ext cx="5541264" cy="365760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408176"/>
            <a:ext cx="5266944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TO-BE PROCESS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1865376"/>
            <a:ext cx="5248655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1956816"/>
            <a:ext cx="502919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536380"/>
                </a:solidFill>
                <a:latin typeface="Arial"/>
              </a:rPr>
              <a:t>SECTION 1 — AS-IS PROCESS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139696"/>
            <a:ext cx="50291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21313D"/>
                </a:solidFill>
                <a:latin typeface="Arial"/>
              </a:rPr>
              <a:t>Each major flow with role swim-lanes, system touchpoints, decision points and pain points annotated. Multiple flows where scope spans processes.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578608"/>
            <a:ext cx="5029199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89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2587752"/>
            <a:ext cx="4846319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1">
                <a:solidFill>
                  <a:srgbClr val="5B6B75"/>
                </a:solidFill>
                <a:latin typeface="Arial"/>
              </a:rPr>
              <a:t>[ Swim-lane process flow with system touchpoints and pain points marked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825496"/>
            <a:ext cx="484631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1">
                <a:solidFill>
                  <a:srgbClr val="9FB6C2"/>
                </a:solidFill>
                <a:latin typeface="Arial"/>
              </a:rPr>
              <a:t>Roles down the side · steps left to right · systems above each 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3273552"/>
            <a:ext cx="2560320" cy="15910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291840" y="3273552"/>
            <a:ext cx="2560320" cy="15910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336499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536380"/>
                </a:solidFill>
                <a:latin typeface="Arial"/>
              </a:rPr>
              <a:t>SECTION 2 — ROLES &amp; RESPONSIBILITIES (RACI)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3666744"/>
            <a:ext cx="182880" cy="182880"/>
          </a:xfrm>
          <a:prstGeom prst="roundRect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3653028"/>
            <a:ext cx="18288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657600"/>
            <a:ext cx="2139696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Responsible — does the 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3922776"/>
            <a:ext cx="182880" cy="182880"/>
          </a:xfrm>
          <a:prstGeom prst="roundRect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3909060"/>
            <a:ext cx="18288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913632"/>
            <a:ext cx="2139696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Accountable — single named person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" y="4178808"/>
            <a:ext cx="182880" cy="182880"/>
          </a:xfrm>
          <a:prstGeom prst="roundRect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4165092"/>
            <a:ext cx="18288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169664"/>
            <a:ext cx="2139696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Consulted — input before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4434840"/>
            <a:ext cx="182880" cy="182880"/>
          </a:xfrm>
          <a:prstGeom prst="roundRect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" y="4421124"/>
            <a:ext cx="18288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425696"/>
            <a:ext cx="2139696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Informed — notified after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4700016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1">
                <a:solidFill>
                  <a:srgbClr val="5B6B75"/>
                </a:solidFill>
                <a:latin typeface="Arial"/>
              </a:rPr>
              <a:t>One Accountable per activity. Multiple Rs OK.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36499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536380"/>
                </a:solidFill>
                <a:latin typeface="Arial"/>
              </a:rPr>
              <a:t>SECTION 3 — DATA SOURCES</a:t>
            </a:r>
          </a:p>
        </p:txBody>
      </p:sp>
      <p:sp>
        <p:nvSpPr>
          <p:cNvPr id="36" name="Oval 35"/>
          <p:cNvSpPr/>
          <p:nvPr/>
        </p:nvSpPr>
        <p:spPr>
          <a:xfrm>
            <a:off x="3383280" y="3712463"/>
            <a:ext cx="64008" cy="64008"/>
          </a:xfrm>
          <a:prstGeom prst="ellipse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11296" y="3657600"/>
            <a:ext cx="2267712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Data entities consumed</a:t>
            </a:r>
          </a:p>
        </p:txBody>
      </p:sp>
      <p:sp>
        <p:nvSpPr>
          <p:cNvPr id="38" name="Oval 37"/>
          <p:cNvSpPr/>
          <p:nvPr/>
        </p:nvSpPr>
        <p:spPr>
          <a:xfrm>
            <a:off x="3383280" y="3931920"/>
            <a:ext cx="64008" cy="64008"/>
          </a:xfrm>
          <a:prstGeom prst="ellipse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11296" y="3877056"/>
            <a:ext cx="2267712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Data entities produced</a:t>
            </a:r>
          </a:p>
        </p:txBody>
      </p:sp>
      <p:sp>
        <p:nvSpPr>
          <p:cNvPr id="40" name="Oval 39"/>
          <p:cNvSpPr/>
          <p:nvPr/>
        </p:nvSpPr>
        <p:spPr>
          <a:xfrm>
            <a:off x="3383280" y="4151376"/>
            <a:ext cx="64008" cy="64008"/>
          </a:xfrm>
          <a:prstGeom prst="ellipse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11296" y="4096512"/>
            <a:ext cx="2267712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Owner system / source of truth</a:t>
            </a:r>
          </a:p>
        </p:txBody>
      </p:sp>
      <p:sp>
        <p:nvSpPr>
          <p:cNvPr id="42" name="Oval 41"/>
          <p:cNvSpPr/>
          <p:nvPr/>
        </p:nvSpPr>
        <p:spPr>
          <a:xfrm>
            <a:off x="3383280" y="4370831"/>
            <a:ext cx="64008" cy="64008"/>
          </a:xfrm>
          <a:prstGeom prst="ellipse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11296" y="4315968"/>
            <a:ext cx="2267712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Format and cadence</a:t>
            </a:r>
          </a:p>
        </p:txBody>
      </p:sp>
      <p:sp>
        <p:nvSpPr>
          <p:cNvPr id="44" name="Oval 43"/>
          <p:cNvSpPr/>
          <p:nvPr/>
        </p:nvSpPr>
        <p:spPr>
          <a:xfrm>
            <a:off x="3383280" y="4590288"/>
            <a:ext cx="64008" cy="64008"/>
          </a:xfrm>
          <a:prstGeom prst="ellipse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511296" y="4535424"/>
            <a:ext cx="2267712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Manual handoffs flagged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73659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1">
                <a:solidFill>
                  <a:srgbClr val="5B6B75"/>
                </a:solidFill>
                <a:latin typeface="Arial"/>
              </a:rPr>
              <a:t>Cross-refs the As-Is/To-Be foundation doc.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4974336"/>
            <a:ext cx="5248655" cy="7863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3232" y="5065775"/>
            <a:ext cx="502919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536380"/>
                </a:solidFill>
                <a:latin typeface="Arial"/>
              </a:rPr>
              <a:t>PAIN POINT ANNOTATIONS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5248655"/>
            <a:ext cx="502919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21313D"/>
                </a:solidFill>
                <a:latin typeface="Arial"/>
              </a:rPr>
              <a:t>Every pain point pinned to the exact step where it occurs — red-numbered (P1, P2 …) on the diagram with a key listing each one.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36792" y="1865376"/>
            <a:ext cx="5248655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46520" y="1956816"/>
            <a:ext cx="502919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4283F"/>
                </a:solidFill>
                <a:latin typeface="Arial"/>
              </a:rPr>
              <a:t>SECTION 4 — TO-BE PROCESS MODELS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2139696"/>
            <a:ext cx="50291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21313D"/>
                </a:solidFill>
                <a:latin typeface="Arial"/>
              </a:rPr>
              <a:t>Future flows at the same depth as As-Is so they compare directly. Role changes, system changes and automation introduced are all explicit.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46520" y="2578608"/>
            <a:ext cx="5029199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37959" y="2651760"/>
            <a:ext cx="4846319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1">
                <a:solidFill>
                  <a:srgbClr val="5B6B75"/>
                </a:solidFill>
                <a:latin typeface="Arial"/>
              </a:rPr>
              <a:t>[ To-Be swim-lane with new roles, automated steps and controls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59" y="2871216"/>
            <a:ext cx="484631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1">
                <a:solidFill>
                  <a:srgbClr val="9FB6C2"/>
                </a:solidFill>
                <a:latin typeface="Arial"/>
              </a:rPr>
              <a:t>New steps in </a:t>
            </a:r>
            <a:r>
              <a:rPr sz="760" b="1" i="0">
                <a:solidFill>
                  <a:srgbClr val="1789A0"/>
                </a:solidFill>
                <a:latin typeface="Arial"/>
              </a:rPr>
              <a:t>teal</a:t>
            </a:r>
            <a:r>
              <a:rPr sz="760" b="0" i="1">
                <a:solidFill>
                  <a:srgbClr val="9FB6C2"/>
                </a:solidFill>
                <a:latin typeface="Arial"/>
              </a:rPr>
              <a:t> · Automated in light teal · Removed shown in grey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36792" y="3273552"/>
            <a:ext cx="2560320" cy="15910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025128" y="3273552"/>
            <a:ext cx="2560320" cy="15910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28231" y="336499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4283F"/>
                </a:solidFill>
                <a:latin typeface="Arial"/>
              </a:rPr>
              <a:t>SECTION 5 — SYSTEM INTERACTIONS</a:t>
            </a:r>
          </a:p>
        </p:txBody>
      </p:sp>
      <p:sp>
        <p:nvSpPr>
          <p:cNvPr id="59" name="Oval 58"/>
          <p:cNvSpPr/>
          <p:nvPr/>
        </p:nvSpPr>
        <p:spPr>
          <a:xfrm>
            <a:off x="6428231" y="3712463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56248" y="3657600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APIs invoked, sequence, payload</a:t>
            </a:r>
          </a:p>
        </p:txBody>
      </p:sp>
      <p:sp>
        <p:nvSpPr>
          <p:cNvPr id="61" name="Oval 60"/>
          <p:cNvSpPr/>
          <p:nvPr/>
        </p:nvSpPr>
        <p:spPr>
          <a:xfrm>
            <a:off x="6428231" y="395020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56248" y="3895344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Synchronous vs asynchronous</a:t>
            </a:r>
          </a:p>
        </p:txBody>
      </p:sp>
      <p:sp>
        <p:nvSpPr>
          <p:cNvPr id="63" name="Oval 62"/>
          <p:cNvSpPr/>
          <p:nvPr/>
        </p:nvSpPr>
        <p:spPr>
          <a:xfrm>
            <a:off x="6428231" y="418795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56248" y="4133087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Error handling and retries</a:t>
            </a:r>
          </a:p>
        </p:txBody>
      </p:sp>
      <p:sp>
        <p:nvSpPr>
          <p:cNvPr id="65" name="Oval 64"/>
          <p:cNvSpPr/>
          <p:nvPr/>
        </p:nvSpPr>
        <p:spPr>
          <a:xfrm>
            <a:off x="6428231" y="4425696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56248" y="4370832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Where data is mastered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28231" y="464515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1">
                <a:solidFill>
                  <a:srgbClr val="5B6B75"/>
                </a:solidFill>
                <a:latin typeface="Arial"/>
              </a:rPr>
              <a:t>Enough detail for a team to estimate from.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16568" y="336499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4283F"/>
                </a:solidFill>
                <a:latin typeface="Arial"/>
              </a:rPr>
              <a:t>SECTION 6 — CONTROLS &amp; MEASURES</a:t>
            </a:r>
          </a:p>
        </p:txBody>
      </p:sp>
      <p:sp>
        <p:nvSpPr>
          <p:cNvPr id="69" name="Oval 68"/>
          <p:cNvSpPr/>
          <p:nvPr/>
        </p:nvSpPr>
        <p:spPr>
          <a:xfrm>
            <a:off x="9116568" y="3712463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44584" y="3657600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Operational metric capture points</a:t>
            </a:r>
          </a:p>
        </p:txBody>
      </p:sp>
      <p:sp>
        <p:nvSpPr>
          <p:cNvPr id="71" name="Oval 70"/>
          <p:cNvSpPr/>
          <p:nvPr/>
        </p:nvSpPr>
        <p:spPr>
          <a:xfrm>
            <a:off x="9116568" y="395020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44584" y="3895344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Quality control gates</a:t>
            </a:r>
          </a:p>
        </p:txBody>
      </p:sp>
      <p:sp>
        <p:nvSpPr>
          <p:cNvPr id="73" name="Oval 72"/>
          <p:cNvSpPr/>
          <p:nvPr/>
        </p:nvSpPr>
        <p:spPr>
          <a:xfrm>
            <a:off x="9116568" y="418795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4584" y="4133087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Compliance checkpoints</a:t>
            </a:r>
          </a:p>
        </p:txBody>
      </p:sp>
      <p:sp>
        <p:nvSpPr>
          <p:cNvPr id="75" name="Oval 74"/>
          <p:cNvSpPr/>
          <p:nvPr/>
        </p:nvSpPr>
        <p:spPr>
          <a:xfrm>
            <a:off x="9116568" y="4425696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244584" y="4370832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Exception escalation paths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16568" y="464515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1">
                <a:solidFill>
                  <a:srgbClr val="5B6B75"/>
                </a:solidFill>
                <a:latin typeface="Arial"/>
              </a:rPr>
              <a:t>Measures map to the Project Vision targets.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36792" y="4974336"/>
            <a:ext cx="5248655" cy="7863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46520" y="5065775"/>
            <a:ext cx="502919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4283F"/>
                </a:solidFill>
                <a:latin typeface="Arial"/>
              </a:rPr>
              <a:t>SIDE-BY-SIDE COMPARISON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6520" y="5248655"/>
            <a:ext cx="502919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21313D"/>
                </a:solidFill>
                <a:latin typeface="Arial"/>
              </a:rPr>
              <a:t>The acid test: a stakeholder seeing As-Is and To-Be side by side should clearly see the improvement. Same step / handoff / role count means it was drawn, not designed.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6419088"/>
            <a:ext cx="11274552" cy="365760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57200" y="6419088"/>
            <a:ext cx="82296" cy="3657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40080" y="6455664"/>
            <a:ext cx="237744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PURPOSE OF THE TEMPLATE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26080" y="6455664"/>
            <a:ext cx="868680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E7F1F5"/>
                </a:solidFill>
                <a:latin typeface="Arial"/>
              </a:rPr>
              <a:t>Buildable process designs · Same depth As-Is and To-Be · Pain points and controls explicit · Side-by-side comparison defensible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66344" y="283464"/>
            <a:ext cx="566928" cy="5669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" y="396849"/>
            <a:ext cx="340156" cy="340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8686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789A0"/>
                </a:solidFill>
                <a:latin typeface="Arial"/>
              </a:rPr>
              <a:t>PLAYBOOK 02  ·  STEP 2  ·  MAP THE AS-IS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96926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4283F"/>
                </a:solidFill>
                <a:latin typeface="Arial"/>
              </a:rPr>
              <a:t>As-Is Process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9264"/>
            <a:ext cx="9692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WHAT THIS IS  </a:t>
            </a:r>
            <a:r>
              <a:rPr sz="1000" b="1" i="0">
                <a:solidFill>
                  <a:srgbClr val="0E6E80"/>
                </a:solidFill>
                <a:latin typeface="Arial"/>
              </a:rPr>
              <a:t>How the work flows today — roles, systems, 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274320"/>
            <a:ext cx="2971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6C2"/>
                </a:solidFill>
                <a:latin typeface="Arial"/>
              </a:rPr>
              <a:t>FINTECH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95967" y="603504"/>
            <a:ext cx="1993392" cy="246888"/>
          </a:xfrm>
          <a:prstGeom prst="round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95967" y="598932"/>
            <a:ext cx="1993392" cy="2468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★ STEP 2 · AS-IS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11274552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417320" cy="374904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444752"/>
            <a:ext cx="1252728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Customer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1417320"/>
            <a:ext cx="9857232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837944"/>
            <a:ext cx="1417320" cy="374904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865376"/>
            <a:ext cx="1252728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Onboarding 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1837944"/>
            <a:ext cx="9857232" cy="374904"/>
          </a:xfrm>
          <a:prstGeom prst="rect">
            <a:avLst/>
          </a:prstGeom>
          <a:solidFill>
            <a:srgbClr val="F2F8FA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258568"/>
            <a:ext cx="1417320" cy="374904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252728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Compliance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258568"/>
            <a:ext cx="9857232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679192"/>
            <a:ext cx="1417320" cy="374904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06624"/>
            <a:ext cx="1252728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Core Banking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2679192"/>
            <a:ext cx="9857232" cy="374904"/>
          </a:xfrm>
          <a:prstGeom prst="rect">
            <a:avLst/>
          </a:prstGeom>
          <a:solidFill>
            <a:srgbClr val="F2F8FA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020824" y="2304288"/>
            <a:ext cx="2272283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20824" y="2304288"/>
            <a:ext cx="45720" cy="30175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30552" y="2336292"/>
            <a:ext cx="2089403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Manually verify ID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5B6B75"/>
                </a:solidFill>
                <a:latin typeface="Arial"/>
              </a:rPr>
              <a:t>38 min · 18% rw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7931" y="2212848"/>
            <a:ext cx="265176" cy="182880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7931" y="2208276"/>
            <a:ext cx="265176" cy="19202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1" i="0">
                <a:solidFill>
                  <a:srgbClr val="FFFFFF"/>
                </a:solidFill>
                <a:latin typeface="Arial"/>
              </a:rPr>
              <a:t>P1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57700" y="1883664"/>
            <a:ext cx="2272283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57700" y="1883664"/>
            <a:ext cx="45720" cy="30175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67428" y="1915668"/>
            <a:ext cx="2089403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Review supporting documents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5B6B75"/>
                </a:solidFill>
                <a:latin typeface="Arial"/>
              </a:rPr>
              <a:t>25 min · 12% rw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293107" y="2034540"/>
            <a:ext cx="164593" cy="420624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64807" y="1792224"/>
            <a:ext cx="265176" cy="182880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4807" y="1787652"/>
            <a:ext cx="265176" cy="19202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1" i="0">
                <a:solidFill>
                  <a:srgbClr val="FFFFFF"/>
                </a:solidFill>
                <a:latin typeface="Arial"/>
              </a:rPr>
              <a:t>P3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94575" y="2724912"/>
            <a:ext cx="2272283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94575" y="2724912"/>
            <a:ext cx="45720" cy="30175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04303" y="2756916"/>
            <a:ext cx="2089403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Provision account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5B6B75"/>
                </a:solidFill>
                <a:latin typeface="Arial"/>
              </a:rPr>
              <a:t>1 day · 6% rw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29983" y="2034540"/>
            <a:ext cx="164592" cy="841248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901684" y="2633472"/>
            <a:ext cx="265176" cy="182880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01684" y="2628900"/>
            <a:ext cx="265176" cy="19202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1" i="0">
                <a:solidFill>
                  <a:srgbClr val="FFFFFF"/>
                </a:solidFill>
                <a:latin typeface="Arial"/>
              </a:rPr>
              <a:t>P4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31451" y="2304288"/>
            <a:ext cx="2272283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331451" y="2304288"/>
            <a:ext cx="45720" cy="30175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41179" y="2336292"/>
            <a:ext cx="2089403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Manual fraud queue check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5B6B75"/>
                </a:solidFill>
                <a:latin typeface="Arial"/>
              </a:rPr>
              <a:t>6 days p95 wait · 9% rw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166859" y="2455164"/>
            <a:ext cx="164592" cy="420624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1338559" y="2212848"/>
            <a:ext cx="265176" cy="182880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338559" y="2208276"/>
            <a:ext cx="265176" cy="19202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1" i="0">
                <a:solidFill>
                  <a:srgbClr val="FFFFFF"/>
                </a:solidFill>
                <a:latin typeface="Arial"/>
              </a:rPr>
              <a:t>P2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145536"/>
            <a:ext cx="1127455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D9655B"/>
                </a:solidFill>
                <a:latin typeface="Arial"/>
              </a:rPr>
              <a:t>Pain key:  </a:t>
            </a:r>
            <a:r>
              <a:rPr sz="800" b="0" i="0">
                <a:solidFill>
                  <a:srgbClr val="5B6B75"/>
                </a:solidFill>
                <a:latin typeface="Arial"/>
              </a:rPr>
              <a:t>P1 wait · P2 manual · P3 wait · P4 rework  —  full detail in the Pain Point Register.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364992"/>
            <a:ext cx="11274552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536380"/>
                </a:solidFill>
                <a:latin typeface="Arial"/>
              </a:rPr>
              <a:t>ROLES &amp; RESPONSIBILITIES — RACI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57200" y="3566160"/>
          <a:ext cx="11274549" cy="1211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9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5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R — Responsible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A — Accountable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C — Consulted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I — Informed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14283F"/>
                          </a:solidFill>
                          <a:latin typeface="Arial"/>
                        </a:rPr>
                        <a:t>Manually verify ID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Compliance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Compliance Direct…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Marcus Lee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14283F"/>
                          </a:solidFill>
                          <a:latin typeface="Arial"/>
                        </a:rPr>
                        <a:t>Review supporting documents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Onboarding Ops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Priya Singh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Marcus Lee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14283F"/>
                          </a:solidFill>
                          <a:latin typeface="Arial"/>
                        </a:rPr>
                        <a:t>Provision account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Core Banking Syst…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Priya Singh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Marcus Lee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14283F"/>
                          </a:solidFill>
                          <a:latin typeface="Arial"/>
                        </a:rPr>
                        <a:t>Manual fraud queue check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Compliance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Compliance Direct…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Marcus Lee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457200" y="4901184"/>
            <a:ext cx="11274552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536380"/>
                </a:solidFill>
                <a:latin typeface="Arial"/>
              </a:rPr>
              <a:t>DATA SOURCES — PER STEP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457200" y="5102352"/>
          <a:ext cx="11274550" cy="1211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1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1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3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6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Consumes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Produces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Owner system / SoT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Format &amp; cadence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Manual?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Manually verify ID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Customer submits onboardi…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Verified record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Core Banking System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Per case · 4,200/mo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Review supporting documents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Verified record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Reviewed item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Core Banking System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Per case · 4,200/mo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Provision account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Reviewed item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Provisioned record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Core Banking System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Per case · 4,200/mo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Manual fraud queue check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Provisioned record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Check result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Core Banking System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Per case · 4,200/mo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565392"/>
            <a:ext cx="82296" cy="2926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6592824"/>
            <a:ext cx="822960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BAS · PROCESS MODELS · SILVER TIER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85455" y="6592824"/>
            <a:ext cx="384048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9FB6C2"/>
                </a:solidFill>
                <a:latin typeface="Arial"/>
              </a:rPr>
              <a:t>Fintech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66344" y="283464"/>
            <a:ext cx="566928" cy="5669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" y="396849"/>
            <a:ext cx="340156" cy="340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8686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789A0"/>
                </a:solidFill>
                <a:latin typeface="Arial"/>
              </a:rPr>
              <a:t>PLAYBOOK 02  ·  STEP 4  ·  DESIGN THE TO-BE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96926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4283F"/>
                </a:solidFill>
                <a:latin typeface="Arial"/>
              </a:rPr>
              <a:t>To-Be Process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9264"/>
            <a:ext cx="9692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WHAT THIS IS  </a:t>
            </a:r>
            <a:r>
              <a:rPr sz="1000" b="1" i="0">
                <a:solidFill>
                  <a:srgbClr val="0E6E80"/>
                </a:solidFill>
                <a:latin typeface="Arial"/>
              </a:rPr>
              <a:t>The designed future flow — automation, controls,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274320"/>
            <a:ext cx="2971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6C2"/>
                </a:solidFill>
                <a:latin typeface="Arial"/>
              </a:rPr>
              <a:t>FINTECH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95967" y="603504"/>
            <a:ext cx="1993392" cy="246888"/>
          </a:xfrm>
          <a:prstGeom prst="round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95967" y="598932"/>
            <a:ext cx="1993392" cy="2468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★ STEP 4 · TO-BE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11274552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417320" cy="320040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444752"/>
            <a:ext cx="1252728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Customer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1417320"/>
            <a:ext cx="985723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417320" cy="320040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810512"/>
            <a:ext cx="1252728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Onboarding 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1783080"/>
            <a:ext cx="9857232" cy="320040"/>
          </a:xfrm>
          <a:prstGeom prst="rect">
            <a:avLst/>
          </a:prstGeom>
          <a:solidFill>
            <a:srgbClr val="F2F8FA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148840"/>
            <a:ext cx="1417320" cy="320040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176272"/>
            <a:ext cx="1252728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Compliance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148840"/>
            <a:ext cx="985723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14600"/>
            <a:ext cx="1417320" cy="320040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542032"/>
            <a:ext cx="1252728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Core Banking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2514600"/>
            <a:ext cx="9857232" cy="320040"/>
          </a:xfrm>
          <a:prstGeom prst="rect">
            <a:avLst/>
          </a:prstGeom>
          <a:solidFill>
            <a:srgbClr val="F2F8FA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020824" y="2194560"/>
            <a:ext cx="2272283" cy="246888"/>
          </a:xfrm>
          <a:prstGeom prst="roundRect">
            <a:avLst/>
          </a:prstGeom>
          <a:solidFill>
            <a:srgbClr val="B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20824" y="2194560"/>
            <a:ext cx="45720" cy="246888"/>
          </a:xfrm>
          <a:prstGeom prst="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30552" y="2226564"/>
            <a:ext cx="2089403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API call to ID provider (45 sec)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5B6B75"/>
                </a:solidFill>
                <a:latin typeface="Arial"/>
              </a:rPr>
              <a:t>99% time cut, removes rew…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7700" y="1828800"/>
            <a:ext cx="2272283" cy="24688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57700" y="1828800"/>
            <a:ext cx="45720" cy="246888"/>
          </a:xfrm>
          <a:prstGeom prst="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67428" y="1860804"/>
            <a:ext cx="2089403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Parallel compliance + provisioning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E7F1F5"/>
                </a:solidFill>
                <a:latin typeface="Arial"/>
              </a:rPr>
              <a:t>Removes ~1 day of waiting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293107" y="1952243"/>
            <a:ext cx="164593" cy="365761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894575" y="2560320"/>
            <a:ext cx="2272283" cy="246888"/>
          </a:xfrm>
          <a:prstGeom prst="roundRect">
            <a:avLst/>
          </a:prstGeom>
          <a:solidFill>
            <a:srgbClr val="B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94575" y="2560320"/>
            <a:ext cx="45720" cy="246888"/>
          </a:xfrm>
          <a:prstGeom prst="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04303" y="2592324"/>
            <a:ext cx="2089403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Risk-scored triage, exceptions on…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5B6B75"/>
                </a:solidFill>
                <a:latin typeface="Arial"/>
              </a:rPr>
              <a:t>p95 6 days -&gt; under 24 hrs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29983" y="1952243"/>
            <a:ext cx="164592" cy="731520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331451" y="2194560"/>
            <a:ext cx="2272283" cy="246888"/>
          </a:xfrm>
          <a:prstGeom prst="roundRect">
            <a:avLst/>
          </a:prstGeom>
          <a:solidFill>
            <a:srgbClr val="B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331451" y="2194560"/>
            <a:ext cx="45720" cy="246888"/>
          </a:xfrm>
          <a:prstGeom prst="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41179" y="2226564"/>
            <a:ext cx="2089403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Auto-extract + validate, exceptio…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5B6B75"/>
                </a:solidFill>
                <a:latin typeface="Arial"/>
              </a:rPr>
              <a:t>25 min -&gt; 4 min average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9166859" y="2318004"/>
            <a:ext cx="164592" cy="365759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66928" y="2962656"/>
            <a:ext cx="146304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8096" y="2939796"/>
            <a:ext cx="1828800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4283F"/>
                </a:solidFill>
                <a:latin typeface="Arial"/>
              </a:rPr>
              <a:t>New step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28216" y="2962656"/>
            <a:ext cx="146304" cy="146304"/>
          </a:xfrm>
          <a:prstGeom prst="rect">
            <a:avLst/>
          </a:prstGeom>
          <a:solidFill>
            <a:srgbClr val="B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929384" y="2939796"/>
            <a:ext cx="1828800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4283F"/>
                </a:solidFill>
                <a:latin typeface="Arial"/>
              </a:rPr>
              <a:t>Automated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58084" y="2962656"/>
            <a:ext cx="146304" cy="146304"/>
          </a:xfrm>
          <a:prstGeom prst="rect">
            <a:avLst/>
          </a:prstGeom>
          <a:solidFill>
            <a:srgbClr val="D9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59252" y="2939796"/>
            <a:ext cx="1828800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4283F"/>
                </a:solidFill>
                <a:latin typeface="Arial"/>
              </a:rPr>
              <a:t>Removed / eliminated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218688"/>
            <a:ext cx="11274552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SYSTEM INTERACTIONS — PER TO-BE STEP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457200" y="3419856"/>
          <a:ext cx="11274550" cy="1165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8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To-Be step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Integration / API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Mode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Error handling &amp; retries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Data mastered in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API call to ID provider (45 s…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REST API call to provider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Sync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Retry + queue; manual fallback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Core Banking System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Parallel compliance + provisi…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Service-to-service integration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Sync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Retry with backoff; exception queue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Core Banking System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Risk-scored triage, exception…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Rules / decision service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Sync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Retry + queue; manual fallback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Core Banking System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Auto-extract + validate, exce…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Data extraction service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Sync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Retry with backoff; exception queue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Core Banking System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457200" y="4645152"/>
            <a:ext cx="11274552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CONTROLS &amp; MEASURES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57200" y="4846320"/>
          <a:ext cx="11274549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9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3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Control point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What's measured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Maps to target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Automate ID verification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Operational metric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API success rate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5 days within 1…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Tech Lead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Shrink manual review queue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Operational metric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Queue depth (daily)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5 days within 1…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Compliance Direct…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Parallelise compliance + prov…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Operational metric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Stage overlap %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5 days within 1…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Head of Customer…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Compliance checkpoint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Compliance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PSD2/Open Banking, AML/KYC,…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Zero findings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Compliance Direct…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Rounded Rectangle 48"/>
          <p:cNvSpPr/>
          <p:nvPr/>
        </p:nvSpPr>
        <p:spPr>
          <a:xfrm>
            <a:off x="457200" y="6071616"/>
            <a:ext cx="11274552" cy="420624"/>
          </a:xfrm>
          <a:prstGeom prst="roundRect">
            <a:avLst/>
          </a:prstGeom>
          <a:solidFill>
            <a:srgbClr val="E7F1F5"/>
          </a:solidFill>
          <a:ln w="1270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3504" y="6089903"/>
            <a:ext cx="210312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E6E80"/>
                </a:solidFill>
                <a:latin typeface="Arial"/>
              </a:rPr>
              <a:t>SIDE-BY-SIDE</a:t>
            </a:r>
            <a:r>
              <a:rPr sz="750" b="0" i="0">
                <a:solidFill>
                  <a:srgbClr val="5B6B75"/>
                </a:solidFill>
                <a:latin typeface="Arial"/>
              </a:rPr>
              <a:t>
The acid 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6108192"/>
            <a:ext cx="2064257" cy="1645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B6B75"/>
                </a:solidFill>
                <a:latin typeface="Arial"/>
              </a:rPr>
              <a:t>STEPS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0" y="6254496"/>
            <a:ext cx="2064257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4283F"/>
                </a:solidFill>
                <a:latin typeface="Arial"/>
              </a:rPr>
              <a:t>4 → 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4658" y="6108192"/>
            <a:ext cx="2064257" cy="1645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B6B75"/>
                </a:solidFill>
                <a:latin typeface="Arial"/>
              </a:rPr>
              <a:t>HANDOFFS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64658" y="6254496"/>
            <a:ext cx="2064257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4283F"/>
                </a:solidFill>
                <a:latin typeface="Arial"/>
              </a:rPr>
              <a:t>3 → 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0356" y="6108192"/>
            <a:ext cx="2064257" cy="1645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B6B75"/>
                </a:solidFill>
                <a:latin typeface="Arial"/>
              </a:rPr>
              <a:t>CYCLE TIME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20356" y="6254496"/>
            <a:ext cx="2064257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4283F"/>
                </a:solidFill>
                <a:latin typeface="Arial"/>
              </a:rPr>
              <a:t>14 days → 5 days within 12 months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76054" y="6108192"/>
            <a:ext cx="2064257" cy="1645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B6B75"/>
                </a:solidFill>
                <a:latin typeface="Arial"/>
              </a:rPr>
              <a:t>AUTOMATION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76054" y="6254496"/>
            <a:ext cx="2064257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4283F"/>
                </a:solidFill>
                <a:latin typeface="Arial"/>
              </a:rPr>
              <a:t>3 of 4 steps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0" y="6565392"/>
            <a:ext cx="82296" cy="2926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6592824"/>
            <a:ext cx="822960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BAS · PROCESS MODELS · SILVER TIER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85455" y="6592824"/>
            <a:ext cx="384048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9FB6C2"/>
                </a:solidFill>
                <a:latin typeface="Arial"/>
              </a:rPr>
              <a:t>Fintech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1551</Words>
  <Application>Microsoft Office PowerPoint</Application>
  <PresentationFormat>Widescreen</PresentationFormat>
  <Paragraphs>355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Chale Dodge</cp:lastModifiedBy>
  <cp:revision>1</cp:revision>
  <dcterms:created xsi:type="dcterms:W3CDTF">2013-01-27T09:14:16Z</dcterms:created>
  <dcterms:modified xsi:type="dcterms:W3CDTF">2026-05-25T14:41:09Z</dcterms:modified>
  <cp:category/>
</cp:coreProperties>
</file>