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2" r:id="rId43"/>
    <p:sldId id="293" r:id="rId44"/>
    <p:sldId id="294" r:id="rId45"/>
    <p:sldId id="295" r:id="rId46"/>
    <p:sldId id="296" r:id="rId11"/>
    <p:sldId id="297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43" Type="http://schemas.openxmlformats.org/officeDocument/2006/relationships/slide" Target="slides/slide1.xml"/><Relationship Id="rId44" Type="http://schemas.openxmlformats.org/officeDocument/2006/relationships/slide" Target="slides/slide2.xml"/><Relationship Id="rId45" Type="http://schemas.openxmlformats.org/officeDocument/2006/relationships/slide" Target="slides/slide3.xml"/><Relationship Id="rId46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Choose the North 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North Star Metric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11423599" cy="603504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54864" cy="6035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426464"/>
            <a:ext cx="110578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NORTH STAR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91056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4283F"/>
                </a:solidFill>
                <a:latin typeface="Arial"/>
              </a:rPr>
              <a:t>State it in one clear sentence (plain language, with a number).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39696"/>
            <a:ext cx="5638647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39696"/>
            <a:ext cx="5638647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5382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2743200"/>
            <a:ext cx="53826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8999" y="2139696"/>
            <a:ext cx="5638647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8999" y="2139696"/>
            <a:ext cx="5638647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7015" y="2304288"/>
            <a:ext cx="5382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4283F"/>
                </a:solidFill>
                <a:latin typeface="Arial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7015" y="2743200"/>
            <a:ext cx="53826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DEFINITION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4048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6" name="Oval 25"/>
          <p:cNvSpPr/>
          <p:nvPr/>
        </p:nvSpPr>
        <p:spPr>
          <a:xfrm>
            <a:off x="384048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384048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3191256"/>
            <a:ext cx="56203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DOES NOT MEASURE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7287" y="3429000"/>
            <a:ext cx="365760" cy="2286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87287" y="3584447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3591" y="3520439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4" name="Oval 33"/>
          <p:cNvSpPr/>
          <p:nvPr/>
        </p:nvSpPr>
        <p:spPr>
          <a:xfrm>
            <a:off x="6187287" y="3822191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3591" y="3758183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6" name="Oval 35"/>
          <p:cNvSpPr/>
          <p:nvPr/>
        </p:nvSpPr>
        <p:spPr>
          <a:xfrm>
            <a:off x="6187287" y="4059935"/>
            <a:ext cx="64008" cy="640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3591" y="3995927"/>
            <a:ext cx="5455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21313D"/>
                </a:solidFill>
                <a:latin typeface="Arial"/>
              </a:rPr>
              <a:t>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KPI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KPI Tree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8419" y="1371600"/>
            <a:ext cx="5254855" cy="548640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8419" y="1444752"/>
            <a:ext cx="52548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NORTH STAR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8419" y="1627632"/>
            <a:ext cx="5254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&lt;North Star metric&gt;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227021" y="1920240"/>
            <a:ext cx="3868826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4048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&lt;driver 1&gt;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1920240"/>
            <a:ext cx="0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52874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2874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7738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&lt;driver 2&gt;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1920240"/>
            <a:ext cx="3868827" cy="320040"/>
          </a:xfrm>
          <a:prstGeom prst="line">
            <a:avLst/>
          </a:prstGeom>
          <a:ln w="1778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21700" y="2240280"/>
            <a:ext cx="3685946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1700" y="2313432"/>
            <a:ext cx="36859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0E6E80"/>
                </a:solidFill>
                <a:latin typeface="Arial"/>
              </a:rPr>
              <a:t>TIER-1 DRIVER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6564" y="2478024"/>
            <a:ext cx="357621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&lt;driver 3&gt;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27021" y="2807208"/>
            <a:ext cx="0" cy="146304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2953512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999232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&lt;metric&gt;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539642" cy="3108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83280"/>
            <a:ext cx="337505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>
                <a:solidFill>
                  <a:srgbClr val="21313D"/>
                </a:solidFill>
                <a:latin typeface="Arial"/>
              </a:rPr>
              <a:t>&lt;metric&gt;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Run the Value Leak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Value Leak Analysis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426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&lt;metric&gt;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5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67335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673352"/>
            <a:ext cx="6760159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81183" y="1673352"/>
            <a:ext cx="218567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81183" y="1664208"/>
            <a:ext cx="21856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2494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&lt;metric&gt;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77977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249631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93008" y="2496312"/>
            <a:ext cx="2616835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81183" y="2496312"/>
            <a:ext cx="218567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1183" y="2487168"/>
            <a:ext cx="21856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07238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&lt;metric&gt;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602736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319272"/>
            <a:ext cx="6760159" cy="219456"/>
          </a:xfrm>
          <a:prstGeom prst="round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93008" y="3319272"/>
            <a:ext cx="1897205" cy="219456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81183" y="3319272"/>
            <a:ext cx="218567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81183" y="3310128"/>
            <a:ext cx="218567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Prioritise the Fix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Impact / Ease Matrix — blank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YOUR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7" y="1417320"/>
            <a:ext cx="2340863" cy="2340863"/>
          </a:xfrm>
          <a:prstGeom prst="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1" y="1417320"/>
            <a:ext cx="2340863" cy="2340863"/>
          </a:xfrm>
          <a:prstGeom prst="rect">
            <a:avLst/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7" y="3758183"/>
            <a:ext cx="2340863" cy="2340863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3758183"/>
            <a:ext cx="2340863" cy="2340863"/>
          </a:xfrm>
          <a:prstGeom prst="rect">
            <a:avLst/>
          </a:prstGeom>
          <a:solidFill>
            <a:srgbClr val="F3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7" y="1417320"/>
            <a:ext cx="4681727" cy="4681727"/>
          </a:xfrm>
          <a:prstGeom prst="rect">
            <a:avLst/>
          </a:prstGeom>
          <a:noFill/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182111" y="1417320"/>
            <a:ext cx="0" cy="4681727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7" y="3758183"/>
            <a:ext cx="4681728" cy="0"/>
          </a:xfrm>
          <a:prstGeom prst="line">
            <a:avLst/>
          </a:prstGeom>
          <a:ln w="17780">
            <a:solidFill>
              <a:srgbClr val="1428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6112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BIG BETS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1" y="1453896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DO FIRST (TOP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DEPRIORITISE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1" y="5897879"/>
            <a:ext cx="22494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QUICK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6135623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EASE TO FIX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-1645919" y="3666744"/>
            <a:ext cx="4681727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DOLLAR IMPACT  →</a:t>
            </a:r>
          </a:p>
        </p:txBody>
      </p:sp>
      <p:sp>
        <p:nvSpPr>
          <p:cNvPr id="23" name="Oval 22"/>
          <p:cNvSpPr/>
          <p:nvPr/>
        </p:nvSpPr>
        <p:spPr>
          <a:xfrm>
            <a:off x="3829507" y="2532888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5811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5" name="Oval 24"/>
          <p:cNvSpPr/>
          <p:nvPr/>
        </p:nvSpPr>
        <p:spPr>
          <a:xfrm>
            <a:off x="4765852" y="2532888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2156" y="2496312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7" name="Oval 26"/>
          <p:cNvSpPr/>
          <p:nvPr/>
        </p:nvSpPr>
        <p:spPr>
          <a:xfrm>
            <a:off x="3829507" y="2770632"/>
            <a:ext cx="109728" cy="1097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5811" y="2734056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&lt;name&gt;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8736" y="1417320"/>
            <a:ext cx="591891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HOW TO ENGAGE</a:t>
            </a:r>
          </a:p>
        </p:txBody>
      </p:sp>
      <p:sp>
        <p:nvSpPr>
          <p:cNvPr id="30" name="Oval 29"/>
          <p:cNvSpPr/>
          <p:nvPr/>
        </p:nvSpPr>
        <p:spPr>
          <a:xfrm>
            <a:off x="5888736" y="1709928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7" y="1673352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Automate ID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7" y="1874520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33" name="Oval 32"/>
          <p:cNvSpPr/>
          <p:nvPr/>
        </p:nvSpPr>
        <p:spPr>
          <a:xfrm>
            <a:off x="5888736" y="2203704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7" y="2167128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Shrink manual review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53327" y="2368296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36" name="Oval 35"/>
          <p:cNvSpPr/>
          <p:nvPr/>
        </p:nvSpPr>
        <p:spPr>
          <a:xfrm>
            <a:off x="5888736" y="2697480"/>
            <a:ext cx="91440" cy="9144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7" y="2660904"/>
            <a:ext cx="573603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Parallelise compliance + provi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7" y="2862072"/>
            <a:ext cx="573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0">
                <a:solidFill>
                  <a:srgbClr val="5B6B75"/>
                </a:solidFill>
                <a:latin typeface="Arial"/>
              </a:rPr>
              <a:t>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YOUR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KPI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One North Star, its drivers and value leaks — six ways to see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◆ WORKED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NORTH STAR (TARGET)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from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21992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2002536"/>
            <a:ext cx="246888" cy="47548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84248" y="2050084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31136" y="2097633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478024" y="2145182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24912" y="2192731"/>
            <a:ext cx="246888" cy="47549"/>
          </a:xfrm>
          <a:prstGeom prst="line">
            <a:avLst/>
          </a:prstGeom>
          <a:ln w="20320">
            <a:solidFill>
              <a:srgbClr val="23A6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944368" y="2212848"/>
            <a:ext cx="54864" cy="54864"/>
          </a:xfrm>
          <a:prstGeom prst="ellipse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19272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65576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VALUE AT STAKE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$&lt;x&gt;/yr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annualised, addressable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84064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1344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PRIORITISED FIXES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&lt;n&gt;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tracked by leading indicators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46136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3416" y="1417320"/>
            <a:ext cx="269748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3416" y="1417320"/>
            <a:ext cx="54864" cy="106070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150876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B6B75"/>
                </a:solidFill>
                <a:latin typeface="Arial"/>
              </a:rPr>
              <a:t>TARGET HORIZON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1691640"/>
            <a:ext cx="2423160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4283F"/>
                </a:solidFill>
                <a:latin typeface="Arial"/>
              </a:rPr>
              <a:t>12 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240280"/>
            <a:ext cx="2423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0" i="0">
                <a:solidFill>
                  <a:srgbClr val="5B6B75"/>
                </a:solidFill>
                <a:latin typeface="Arial"/>
              </a:rPr>
              <a:t>to hit the North Star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8208" y="1527048"/>
            <a:ext cx="576071" cy="1828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08208" y="1517904"/>
            <a:ext cx="576071" cy="1920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 i="0">
                <a:solidFill>
                  <a:srgbClr val="FFFFFF"/>
                </a:solidFill>
                <a:latin typeface="Arial"/>
              </a:rPr>
              <a:t>▲ on 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615184"/>
            <a:ext cx="640080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2615184"/>
            <a:ext cx="640080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16" y="2724912"/>
            <a:ext cx="614476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&lt;North Star metric&gt; over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" y="2898648"/>
            <a:ext cx="614476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Line graph — data over time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24128" y="4023360"/>
            <a:ext cx="5577840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24128" y="3108960"/>
            <a:ext cx="0" cy="91440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24128" y="310896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139696" y="329184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55264" y="347472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70832" y="365760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486400" y="3840480"/>
            <a:ext cx="1115568" cy="182880"/>
          </a:xfrm>
          <a:prstGeom prst="line">
            <a:avLst/>
          </a:prstGeom>
          <a:ln w="27940">
            <a:solidFill>
              <a:srgbClr val="1789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92124" y="307695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07692" y="325983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223260" y="344271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338828" y="362559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54396" y="380847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69964" y="3991356"/>
            <a:ext cx="64008" cy="64008"/>
          </a:xfrm>
          <a:prstGeom prst="ellipse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3504" y="3017520"/>
            <a:ext cx="38404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5B6B75"/>
                </a:solidFill>
                <a:latin typeface="Arial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3328" y="3822192"/>
            <a:ext cx="5669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0E6E80"/>
                </a:solidFill>
                <a:latin typeface="Arial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19656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35224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50792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66360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1928" y="4059936"/>
            <a:ext cx="640080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60" b="0" i="0">
                <a:solidFill>
                  <a:srgbClr val="5B6B75"/>
                </a:solidFill>
                <a:latin typeface="Arial"/>
              </a:rPr>
              <a:t>P6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22592" y="2615184"/>
            <a:ext cx="4709160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22592" y="2615184"/>
            <a:ext cx="4709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50607" y="2724912"/>
            <a:ext cx="4453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Value leaks, annualised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0607" y="2898648"/>
            <a:ext cx="4453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Bar chart — comparison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351775" y="3950208"/>
            <a:ext cx="4123944" cy="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719060" y="3324758"/>
            <a:ext cx="640080" cy="625449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51775" y="3169310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$&lt;a&gt;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51775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&lt;leak 1&gt;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93707" y="3481120"/>
            <a:ext cx="640080" cy="469087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26423" y="3325672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$&lt;b&gt;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26423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&lt;leak 2&gt;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68356" y="3637483"/>
            <a:ext cx="640080" cy="312724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01071" y="3482035"/>
            <a:ext cx="1374647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$&lt;c&gt;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01071" y="3986784"/>
            <a:ext cx="1374647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&lt;leak 3&gt;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498848"/>
            <a:ext cx="356616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57200" y="4498848"/>
            <a:ext cx="3566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85216" y="4608576"/>
            <a:ext cx="3310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North Star vs target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5216" y="4782312"/>
            <a:ext cx="3310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Bullet graph — track a metric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3504" y="5212080"/>
            <a:ext cx="1636776" cy="274320"/>
          </a:xfrm>
          <a:prstGeom prst="rect">
            <a:avLst/>
          </a:prstGeom>
          <a:solidFill>
            <a:srgbClr val="CF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03504" y="5212080"/>
            <a:ext cx="2618841" cy="274320"/>
          </a:xfrm>
          <a:prstGeom prst="rect">
            <a:avLst/>
          </a:prstGeom>
          <a:solidFill>
            <a:srgbClr val="8F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03504" y="5212080"/>
            <a:ext cx="3273552" cy="274320"/>
          </a:xfrm>
          <a:prstGeom prst="rect">
            <a:avLst/>
          </a:prstGeom>
          <a:solidFill>
            <a:srgbClr val="4F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03504" y="5212080"/>
            <a:ext cx="3273552" cy="274320"/>
          </a:xfrm>
          <a:prstGeom prst="rect">
            <a:avLst/>
          </a:prstGeom>
          <a:noFill/>
          <a:ln w="1016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3504" y="5294376"/>
            <a:ext cx="2727960" cy="10972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694688" y="5166360"/>
            <a:ext cx="0" cy="365760"/>
          </a:xfrm>
          <a:prstGeom prst="line">
            <a:avLst/>
          </a:prstGeom>
          <a:ln w="27940">
            <a:solidFill>
              <a:srgbClr val="D96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03504" y="5550408"/>
            <a:ext cx="32735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 i="0">
                <a:solidFill>
                  <a:srgbClr val="14283F"/>
                </a:solidFill>
                <a:latin typeface="Arial"/>
              </a:rPr>
              <a:t>now </a:t>
            </a:r>
            <a:r>
              <a:rPr sz="700" b="1" i="0">
                <a:solidFill>
                  <a:srgbClr val="14283F"/>
                </a:solidFill>
                <a:latin typeface="Arial"/>
              </a:rPr>
              <a:t>10</a:t>
            </a:r>
            <a:r>
              <a:rPr sz="700" b="1" i="0">
                <a:solidFill>
                  <a:srgbClr val="D9655B"/>
                </a:solidFill>
                <a:latin typeface="Arial"/>
              </a:rPr>
              <a:t>    ▮ target </a:t>
            </a:r>
            <a:r>
              <a:rPr sz="700" b="1" i="0">
                <a:solidFill>
                  <a:srgbClr val="D9655B"/>
                </a:solidFill>
                <a:latin typeface="Arial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3504" y="5029200"/>
            <a:ext cx="3273552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0" i="0">
                <a:solidFill>
                  <a:srgbClr val="5B6B75"/>
                </a:solidFill>
                <a:latin typeface="Arial"/>
              </a:rPr>
              <a:t>Actual vs target (qualitative bands)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215384" y="4498848"/>
            <a:ext cx="356616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15384" y="4498848"/>
            <a:ext cx="3566160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43400" y="4608576"/>
            <a:ext cx="3310128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Where the value sits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43400" y="4782312"/>
            <a:ext cx="3310128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Donut — part-to-a-whole</a:t>
            </a:r>
          </a:p>
        </p:txBody>
      </p:sp>
      <p:sp>
        <p:nvSpPr>
          <p:cNvPr id="101" name="Pie 100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-9000000"/>
              <a:gd name="adj2" fmla="val 7000000"/>
            </a:avLst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Pie 101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7000000"/>
              <a:gd name="adj2" fmla="val 19000000"/>
            </a:avLst>
          </a:prstGeom>
          <a:solidFill>
            <a:srgbClr val="23A6B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ie 102"/>
          <p:cNvSpPr/>
          <p:nvPr/>
        </p:nvSpPr>
        <p:spPr>
          <a:xfrm>
            <a:off x="5285231" y="4773168"/>
            <a:ext cx="1426464" cy="1426464"/>
          </a:xfrm>
          <a:prstGeom prst="pie">
            <a:avLst>
              <a:gd name="adj1" fmla="val 19000000"/>
              <a:gd name="adj2" fmla="val 27000000"/>
            </a:avLst>
          </a:prstGeom>
          <a:solidFill>
            <a:srgbClr val="6FC2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99054" y="5086990"/>
            <a:ext cx="798819" cy="79881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370832" y="5001768"/>
            <a:ext cx="118872" cy="11887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35424" y="4965192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&lt;leak 1&gt;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70832" y="5221224"/>
            <a:ext cx="118872" cy="118872"/>
          </a:xfrm>
          <a:prstGeom prst="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35424" y="5184648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&lt;leak 2&gt;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70832" y="5440680"/>
            <a:ext cx="118872" cy="118872"/>
          </a:xfrm>
          <a:prstGeom prst="rect">
            <a:avLst/>
          </a:prstGeom>
          <a:solidFill>
            <a:srgbClr val="6FC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35424" y="5404104"/>
            <a:ext cx="1280160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0">
                <a:solidFill>
                  <a:srgbClr val="21313D"/>
                </a:solidFill>
                <a:latin typeface="Arial"/>
              </a:rPr>
              <a:t>&lt;leak 3&gt;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73568" y="4498848"/>
            <a:ext cx="3758184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973568" y="4498848"/>
            <a:ext cx="3758184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101584" y="4608576"/>
            <a:ext cx="3502152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4283F"/>
                </a:solidFill>
                <a:latin typeface="Arial"/>
              </a:rPr>
              <a:t>Share in the #1 value leak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01584" y="4782312"/>
            <a:ext cx="35021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 i="0">
                <a:solidFill>
                  <a:srgbClr val="0E6E80"/>
                </a:solidFill>
                <a:latin typeface="Arial"/>
              </a:rPr>
              <a:t>Radial bar — proportion</a:t>
            </a:r>
          </a:p>
        </p:txBody>
      </p:sp>
      <p:sp>
        <p:nvSpPr>
          <p:cNvPr id="115" name="Oval 114"/>
          <p:cNvSpPr/>
          <p:nvPr/>
        </p:nvSpPr>
        <p:spPr>
          <a:xfrm>
            <a:off x="8513064" y="4828031"/>
            <a:ext cx="1353312" cy="1353312"/>
          </a:xfrm>
          <a:prstGeom prst="ellipse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Pie 115"/>
          <p:cNvSpPr/>
          <p:nvPr/>
        </p:nvSpPr>
        <p:spPr>
          <a:xfrm>
            <a:off x="8513064" y="4828031"/>
            <a:ext cx="1353312" cy="1353312"/>
          </a:xfrm>
          <a:prstGeom prst="pie">
            <a:avLst>
              <a:gd name="adj1" fmla="val -9000000"/>
              <a:gd name="adj2" fmla="val 7200000"/>
            </a:avLst>
          </a:prstGeom>
          <a:solidFill>
            <a:srgbClr val="1789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783726" y="5098694"/>
            <a:ext cx="811987" cy="8119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513064" y="5340096"/>
            <a:ext cx="1353312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14283F"/>
                </a:solidFill>
                <a:latin typeface="Arial"/>
              </a:rPr>
              <a:t>45%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058400" y="5212080"/>
            <a:ext cx="1554480" cy="6400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B75"/>
                </a:solidFill>
                <a:latin typeface="Arial"/>
              </a:rPr>
              <a:t>of the addressable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B6B75"/>
                </a:solidFill>
                <a:latin typeface="Arial"/>
              </a:rPr>
              <a:t>value sits in the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 i="0">
                <a:solidFill>
                  <a:srgbClr val="14283F"/>
                </a:solidFill>
                <a:latin typeface="Arial"/>
              </a:rPr>
              <a:t>single biggest leak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7200" y="6272784"/>
            <a:ext cx="11274552" cy="16459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 i="1">
                <a:solidFill>
                  <a:srgbClr val="9FB6C2"/>
                </a:solidFill>
                <a:latin typeface="Arial"/>
              </a:rPr>
              <a:t>Illustrative figures derived from this scenario's North Star, value-leak analysis and fix list. Swap any panel for an alternative on the next page.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6592824"/>
            <a:ext cx="868680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BAS · KPI DASHBOARDS  ·  Playbook 03 · Step 3–4 output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985455" y="6592824"/>
            <a:ext cx="384048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66344" y="283464"/>
            <a:ext cx="566928" cy="56692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en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" y="396849"/>
            <a:ext cx="340156" cy="3401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743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789A0"/>
                </a:solidFill>
                <a:latin typeface="Arial"/>
              </a:rPr>
              <a:t>PLAYBOOK 03  ·  DATA ANALYSIS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96926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14283F"/>
                </a:solidFill>
                <a:latin typeface="Arial"/>
              </a:rPr>
              <a:t>Choose Your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9264"/>
            <a:ext cx="969264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0E6E80"/>
                </a:solidFill>
                <a:latin typeface="Arial"/>
              </a:rPr>
              <a:t>WHAT THIS IS  </a:t>
            </a:r>
            <a:r>
              <a:rPr sz="1000" b="1" i="0">
                <a:solidFill>
                  <a:srgbClr val="0E6E80"/>
                </a:solidFill>
                <a:latin typeface="Arial"/>
              </a:rPr>
              <a:t>Ask the question — the answer is the chart you add to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274320"/>
            <a:ext cx="297180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FB6C2"/>
                </a:solidFill>
                <a:latin typeface="Arial"/>
              </a:rPr>
              <a:t>YOUR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95967" y="603504"/>
            <a:ext cx="1993392" cy="246888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5967" y="598932"/>
            <a:ext cx="1993392" cy="24688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◆ OPTIONS MENU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11274552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98448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08176"/>
            <a:ext cx="11274552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5B6B75"/>
                </a:solidFill>
                <a:latin typeface="Arial"/>
              </a:rPr>
              <a:t>For each kind of data-analysis question, ask the one in the card. The answer tells you which chart to add as a dashboard panel. Methods from the Data Visualisation Catalogue.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Track one metric vs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What single number tells us we're winning — and what is the target?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KPI tile / big number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Bullet graph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Gauge / Radial bar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Progress donut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61104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4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Show change over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25696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Is it getting better or worse — and how fast?</a:t>
            </a:r>
          </a:p>
        </p:txBody>
      </p:sp>
      <p:sp>
        <p:nvSpPr>
          <p:cNvPr id="31" name="Oval 30"/>
          <p:cNvSpPr/>
          <p:nvPr/>
        </p:nvSpPr>
        <p:spPr>
          <a:xfrm>
            <a:off x="4462272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Line graph</a:t>
            </a:r>
          </a:p>
        </p:txBody>
      </p:sp>
      <p:sp>
        <p:nvSpPr>
          <p:cNvPr id="33" name="Oval 32"/>
          <p:cNvSpPr/>
          <p:nvPr/>
        </p:nvSpPr>
        <p:spPr>
          <a:xfrm>
            <a:off x="4462272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576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Area graph</a:t>
            </a:r>
          </a:p>
        </p:txBody>
      </p:sp>
      <p:sp>
        <p:nvSpPr>
          <p:cNvPr id="35" name="Oval 34"/>
          <p:cNvSpPr/>
          <p:nvPr/>
        </p:nvSpPr>
        <p:spPr>
          <a:xfrm>
            <a:off x="4462272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08576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Sparkline</a:t>
            </a:r>
          </a:p>
        </p:txBody>
      </p:sp>
      <p:sp>
        <p:nvSpPr>
          <p:cNvPr id="37" name="Oval 36"/>
          <p:cNvSpPr/>
          <p:nvPr/>
        </p:nvSpPr>
        <p:spPr>
          <a:xfrm>
            <a:off x="4462272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08576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Candlestick (prices)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5008" y="1755648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5008" y="1755648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901952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Compare categories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2176272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8" y="2212848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Which segments, teams or products are ahead or behind?</a:t>
            </a:r>
          </a:p>
        </p:txBody>
      </p:sp>
      <p:sp>
        <p:nvSpPr>
          <p:cNvPr id="44" name="Oval 43"/>
          <p:cNvSpPr/>
          <p:nvPr/>
        </p:nvSpPr>
        <p:spPr>
          <a:xfrm>
            <a:off x="8266176" y="27752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27249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Bar chart</a:t>
            </a:r>
          </a:p>
        </p:txBody>
      </p:sp>
      <p:sp>
        <p:nvSpPr>
          <p:cNvPr id="46" name="Oval 45"/>
          <p:cNvSpPr/>
          <p:nvPr/>
        </p:nvSpPr>
        <p:spPr>
          <a:xfrm>
            <a:off x="8266176" y="300563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95534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Multi-set bar chart</a:t>
            </a:r>
          </a:p>
        </p:txBody>
      </p:sp>
      <p:sp>
        <p:nvSpPr>
          <p:cNvPr id="48" name="Oval 47"/>
          <p:cNvSpPr/>
          <p:nvPr/>
        </p:nvSpPr>
        <p:spPr>
          <a:xfrm>
            <a:off x="8266176" y="3236061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185769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Radar chart</a:t>
            </a:r>
          </a:p>
        </p:txBody>
      </p:sp>
      <p:sp>
        <p:nvSpPr>
          <p:cNvPr id="50" name="Oval 49"/>
          <p:cNvSpPr/>
          <p:nvPr/>
        </p:nvSpPr>
        <p:spPr>
          <a:xfrm>
            <a:off x="8266176" y="3466490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416198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Marimekko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Part-to-a-whole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Where does the total come from — what is the biggest slice?</a:t>
            </a:r>
          </a:p>
        </p:txBody>
      </p:sp>
      <p:sp>
        <p:nvSpPr>
          <p:cNvPr id="57" name="Oval 56"/>
          <p:cNvSpPr/>
          <p:nvPr/>
        </p:nvSpPr>
        <p:spPr>
          <a:xfrm>
            <a:off x="658368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Donut chart</a:t>
            </a:r>
          </a:p>
        </p:txBody>
      </p:sp>
      <p:sp>
        <p:nvSpPr>
          <p:cNvPr id="59" name="Oval 58"/>
          <p:cNvSpPr/>
          <p:nvPr/>
        </p:nvSpPr>
        <p:spPr>
          <a:xfrm>
            <a:off x="658368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Pie chart</a:t>
            </a:r>
          </a:p>
        </p:txBody>
      </p:sp>
      <p:sp>
        <p:nvSpPr>
          <p:cNvPr id="61" name="Oval 60"/>
          <p:cNvSpPr/>
          <p:nvPr/>
        </p:nvSpPr>
        <p:spPr>
          <a:xfrm>
            <a:off x="658368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Stacked bar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Treemap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61104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61104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25696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Distribution &amp; spread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25696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35424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Is the average hiding outliers or wide variation?</a:t>
            </a:r>
          </a:p>
        </p:txBody>
      </p:sp>
      <p:sp>
        <p:nvSpPr>
          <p:cNvPr id="70" name="Oval 69"/>
          <p:cNvSpPr/>
          <p:nvPr/>
        </p:nvSpPr>
        <p:spPr>
          <a:xfrm>
            <a:off x="4462272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08576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Histogram</a:t>
            </a:r>
          </a:p>
        </p:txBody>
      </p:sp>
      <p:sp>
        <p:nvSpPr>
          <p:cNvPr id="72" name="Oval 71"/>
          <p:cNvSpPr/>
          <p:nvPr/>
        </p:nvSpPr>
        <p:spPr>
          <a:xfrm>
            <a:off x="4462272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08576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Box &amp; whisker plot</a:t>
            </a:r>
          </a:p>
        </p:txBody>
      </p:sp>
      <p:sp>
        <p:nvSpPr>
          <p:cNvPr id="74" name="Oval 73"/>
          <p:cNvSpPr/>
          <p:nvPr/>
        </p:nvSpPr>
        <p:spPr>
          <a:xfrm>
            <a:off x="4462272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08576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Violin plot</a:t>
            </a:r>
          </a:p>
        </p:txBody>
      </p:sp>
      <p:sp>
        <p:nvSpPr>
          <p:cNvPr id="76" name="Oval 75"/>
          <p:cNvSpPr/>
          <p:nvPr/>
        </p:nvSpPr>
        <p:spPr>
          <a:xfrm>
            <a:off x="4462272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08576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Density plot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065008" y="3931920"/>
            <a:ext cx="365760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065008" y="3931920"/>
            <a:ext cx="365760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29600" y="4078224"/>
            <a:ext cx="3328416" cy="23774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4283F"/>
                </a:solidFill>
                <a:latin typeface="Arial"/>
              </a:rPr>
              <a:t>Relationships &amp; flow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4352544"/>
            <a:ext cx="3328416" cy="457200"/>
          </a:xfrm>
          <a:prstGeom prst="roundRect">
            <a:avLst/>
          </a:prstGeom>
          <a:solidFill>
            <a:srgbClr val="E7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39328" y="4389120"/>
            <a:ext cx="3127248" cy="42062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 i="0">
                <a:solidFill>
                  <a:srgbClr val="0E6E80"/>
                </a:solidFill>
                <a:latin typeface="Arial"/>
              </a:rPr>
              <a:t>ASK:  </a:t>
            </a:r>
            <a:r>
              <a:rPr sz="819" b="0" i="1">
                <a:solidFill>
                  <a:srgbClr val="21313D"/>
                </a:solidFill>
                <a:latin typeface="Arial"/>
              </a:rPr>
              <a:t>What moves with what — and where does the volume flow?</a:t>
            </a:r>
          </a:p>
        </p:txBody>
      </p:sp>
      <p:sp>
        <p:nvSpPr>
          <p:cNvPr id="83" name="Oval 82"/>
          <p:cNvSpPr/>
          <p:nvPr/>
        </p:nvSpPr>
        <p:spPr>
          <a:xfrm>
            <a:off x="8266176" y="4951475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80" y="4901183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Scatterplot</a:t>
            </a:r>
          </a:p>
        </p:txBody>
      </p:sp>
      <p:sp>
        <p:nvSpPr>
          <p:cNvPr id="85" name="Oval 84"/>
          <p:cNvSpPr/>
          <p:nvPr/>
        </p:nvSpPr>
        <p:spPr>
          <a:xfrm>
            <a:off x="8266176" y="5181904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5131612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Bubble chart</a:t>
            </a:r>
          </a:p>
        </p:txBody>
      </p:sp>
      <p:sp>
        <p:nvSpPr>
          <p:cNvPr id="87" name="Oval 86"/>
          <p:cNvSpPr/>
          <p:nvPr/>
        </p:nvSpPr>
        <p:spPr>
          <a:xfrm>
            <a:off x="8266176" y="5412333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12480" y="5362041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Heatmap</a:t>
            </a:r>
          </a:p>
        </p:txBody>
      </p:sp>
      <p:sp>
        <p:nvSpPr>
          <p:cNvPr id="89" name="Oval 88"/>
          <p:cNvSpPr/>
          <p:nvPr/>
        </p:nvSpPr>
        <p:spPr>
          <a:xfrm>
            <a:off x="8266176" y="5642762"/>
            <a:ext cx="73152" cy="73152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80" y="5592470"/>
            <a:ext cx="3163824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1313D"/>
                </a:solidFill>
                <a:latin typeface="Arial"/>
              </a:rPr>
              <a:t>Sankey diagram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7200" y="6254496"/>
            <a:ext cx="11274552" cy="274320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6286500"/>
            <a:ext cx="11274552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Each question you answer becomes one panel on your KPI dashboard — build the dashboard from your answers.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0" y="6565392"/>
            <a:ext cx="82296" cy="2926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7200" y="6592824"/>
            <a:ext cx="11338560" cy="2286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Chart taxonomy &amp; method names adapted from The Data Visualisation Catalogue · datavizcatalogue.com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