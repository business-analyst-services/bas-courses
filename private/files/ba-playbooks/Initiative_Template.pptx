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le Dodge" userId="dc0199a935818bc1" providerId="LiveId" clId="{91991F84-C581-4593-8D69-68EBBDE776F9}"/>
    <pc:docChg chg="delSld">
      <pc:chgData name="Chale Dodge" userId="dc0199a935818bc1" providerId="LiveId" clId="{91991F84-C581-4593-8D69-68EBBDE776F9}" dt="2026-05-25T14:37:34.189" v="0" actId="47"/>
      <pc:docMkLst>
        <pc:docMk/>
      </pc:docMkLst>
      <pc:sldChg chg="del">
        <pc:chgData name="Chale Dodge" userId="dc0199a935818bc1" providerId="LiveId" clId="{91991F84-C581-4593-8D69-68EBBDE776F9}" dt="2026-05-25T14:37:34.189" v="0" actId="47"/>
        <pc:sldMkLst>
          <pc:docMk/>
          <pc:sldMk cId="0" sldId="32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B5AF-D367-0B74-B477-07E8FA25E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CE2A7-5325-D956-7C9A-6F0E8873E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08847-81B6-3EC5-91BB-33CCFFF3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64B0A-A0BB-4614-E77B-3237F50E7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31DB4-531D-FEA9-FC0E-47890AF8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4085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9CEF-D5EA-F96E-53FB-816CBC31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AE6C7-D058-A44B-B624-716441616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04058-1174-725A-BBBF-62D73C01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C6D61-2817-0C28-4F06-5E04C94F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06F91-8D27-0928-96EC-9FEF3DA5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16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4AB5-6988-C727-9019-064C84DAB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E3601-B8C6-9797-8CFB-E1AA436AF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7F745-3072-FA5D-19C3-0A46C1D0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5C395-2E0A-445C-5431-CCA3D063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2584F-9AEC-FBB7-8F32-1EB66D88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519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86ED-893F-DD13-A6AD-837B8811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E042B-E840-8D43-1666-F210E1A48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ACAC7-8B8D-FBEB-A944-97A524BB2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3E0A3-36B6-E83B-F658-32B641CA8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C52F-57CF-0B8C-9579-5369CDCE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5CAF8-EF5B-4817-7E2A-12809F0EA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688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7ACC-D7A1-6E3D-5D7E-4737694B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EF40E-C842-13AE-091E-989B116E2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4F659-D7E0-61FF-03D4-0DE0413D5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453B9-6220-08C9-5606-4FAAAE749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F3533-B8EA-33D3-66A1-AF68B3132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BA88E-A420-000E-C853-B806AC83F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B8664-83C4-1125-ED74-38B152B2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5DF039-F0FE-0EA1-F50D-54818748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5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DDE0-96E3-070B-B143-C3E9605A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C80FB-4EB3-4779-1921-D862D482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CC175-53FB-1F3E-AAB0-A08E65E8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AF080-4D46-7B7E-30BB-141FEFA4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06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02BC3-1DBF-F439-B1B5-52C9F420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B7658-69E3-A1C3-73F5-8930F605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683D5-A078-7DF0-DD22-A040EA7C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0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BA75A-CC73-657F-54B2-F87D509A9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E7401-5CF7-C1E5-410E-46819383C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478E5-CA3D-E888-656D-7EF2D7D36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530D4-69CC-E3B7-F47A-D0588E2D0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B9DE8-43CD-553E-23EA-7E9F7B53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E04D6-871F-CE1E-7ED9-C73F9105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268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EE97-2D94-0E87-D311-155565F09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09A716-A3A4-4826-EE62-6E9EDFA7C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94851-E327-4D13-B4F3-7D8840A96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8DA46-2535-AF11-D445-79CF51D7C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E35F4-888C-E6E9-32A8-23DE8A38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3726C-5CD0-FF06-433C-1B869DB7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83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84DE-40A7-F50C-98D2-635040FA6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15FAC-7CF2-2727-8114-27F668A32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1867A-F378-0B51-F851-26B5FE9F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E2963-581E-F92D-0FE6-CA09DA97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45B9C-86A3-47BB-D280-0BDB7916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73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8DDEF8-C351-D3A1-10CA-E8AF8BED4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157EC-AEB4-EE07-59BA-6962E88B7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D0409-204D-FD05-33E2-76E1872A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937A7-94C1-E230-72BD-A2FC634A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4C9CD-A0C4-4FE6-B6DC-CC4FD141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0576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225CFA-B475-01E0-640A-D9117DFD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11FD1-ABB0-C855-A581-C73107733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D9516-2FF6-AB27-1B76-EB4EACA66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CCBD-1708-569A-6C53-40B346A9A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C4D4A-1731-0470-B181-99342F57A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621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92608" y="201168"/>
            <a:ext cx="475488" cy="475488"/>
          </a:xfrm>
          <a:prstGeom prst="ellipse">
            <a:avLst/>
          </a:prstGeom>
          <a:noFill/>
          <a:ln w="2540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6888" y="201168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8288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14283F"/>
                </a:solidFill>
                <a:latin typeface="Arial"/>
              </a:rPr>
              <a:t>[INITIATIVE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60350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5"/>
                </a:solidFill>
                <a:latin typeface="Arial"/>
              </a:rPr>
              <a:t>[Value statement / tagline]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201168"/>
            <a:ext cx="3258007" cy="868680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32519" y="274320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arg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041" y="332841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98280" y="310896"/>
            <a:ext cx="270936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E6E80"/>
                </a:solidFill>
                <a:latin typeface="Arial"/>
              </a:rPr>
              <a:t>OUR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7384" y="603504"/>
            <a:ext cx="2983687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21313D"/>
                </a:solidFill>
                <a:latin typeface="Arial"/>
              </a:rPr>
              <a:t>[The problem this initiative solves and the measurable outcome it targets]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1115568"/>
            <a:ext cx="267004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113385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6E80"/>
                </a:solidFill>
                <a:latin typeface="Arial"/>
              </a:rP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1133856"/>
            <a:ext cx="166420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4283F"/>
                </a:solidFill>
                <a:latin typeface="Arial"/>
              </a:rPr>
              <a:t>[Duration]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72384" y="1115568"/>
            <a:ext cx="267004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82112" y="113385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6E80"/>
                </a:solidFill>
                <a:latin typeface="Arial"/>
              </a:rPr>
              <a:t>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2504" y="1133856"/>
            <a:ext cx="166420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4283F"/>
                </a:solidFill>
                <a:latin typeface="Arial"/>
              </a:rPr>
              <a:t>[Who is involved]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115568"/>
            <a:ext cx="267004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61888" y="113385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6E80"/>
                </a:solidFill>
                <a:latin typeface="Arial"/>
              </a:rP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133856"/>
            <a:ext cx="166420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4283F"/>
                </a:solidFill>
                <a:latin typeface="Arial"/>
              </a:rPr>
              <a:t>[North Star: baseline → target]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115568"/>
            <a:ext cx="325800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WHAT WILL BE DELIVERED AFTER DISCOVERY 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2608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peop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45920"/>
            <a:ext cx="219456" cy="219456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766773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66773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1–2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42261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242261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315413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low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565" y="1645920"/>
            <a:ext cx="219456" cy="219456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3716426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16426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51989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Process &amp; BPMN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51989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3–4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51989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1989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51989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51989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51989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51989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91914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191914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265066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tr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218" y="1645920"/>
            <a:ext cx="219456" cy="219456"/>
          </a:xfrm>
          <a:prstGeom prst="rect">
            <a:avLst/>
          </a:prstGeom>
        </p:spPr>
      </p:pic>
      <p:sp>
        <p:nvSpPr>
          <p:cNvPr id="53" name="Oval 52"/>
          <p:cNvSpPr/>
          <p:nvPr/>
        </p:nvSpPr>
        <p:spPr>
          <a:xfrm>
            <a:off x="5666079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6079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01642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Data &amp; KPIs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01642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5–6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01642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1642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01642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01642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01642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01642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41567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141567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214719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871" y="1645920"/>
            <a:ext cx="219456" cy="219456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7615732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615732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51295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Requirements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51295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7–8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51295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51295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1295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51295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1295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51295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091220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091220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164372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puzz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7524" y="1645920"/>
            <a:ext cx="219456" cy="219456"/>
          </a:xfrm>
          <a:prstGeom prst="rect">
            <a:avLst/>
          </a:prstGeom>
        </p:spPr>
      </p:pic>
      <p:sp>
        <p:nvSpPr>
          <p:cNvPr id="81" name="Oval 80"/>
          <p:cNvSpPr/>
          <p:nvPr/>
        </p:nvSpPr>
        <p:spPr>
          <a:xfrm>
            <a:off x="9565386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565386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00948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Solution &amp; Case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00948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9–10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00948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00948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00948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00948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00948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00948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040874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0040874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0114026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4" name="Picture 93" descr="rock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7178" y="1645920"/>
            <a:ext cx="219456" cy="219456"/>
          </a:xfrm>
          <a:prstGeom prst="rect">
            <a:avLst/>
          </a:prstGeom>
        </p:spPr>
      </p:pic>
      <p:sp>
        <p:nvSpPr>
          <p:cNvPr id="95" name="Oval 94"/>
          <p:cNvSpPr/>
          <p:nvPr/>
        </p:nvSpPr>
        <p:spPr>
          <a:xfrm>
            <a:off x="11515039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1515039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50601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Delivery &amp; Change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150601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11–12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50601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50601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50601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[focus]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50601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50601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50601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[deliverable]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92608" y="3346704"/>
            <a:ext cx="2819323" cy="1225296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0624" y="3438144"/>
            <a:ext cx="25632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0E6E80"/>
                </a:solidFill>
                <a:latin typeface="Arial"/>
              </a:rPr>
              <a:t>ENGAGEMENT / COST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0624" y="3639312"/>
            <a:ext cx="256329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5B6B75"/>
                </a:solidFill>
                <a:latin typeface="Arial"/>
              </a:rPr>
              <a:t>Rate:  </a:t>
            </a:r>
            <a:r>
              <a:rPr sz="740" b="0">
                <a:solidFill>
                  <a:srgbClr val="21313D"/>
                </a:solidFill>
                <a:latin typeface="Arial"/>
              </a:rPr>
              <a:t>$[ ] / day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0624" y="3803904"/>
            <a:ext cx="256329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5B6B75"/>
                </a:solidFill>
                <a:latin typeface="Arial"/>
              </a:rPr>
              <a:t>Cadence:  </a:t>
            </a:r>
            <a:r>
              <a:rPr sz="740" b="0">
                <a:solidFill>
                  <a:srgbClr val="21313D"/>
                </a:solidFill>
                <a:latin typeface="Arial"/>
              </a:rPr>
              <a:t>[ ] days / week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0624" y="3968496"/>
            <a:ext cx="256329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5B6B75"/>
                </a:solidFill>
                <a:latin typeface="Arial"/>
              </a:rPr>
              <a:t>Year-1 cost:  </a:t>
            </a:r>
            <a:r>
              <a:rPr sz="740" b="0">
                <a:solidFill>
                  <a:srgbClr val="21313D"/>
                </a:solidFill>
                <a:latin typeface="Arial"/>
              </a:rPr>
              <a:t>$[ ]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20624" y="4187952"/>
            <a:ext cx="2563291" cy="292608"/>
          </a:xfrm>
          <a:prstGeom prst="round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12064" y="4197096"/>
            <a:ext cx="24535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23A6BC"/>
                </a:solidFill>
                <a:latin typeface="Arial"/>
              </a:rPr>
              <a:t>3-YR TOTAL  </a:t>
            </a:r>
            <a:r>
              <a:rPr sz="1200" b="1">
                <a:solidFill>
                  <a:srgbClr val="FFFFFF"/>
                </a:solidFill>
                <a:latin typeface="Arial"/>
              </a:rPr>
              <a:t>$[ ]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221659" y="3346704"/>
            <a:ext cx="2819323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221659" y="3346704"/>
            <a:ext cx="2819323" cy="4572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349675" y="3456432"/>
            <a:ext cx="25632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0E6E80"/>
                </a:solidFill>
                <a:latin typeface="Arial"/>
              </a:rPr>
              <a:t>ROI / BENEFITS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49675" y="3694176"/>
            <a:ext cx="16915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14283F"/>
                </a:solidFill>
                <a:latin typeface="Arial"/>
              </a:rPr>
              <a:t>[outcome]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913254" y="3694176"/>
            <a:ext cx="9997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>
                <a:solidFill>
                  <a:srgbClr val="21313D"/>
                </a:solidFill>
                <a:latin typeface="Arial"/>
              </a:rPr>
              <a:t>[value]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49675" y="3968496"/>
            <a:ext cx="16915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14283F"/>
                </a:solidFill>
                <a:latin typeface="Arial"/>
              </a:rPr>
              <a:t>[outcome]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913254" y="3968496"/>
            <a:ext cx="9997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>
                <a:solidFill>
                  <a:srgbClr val="21313D"/>
                </a:solidFill>
                <a:latin typeface="Arial"/>
              </a:rPr>
              <a:t>[value]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49675" y="4242816"/>
            <a:ext cx="16915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14283F"/>
                </a:solidFill>
                <a:latin typeface="Arial"/>
              </a:rPr>
              <a:t>[outcome]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913254" y="4242816"/>
            <a:ext cx="9997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>
                <a:solidFill>
                  <a:srgbClr val="21313D"/>
                </a:solidFill>
                <a:latin typeface="Arial"/>
              </a:rPr>
              <a:t>[value]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150711" y="3346704"/>
            <a:ext cx="2819323" cy="1225296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150711" y="3346704"/>
            <a:ext cx="54864" cy="12252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315303" y="3438144"/>
            <a:ext cx="254500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0E6E80"/>
                </a:solidFill>
                <a:latin typeface="Arial"/>
              </a:rPr>
              <a:t>KEY INSIGHT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15303" y="3639312"/>
            <a:ext cx="250842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0">
                <a:solidFill>
                  <a:srgbClr val="21313D"/>
                </a:solidFill>
                <a:latin typeface="Arial"/>
              </a:rPr>
              <a:t>[The one insight that reframes this initiative.]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079763" y="3346704"/>
            <a:ext cx="2819323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079763" y="3346704"/>
            <a:ext cx="2819323" cy="45720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207779" y="3456432"/>
            <a:ext cx="25632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0E6E80"/>
                </a:solidFill>
                <a:latin typeface="Arial"/>
              </a:rPr>
              <a:t>RECOMMENDED OPTION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207779" y="3675888"/>
            <a:ext cx="25632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4283F"/>
                </a:solidFill>
                <a:latin typeface="Arial"/>
              </a:rPr>
              <a:t>[Recommended option — and the alternative]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207779" y="4334256"/>
            <a:ext cx="25632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>
                <a:solidFill>
                  <a:srgbClr val="5B6B75"/>
                </a:solidFill>
                <a:latin typeface="Arial"/>
              </a:rPr>
              <a:t>Phased: MVP first, then scale.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92608" y="4700016"/>
            <a:ext cx="28193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4283F"/>
                </a:solidFill>
                <a:latin typeface="Arial"/>
              </a:rPr>
              <a:t>KEY ACTIVITIES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92608" y="4901183"/>
            <a:ext cx="310896" cy="2011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92608" y="4992624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[activity]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2608" y="5148072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[activity]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92608" y="5303520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[activity]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21659" y="4700016"/>
            <a:ext cx="28193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4283F"/>
                </a:solidFill>
                <a:latin typeface="Arial"/>
              </a:rPr>
              <a:t>KEY STAKEHOLDERS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21659" y="4901183"/>
            <a:ext cx="310896" cy="2011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3221659" y="4992624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[name]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21659" y="5148072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[name]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221659" y="5303520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[name]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21659" y="5458968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[name]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50711" y="4700016"/>
            <a:ext cx="28193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4283F"/>
                </a:solidFill>
                <a:latin typeface="Arial"/>
              </a:rPr>
              <a:t>KEY INPUTS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150711" y="4901183"/>
            <a:ext cx="310896" cy="2011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150711" y="4992624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[input]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50711" y="5148072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[input]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50711" y="5303520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[constraints]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079763" y="4700016"/>
            <a:ext cx="28193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4283F"/>
                </a:solidFill>
                <a:latin typeface="Arial"/>
              </a:rPr>
              <a:t>EXPECTED OUTCOMES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079763" y="4901183"/>
            <a:ext cx="310896" cy="2011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9079763" y="4992624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[output]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79763" y="5148072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[output]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79763" y="5303520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[output]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79763" y="5458968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[output]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92608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384048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" name="Picture 153" descr="shiel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569" y="5883249"/>
            <a:ext cx="175564" cy="175564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713232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[benefit]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242261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2333701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8" name="Picture 157" descr="gea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2222" y="5883249"/>
            <a:ext cx="175564" cy="175564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2662885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[benefit]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191914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4283354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2" name="Picture 161" descr="tr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1876" y="5883249"/>
            <a:ext cx="175564" cy="175564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4612538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[benefit]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141567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6233007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6" name="Picture 165" descr="puzz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529" y="5883249"/>
            <a:ext cx="175564" cy="175564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6562191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[benefit]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091220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8182660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0" name="Picture 169" descr="star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1182" y="5883249"/>
            <a:ext cx="175564" cy="175564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8511844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[benefit]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0040874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0132314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" name="Picture 173" descr="peop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835" y="5883249"/>
            <a:ext cx="175564" cy="175564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10461498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[benefit]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0" y="6327648"/>
            <a:ext cx="91440" cy="53035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82879" y="6437376"/>
            <a:ext cx="310896" cy="310896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9" name="Picture 178" descr="star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059" y="6499555"/>
            <a:ext cx="186537" cy="186537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658368" y="6382512"/>
            <a:ext cx="104360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[Closing statement / key value proposition]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814255" y="6382512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23A6BC"/>
                </a:solidFill>
                <a:latin typeface="Arial"/>
              </a:rPr>
              <a:t>BAS · INITIATIVE BLUEPRINT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Widescreen</PresentationFormat>
  <Paragraphs>109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Chale Dodge</dc:creator>
  <cp:lastModifiedBy>Chale Dodge</cp:lastModifiedBy>
  <cp:revision>1</cp:revision>
  <dcterms:created xsi:type="dcterms:W3CDTF">2026-05-25T14:33:22Z</dcterms:created>
  <dcterms:modified xsi:type="dcterms:W3CDTF">2026-05-25T14:37:36Z</dcterms:modified>
</cp:coreProperties>
</file>