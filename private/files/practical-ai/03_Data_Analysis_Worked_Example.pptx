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  <p:sldId id="268" r:id="rId19"/>
    <p:sldId id="269" r:id="rId20"/>
    <p:sldId id="270" r:id="rId21"/>
    <p:sldId id="271" r:id="rId11"/>
    <p:sldId id="272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Choose the North 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North Star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11423599" cy="603504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4864" cy="6035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2646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NORTH STAR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9105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283F"/>
                </a:solidFill>
                <a:latin typeface="Arial"/>
              </a:rPr>
              <a:t>Time-to-first-transaction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39696"/>
            <a:ext cx="5638647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139696"/>
            <a:ext cx="5638647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5382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14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743200"/>
            <a:ext cx="53826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8999" y="2139696"/>
            <a:ext cx="5638647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8999" y="2139696"/>
            <a:ext cx="5638647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7015" y="2304288"/>
            <a:ext cx="5382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5 days within 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7015" y="2743200"/>
            <a:ext cx="53826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191256"/>
            <a:ext cx="5620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DEFINITION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520439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Median days from form submission to first transaction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3191256"/>
            <a:ext cx="5620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DOES NOT MEASURE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7287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87287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3591" y="3520439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Customer satisfaction or fraud rate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Build the KPI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KPI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8419" y="1371600"/>
            <a:ext cx="5254855" cy="548640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8419" y="1444752"/>
            <a:ext cx="52548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NORTH STAR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8419" y="1627632"/>
            <a:ext cx="5254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Time-to-first-transaction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227021" y="1920240"/>
            <a:ext cx="3868826" cy="320040"/>
          </a:xfrm>
          <a:prstGeom prst="line">
            <a:avLst/>
          </a:prstGeom>
          <a:ln w="1778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048" y="2240280"/>
            <a:ext cx="3685946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313432"/>
            <a:ext cx="36859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0E6E80"/>
                </a:solidFill>
                <a:latin typeface="Arial"/>
              </a:rPr>
              <a:t>TIER-1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478024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Identity verification time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" y="1920240"/>
            <a:ext cx="0" cy="320040"/>
          </a:xfrm>
          <a:prstGeom prst="line">
            <a:avLst/>
          </a:prstGeom>
          <a:ln w="1778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52874" y="2240280"/>
            <a:ext cx="3685946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2874" y="2313432"/>
            <a:ext cx="36859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0E6E80"/>
                </a:solidFill>
                <a:latin typeface="Arial"/>
              </a:rPr>
              <a:t>TIER-1 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7738" y="2478024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Document review time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7" y="1920240"/>
            <a:ext cx="3868827" cy="320040"/>
          </a:xfrm>
          <a:prstGeom prst="line">
            <a:avLst/>
          </a:prstGeom>
          <a:ln w="1778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21700" y="2240280"/>
            <a:ext cx="3685946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1700" y="2313432"/>
            <a:ext cx="36859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0E6E80"/>
                </a:solidFill>
                <a:latin typeface="Arial"/>
              </a:rPr>
              <a:t>TIER-1 DRIVER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6564" y="2478024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Account provisioning time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27021" y="2807208"/>
            <a:ext cx="0" cy="146304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7200" y="2953512"/>
            <a:ext cx="3539642" cy="310896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999232"/>
            <a:ext cx="33750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>
                <a:solidFill>
                  <a:srgbClr val="21313D"/>
                </a:solidFill>
                <a:latin typeface="Arial"/>
              </a:rPr>
              <a:t>Auto-pass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539642" cy="310896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383280"/>
            <a:ext cx="33750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>
                <a:solidFill>
                  <a:srgbClr val="21313D"/>
                </a:solidFill>
                <a:latin typeface="Arial"/>
              </a:rPr>
              <a:t>Image rework rate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964674" y="2807208"/>
            <a:ext cx="0" cy="146304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94852" y="2953512"/>
            <a:ext cx="3539642" cy="310896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6292" y="2999232"/>
            <a:ext cx="33750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>
                <a:solidFill>
                  <a:srgbClr val="21313D"/>
                </a:solidFill>
                <a:latin typeface="Arial"/>
              </a:rPr>
              <a:t>API latency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4852" y="3337560"/>
            <a:ext cx="3539642" cy="310896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6292" y="3383280"/>
            <a:ext cx="33750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>
                <a:solidFill>
                  <a:srgbClr val="21313D"/>
                </a:solidFill>
                <a:latin typeface="Arial"/>
              </a:rPr>
              <a:t>Manual review queue depth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Run the Value Leak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Value Leak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264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Manual review queue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56815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B6B75"/>
                </a:solidFill>
                <a:latin typeface="Arial"/>
              </a:rPr>
              <a:t>Now avg 280, p95 6 days · benchmark &lt;24 hrs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673352"/>
            <a:ext cx="6760159" cy="219456"/>
          </a:xfrm>
          <a:prstGeom prst="round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3008" y="1673352"/>
            <a:ext cx="6760159" cy="219456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81183" y="1673352"/>
            <a:ext cx="434467" cy="201168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81183" y="1664208"/>
            <a:ext cx="43446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$310k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24942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ID image rework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77977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B6B75"/>
                </a:solidFill>
                <a:latin typeface="Arial"/>
              </a:rPr>
              <a:t>Now 18% · benchmark &lt;3%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3008" y="2496312"/>
            <a:ext cx="6760159" cy="219456"/>
          </a:xfrm>
          <a:prstGeom prst="round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93008" y="2496312"/>
            <a:ext cx="2616835" cy="219456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81183" y="2496312"/>
            <a:ext cx="434467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81183" y="2487168"/>
            <a:ext cx="43446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$120k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07238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Provisioning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60273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B6B75"/>
                </a:solidFill>
                <a:latin typeface="Arial"/>
              </a:rPr>
              <a:t>Now 1 day · benchmark &lt;1 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93008" y="3319272"/>
            <a:ext cx="6760159" cy="219456"/>
          </a:xfrm>
          <a:prstGeom prst="round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93008" y="3319272"/>
            <a:ext cx="1897205" cy="219456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81183" y="3319272"/>
            <a:ext cx="380492" cy="201168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81183" y="3310128"/>
            <a:ext cx="3804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$87k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Prioritise the Fix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Impact / Ease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7" y="1417320"/>
            <a:ext cx="2340863" cy="2340863"/>
          </a:xfrm>
          <a:prstGeom prst="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2111" y="1417320"/>
            <a:ext cx="2340863" cy="2340863"/>
          </a:xfrm>
          <a:prstGeom prst="rect">
            <a:avLst/>
          </a:prstGeom>
          <a:solidFill>
            <a:srgbClr val="E3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3758183"/>
            <a:ext cx="2340863" cy="2340863"/>
          </a:xfrm>
          <a:prstGeom prst="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1" y="3758183"/>
            <a:ext cx="2340863" cy="2340863"/>
          </a:xfrm>
          <a:prstGeom prst="rect">
            <a:avLst/>
          </a:prstGeom>
          <a:solidFill>
            <a:srgbClr val="F3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1417320"/>
            <a:ext cx="4681727" cy="4681727"/>
          </a:xfrm>
          <a:prstGeom prst="rect">
            <a:avLst/>
          </a:prstGeom>
          <a:noFill/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182111" y="1417320"/>
            <a:ext cx="0" cy="4681727"/>
          </a:xfrm>
          <a:prstGeom prst="line">
            <a:avLst/>
          </a:prstGeom>
          <a:ln w="17780">
            <a:solidFill>
              <a:srgbClr val="1428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7" y="3758183"/>
            <a:ext cx="4681728" cy="0"/>
          </a:xfrm>
          <a:prstGeom prst="line">
            <a:avLst/>
          </a:prstGeom>
          <a:ln w="17780">
            <a:solidFill>
              <a:srgbClr val="1428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6112" y="1453896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BIG BETS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1" y="1453896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DO FIRST (TOP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897879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DEPRIORITISE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1" y="5897879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QUICK WINS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6135623"/>
            <a:ext cx="4681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EASE TO FIX  →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1645919" y="3666744"/>
            <a:ext cx="4681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DOLLAR IMPACT  →</a:t>
            </a:r>
          </a:p>
        </p:txBody>
      </p:sp>
      <p:sp>
        <p:nvSpPr>
          <p:cNvPr id="23" name="Oval 22"/>
          <p:cNvSpPr/>
          <p:nvPr/>
        </p:nvSpPr>
        <p:spPr>
          <a:xfrm>
            <a:off x="3829507" y="2532888"/>
            <a:ext cx="109728" cy="1097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5811" y="249631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Automate ID verification</a:t>
            </a:r>
          </a:p>
        </p:txBody>
      </p:sp>
      <p:sp>
        <p:nvSpPr>
          <p:cNvPr id="25" name="Oval 24"/>
          <p:cNvSpPr/>
          <p:nvPr/>
        </p:nvSpPr>
        <p:spPr>
          <a:xfrm>
            <a:off x="4765852" y="2532888"/>
            <a:ext cx="109728" cy="1097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2156" y="249631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Shrink manual review queue</a:t>
            </a:r>
          </a:p>
        </p:txBody>
      </p:sp>
      <p:sp>
        <p:nvSpPr>
          <p:cNvPr id="27" name="Oval 26"/>
          <p:cNvSpPr/>
          <p:nvPr/>
        </p:nvSpPr>
        <p:spPr>
          <a:xfrm>
            <a:off x="3829507" y="2770632"/>
            <a:ext cx="109728" cy="1097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5811" y="2734056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Parallelise compliance + 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88736" y="1417320"/>
            <a:ext cx="591891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HOW TO ENGAGE</a:t>
            </a:r>
          </a:p>
        </p:txBody>
      </p:sp>
      <p:sp>
        <p:nvSpPr>
          <p:cNvPr id="30" name="Oval 29"/>
          <p:cNvSpPr/>
          <p:nvPr/>
        </p:nvSpPr>
        <p:spPr>
          <a:xfrm>
            <a:off x="5888736" y="1709928"/>
            <a:ext cx="91440" cy="9144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7" y="1673352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Automate ID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7" y="1874520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Leading indicator: API success rate · Tech Lead (Daily)</a:t>
            </a:r>
          </a:p>
        </p:txBody>
      </p:sp>
      <p:sp>
        <p:nvSpPr>
          <p:cNvPr id="33" name="Oval 32"/>
          <p:cNvSpPr/>
          <p:nvPr/>
        </p:nvSpPr>
        <p:spPr>
          <a:xfrm>
            <a:off x="5888736" y="2203704"/>
            <a:ext cx="91440" cy="9144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7" y="2167128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Shrink manual review queue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7" y="2368296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Leading indicator: Queue depth (daily) · Compliance Director (Daily)</a:t>
            </a:r>
          </a:p>
        </p:txBody>
      </p:sp>
      <p:sp>
        <p:nvSpPr>
          <p:cNvPr id="36" name="Oval 35"/>
          <p:cNvSpPr/>
          <p:nvPr/>
        </p:nvSpPr>
        <p:spPr>
          <a:xfrm>
            <a:off x="5888736" y="2697480"/>
            <a:ext cx="91440" cy="9144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53327" y="2660904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Parallelise compliance + provi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7" y="2862072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Leading indicator: Stage overlap % · Head of Customer Ops (Weekly)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66344" y="283464"/>
            <a:ext cx="566928" cy="5669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" y="396849"/>
            <a:ext cx="340156" cy="340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969264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4283F"/>
                </a:solidFill>
                <a:latin typeface="Arial"/>
              </a:rPr>
              <a:t>KPI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9264"/>
            <a:ext cx="96926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WHAT THIS IS  </a:t>
            </a:r>
            <a:r>
              <a:rPr sz="1000" b="1" i="0">
                <a:solidFill>
                  <a:srgbClr val="0E6E80"/>
                </a:solidFill>
                <a:latin typeface="Arial"/>
              </a:rPr>
              <a:t>One North Star, its drivers and value leaks — six ways to see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274320"/>
            <a:ext cx="29718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6C2"/>
                </a:solidFill>
                <a:latin typeface="Arial"/>
              </a:rPr>
              <a:t>FINTECH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95967" y="603504"/>
            <a:ext cx="1993392" cy="24688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5967" y="598932"/>
            <a:ext cx="1993392" cy="24688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◆ WORKED 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11274552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417320"/>
            <a:ext cx="269748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417320"/>
            <a:ext cx="54864" cy="10607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50876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B6B75"/>
                </a:solidFill>
                <a:latin typeface="Arial"/>
              </a:rPr>
              <a:t>NORTH STAR (TARGET)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691640"/>
            <a:ext cx="24231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4283F"/>
                </a:solidFill>
                <a:latin typeface="Arial"/>
              </a:rPr>
              <a:t>5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224028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B6B75"/>
                </a:solidFill>
                <a:latin typeface="Arial"/>
              </a:rPr>
              <a:t>from 14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21992" y="1527048"/>
            <a:ext cx="576071" cy="182880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2" y="1517904"/>
            <a:ext cx="576071" cy="1920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▲ on plan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37360" y="2002536"/>
            <a:ext cx="246888" cy="47548"/>
          </a:xfrm>
          <a:prstGeom prst="line">
            <a:avLst/>
          </a:prstGeom>
          <a:ln w="20320">
            <a:solidFill>
              <a:srgbClr val="23A6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84248" y="2050084"/>
            <a:ext cx="246888" cy="47549"/>
          </a:xfrm>
          <a:prstGeom prst="line">
            <a:avLst/>
          </a:prstGeom>
          <a:ln w="20320">
            <a:solidFill>
              <a:srgbClr val="23A6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31136" y="2097633"/>
            <a:ext cx="246888" cy="47549"/>
          </a:xfrm>
          <a:prstGeom prst="line">
            <a:avLst/>
          </a:prstGeom>
          <a:ln w="20320">
            <a:solidFill>
              <a:srgbClr val="23A6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78024" y="2145182"/>
            <a:ext cx="246888" cy="47549"/>
          </a:xfrm>
          <a:prstGeom prst="line">
            <a:avLst/>
          </a:prstGeom>
          <a:ln w="20320">
            <a:solidFill>
              <a:srgbClr val="23A6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24912" y="2192731"/>
            <a:ext cx="246888" cy="47549"/>
          </a:xfrm>
          <a:prstGeom prst="line">
            <a:avLst/>
          </a:prstGeom>
          <a:ln w="20320">
            <a:solidFill>
              <a:srgbClr val="23A6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944368" y="2212848"/>
            <a:ext cx="54864" cy="54864"/>
          </a:xfrm>
          <a:prstGeom prst="ellipse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19272" y="1417320"/>
            <a:ext cx="269748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9272" y="1417320"/>
            <a:ext cx="54864" cy="10607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65576" y="150876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B6B75"/>
                </a:solidFill>
                <a:latin typeface="Arial"/>
              </a:rPr>
              <a:t>VALUE AT STAKE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1691640"/>
            <a:ext cx="24231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4283F"/>
                </a:solidFill>
                <a:latin typeface="Arial"/>
              </a:rPr>
              <a:t>$517k/yr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224028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B6B75"/>
                </a:solidFill>
                <a:latin typeface="Arial"/>
              </a:rPr>
              <a:t>annualised, addressable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1527048"/>
            <a:ext cx="576071" cy="182880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84064" y="1517904"/>
            <a:ext cx="576071" cy="1920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▲ on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1417320"/>
            <a:ext cx="269748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1344" y="1417320"/>
            <a:ext cx="54864" cy="10607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150876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B6B75"/>
                </a:solidFill>
                <a:latin typeface="Arial"/>
              </a:rPr>
              <a:t>PRIORITISED FIXES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1691640"/>
            <a:ext cx="24231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4283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224028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B6B75"/>
                </a:solidFill>
                <a:latin typeface="Arial"/>
              </a:rPr>
              <a:t>tracked by leading indicators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46136" y="1527048"/>
            <a:ext cx="576071" cy="182880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46136" y="1517904"/>
            <a:ext cx="576071" cy="1920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▲ on plan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43416" y="1417320"/>
            <a:ext cx="269748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43416" y="1417320"/>
            <a:ext cx="54864" cy="10607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150876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B6B75"/>
                </a:solidFill>
                <a:latin typeface="Arial"/>
              </a:rPr>
              <a:t>TARGET HORIZON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1691640"/>
            <a:ext cx="24231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4283F"/>
                </a:solidFill>
                <a:latin typeface="Arial"/>
              </a:rPr>
              <a:t>12 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224028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B6B75"/>
                </a:solidFill>
                <a:latin typeface="Arial"/>
              </a:rPr>
              <a:t>to hit the North Star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08208" y="1527048"/>
            <a:ext cx="576071" cy="182880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08208" y="1517904"/>
            <a:ext cx="576071" cy="1920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▲ on plan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2615184"/>
            <a:ext cx="6400800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2615184"/>
            <a:ext cx="640080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" y="2724912"/>
            <a:ext cx="614476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Time-to-first-transaction over 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" y="2898648"/>
            <a:ext cx="6144768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Line graph — data over time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24128" y="4023360"/>
            <a:ext cx="5577840" cy="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24128" y="3108960"/>
            <a:ext cx="0" cy="91440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24128" y="3108960"/>
            <a:ext cx="1115568" cy="182880"/>
          </a:xfrm>
          <a:prstGeom prst="line">
            <a:avLst/>
          </a:prstGeom>
          <a:ln w="2794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139696" y="3291840"/>
            <a:ext cx="1115568" cy="182880"/>
          </a:xfrm>
          <a:prstGeom prst="line">
            <a:avLst/>
          </a:prstGeom>
          <a:ln w="2794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55264" y="3474720"/>
            <a:ext cx="1115568" cy="182880"/>
          </a:xfrm>
          <a:prstGeom prst="line">
            <a:avLst/>
          </a:prstGeom>
          <a:ln w="2794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70832" y="3657600"/>
            <a:ext cx="1115568" cy="182880"/>
          </a:xfrm>
          <a:prstGeom prst="line">
            <a:avLst/>
          </a:prstGeom>
          <a:ln w="2794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486400" y="3840480"/>
            <a:ext cx="1115568" cy="182880"/>
          </a:xfrm>
          <a:prstGeom prst="line">
            <a:avLst/>
          </a:prstGeom>
          <a:ln w="2794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992124" y="307695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07692" y="325983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223260" y="344271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338828" y="362559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54396" y="380847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569964" y="399135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" y="3017520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B6B75"/>
                </a:solidFill>
                <a:latin typeface="Arial"/>
              </a:rPr>
              <a:t>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53328" y="3822192"/>
            <a:ext cx="56692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0E6E80"/>
                </a:solidFill>
                <a:latin typeface="Arial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19656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35224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50792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66360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81928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22592" y="2615184"/>
            <a:ext cx="4709160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22592" y="2615184"/>
            <a:ext cx="470916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50607" y="2724912"/>
            <a:ext cx="445312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Value leaks, annualised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50607" y="2898648"/>
            <a:ext cx="4453128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Bar chart — comparison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351775" y="3950208"/>
            <a:ext cx="4123944" cy="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719060" y="3324758"/>
            <a:ext cx="640080" cy="625449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51775" y="3169310"/>
            <a:ext cx="1374647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$310k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51775" y="3986784"/>
            <a:ext cx="1374647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5B6B75"/>
                </a:solidFill>
                <a:latin typeface="Arial"/>
              </a:rPr>
              <a:t>Manual re…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93707" y="3708098"/>
            <a:ext cx="640080" cy="242109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26423" y="3552650"/>
            <a:ext cx="1374647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$120k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26423" y="3986784"/>
            <a:ext cx="1374647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5B6B75"/>
                </a:solidFill>
                <a:latin typeface="Arial"/>
              </a:rPr>
              <a:t>ID image…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468356" y="3774678"/>
            <a:ext cx="640080" cy="175529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01071" y="3619230"/>
            <a:ext cx="1374647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$87k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01071" y="3986784"/>
            <a:ext cx="1374647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5B6B75"/>
                </a:solidFill>
                <a:latin typeface="Arial"/>
              </a:rPr>
              <a:t>Provision…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4498848"/>
            <a:ext cx="3566160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57200" y="4498848"/>
            <a:ext cx="356616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5216" y="4608576"/>
            <a:ext cx="331012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North Star vs target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6" y="4782312"/>
            <a:ext cx="3310128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Bullet graph — track a metric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3504" y="5212080"/>
            <a:ext cx="1636776" cy="274320"/>
          </a:xfrm>
          <a:prstGeom prst="rect">
            <a:avLst/>
          </a:prstGeom>
          <a:solidFill>
            <a:srgbClr val="CF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03504" y="5212080"/>
            <a:ext cx="2618841" cy="274320"/>
          </a:xfrm>
          <a:prstGeom prst="rect">
            <a:avLst/>
          </a:prstGeom>
          <a:solidFill>
            <a:srgbClr val="8FC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03504" y="5212080"/>
            <a:ext cx="3273552" cy="274320"/>
          </a:xfrm>
          <a:prstGeom prst="rect">
            <a:avLst/>
          </a:prstGeom>
          <a:solidFill>
            <a:srgbClr val="4F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03504" y="5212080"/>
            <a:ext cx="3273552" cy="274320"/>
          </a:xfrm>
          <a:prstGeom prst="rect">
            <a:avLst/>
          </a:prstGeom>
          <a:noFill/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03504" y="5294376"/>
            <a:ext cx="2727959" cy="10972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1577775" y="5166360"/>
            <a:ext cx="0" cy="365760"/>
          </a:xfrm>
          <a:prstGeom prst="line">
            <a:avLst/>
          </a:prstGeom>
          <a:ln w="27940">
            <a:solidFill>
              <a:srgbClr val="D96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03504" y="5550408"/>
            <a:ext cx="3273552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14283F"/>
                </a:solidFill>
                <a:latin typeface="Arial"/>
              </a:rPr>
              <a:t>now </a:t>
            </a:r>
            <a:r>
              <a:rPr sz="700" b="1" i="0">
                <a:solidFill>
                  <a:srgbClr val="14283F"/>
                </a:solidFill>
                <a:latin typeface="Arial"/>
              </a:rPr>
              <a:t>14 days</a:t>
            </a:r>
            <a:r>
              <a:rPr sz="700" b="1" i="0">
                <a:solidFill>
                  <a:srgbClr val="D9655B"/>
                </a:solidFill>
                <a:latin typeface="Arial"/>
              </a:rPr>
              <a:t>    ▮ target </a:t>
            </a:r>
            <a:r>
              <a:rPr sz="700" b="1" i="0">
                <a:solidFill>
                  <a:srgbClr val="D9655B"/>
                </a:solidFill>
                <a:latin typeface="Arial"/>
              </a:rPr>
              <a:t>5 days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3504" y="5029200"/>
            <a:ext cx="3273552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5B6B75"/>
                </a:solidFill>
                <a:latin typeface="Arial"/>
              </a:rPr>
              <a:t>Actual vs target (qualitative bands)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215384" y="4498848"/>
            <a:ext cx="3566160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215384" y="4498848"/>
            <a:ext cx="356616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43400" y="4608576"/>
            <a:ext cx="331012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Where the value sits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43400" y="4782312"/>
            <a:ext cx="3310128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Donut — part-to-a-whole</a:t>
            </a:r>
          </a:p>
        </p:txBody>
      </p:sp>
      <p:sp>
        <p:nvSpPr>
          <p:cNvPr id="101" name="Pie 100"/>
          <p:cNvSpPr/>
          <p:nvPr/>
        </p:nvSpPr>
        <p:spPr>
          <a:xfrm>
            <a:off x="5285231" y="4773168"/>
            <a:ext cx="1426464" cy="1426464"/>
          </a:xfrm>
          <a:prstGeom prst="pie">
            <a:avLst>
              <a:gd name="adj1" fmla="val -9000000"/>
              <a:gd name="adj2" fmla="val 12586073"/>
            </a:avLst>
          </a:prstGeom>
          <a:solidFill>
            <a:srgbClr val="1789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Pie 101"/>
          <p:cNvSpPr/>
          <p:nvPr/>
        </p:nvSpPr>
        <p:spPr>
          <a:xfrm>
            <a:off x="5285231" y="4773168"/>
            <a:ext cx="1426464" cy="1426464"/>
          </a:xfrm>
          <a:prstGeom prst="pie">
            <a:avLst>
              <a:gd name="adj1" fmla="val 12586073"/>
              <a:gd name="adj2" fmla="val 20941972"/>
            </a:avLst>
          </a:prstGeom>
          <a:solidFill>
            <a:srgbClr val="23A6B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Pie 102"/>
          <p:cNvSpPr/>
          <p:nvPr/>
        </p:nvSpPr>
        <p:spPr>
          <a:xfrm>
            <a:off x="5285231" y="4773168"/>
            <a:ext cx="1426464" cy="1426464"/>
          </a:xfrm>
          <a:prstGeom prst="pie">
            <a:avLst>
              <a:gd name="adj1" fmla="val 20941972"/>
              <a:gd name="adj2" fmla="val 27000000"/>
            </a:avLst>
          </a:prstGeom>
          <a:solidFill>
            <a:srgbClr val="6FC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599054" y="5086990"/>
            <a:ext cx="798819" cy="7988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370832" y="5001768"/>
            <a:ext cx="118872" cy="11887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35424" y="4965192"/>
            <a:ext cx="1280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0">
                <a:solidFill>
                  <a:srgbClr val="21313D"/>
                </a:solidFill>
                <a:latin typeface="Arial"/>
              </a:rPr>
              <a:t>Manual review q…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70832" y="5221224"/>
            <a:ext cx="118872" cy="118872"/>
          </a:xfrm>
          <a:prstGeom prst="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35424" y="5184648"/>
            <a:ext cx="1280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0">
                <a:solidFill>
                  <a:srgbClr val="21313D"/>
                </a:solidFill>
                <a:latin typeface="Arial"/>
              </a:rPr>
              <a:t>ID image rework…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70832" y="5440680"/>
            <a:ext cx="118872" cy="118872"/>
          </a:xfrm>
          <a:prstGeom prst="rect">
            <a:avLst/>
          </a:prstGeom>
          <a:solidFill>
            <a:srgbClr val="6F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535424" y="5404104"/>
            <a:ext cx="1280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0">
                <a:solidFill>
                  <a:srgbClr val="21313D"/>
                </a:solidFill>
                <a:latin typeface="Arial"/>
              </a:rPr>
              <a:t>Provisioning la…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973568" y="4498848"/>
            <a:ext cx="3758184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973568" y="4498848"/>
            <a:ext cx="3758184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101584" y="4608576"/>
            <a:ext cx="3502152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Share in the #1 value leak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101584" y="4782312"/>
            <a:ext cx="3502152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Radial bar — proportion</a:t>
            </a:r>
          </a:p>
        </p:txBody>
      </p:sp>
      <p:sp>
        <p:nvSpPr>
          <p:cNvPr id="115" name="Oval 114"/>
          <p:cNvSpPr/>
          <p:nvPr/>
        </p:nvSpPr>
        <p:spPr>
          <a:xfrm>
            <a:off x="8513064" y="4828031"/>
            <a:ext cx="1353312" cy="1353312"/>
          </a:xfrm>
          <a:prstGeom prst="ellipse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Pie 115"/>
          <p:cNvSpPr/>
          <p:nvPr/>
        </p:nvSpPr>
        <p:spPr>
          <a:xfrm>
            <a:off x="8513064" y="4828031"/>
            <a:ext cx="1353312" cy="1353312"/>
          </a:xfrm>
          <a:prstGeom prst="pie">
            <a:avLst>
              <a:gd name="adj1" fmla="val -9000000"/>
              <a:gd name="adj2" fmla="val 12586073"/>
            </a:avLst>
          </a:prstGeom>
          <a:solidFill>
            <a:srgbClr val="1789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783726" y="5098694"/>
            <a:ext cx="811987" cy="8119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13064" y="5340096"/>
            <a:ext cx="1353312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4283F"/>
                </a:solidFill>
                <a:latin typeface="Arial"/>
              </a:rPr>
              <a:t>60%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058400" y="5212080"/>
            <a:ext cx="155448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B75"/>
                </a:solidFill>
                <a:latin typeface="Arial"/>
              </a:rPr>
              <a:t>of the addressable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B75"/>
                </a:solidFill>
                <a:latin typeface="Arial"/>
              </a:rPr>
              <a:t>value sits in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14283F"/>
                </a:solidFill>
                <a:latin typeface="Arial"/>
              </a:rPr>
              <a:t>single biggest leak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6272784"/>
            <a:ext cx="11274552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1">
                <a:solidFill>
                  <a:srgbClr val="9FB6C2"/>
                </a:solidFill>
                <a:latin typeface="Arial"/>
              </a:rPr>
              <a:t>Illustrative figures derived from this scenario's North Star, value-leak analysis and fix list. Swap any panel for an alternative on the next page.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0" y="6565392"/>
            <a:ext cx="82296" cy="2926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7200" y="6592824"/>
            <a:ext cx="86868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BAS · KPI DASHBOARDS  ·  Playbook 03 · Step 3–4 output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985455" y="6592824"/>
            <a:ext cx="384048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9FB6C2"/>
                </a:solidFill>
                <a:latin typeface="Arial"/>
              </a:rPr>
              <a:t>Fintech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66344" y="283464"/>
            <a:ext cx="566928" cy="5669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" y="396849"/>
            <a:ext cx="340156" cy="340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969264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4283F"/>
                </a:solidFill>
                <a:latin typeface="Arial"/>
              </a:rPr>
              <a:t>Choose Your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9264"/>
            <a:ext cx="96926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WHAT THIS IS  </a:t>
            </a:r>
            <a:r>
              <a:rPr sz="1000" b="1" i="0">
                <a:solidFill>
                  <a:srgbClr val="0E6E80"/>
                </a:solidFill>
                <a:latin typeface="Arial"/>
              </a:rPr>
              <a:t>Ask the question — the answer is the chart you add to the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274320"/>
            <a:ext cx="29718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6C2"/>
                </a:solidFill>
                <a:latin typeface="Arial"/>
              </a:rPr>
              <a:t>FINTECH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95967" y="603504"/>
            <a:ext cx="1993392" cy="24688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5967" y="598932"/>
            <a:ext cx="1993392" cy="24688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◆ OPTIONS MENU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11274552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08176"/>
            <a:ext cx="11274552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5B6B75"/>
                </a:solidFill>
                <a:latin typeface="Arial"/>
              </a:rPr>
              <a:t>For each kind of data-analysis question, ask the one in the card. The answer tells you which chart to add as a dashboard panel. Methods from the Data Visualisation Catalogue.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55648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755648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901952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Track one metric vs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176272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12848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What single number tells us we're winning — and what is the target?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27752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7249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KPI tile / big number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00563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295534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Bullet graph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3236061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185769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Gauge / Radial bar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3466490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416198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Progress donut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1755648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1104" y="1755648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1901952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Show change over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2176272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2212848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Is it getting better or worse — and how fast?</a:t>
            </a:r>
          </a:p>
        </p:txBody>
      </p:sp>
      <p:sp>
        <p:nvSpPr>
          <p:cNvPr id="31" name="Oval 30"/>
          <p:cNvSpPr/>
          <p:nvPr/>
        </p:nvSpPr>
        <p:spPr>
          <a:xfrm>
            <a:off x="4462272" y="27752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8576" y="27249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Line graph</a:t>
            </a:r>
          </a:p>
        </p:txBody>
      </p:sp>
      <p:sp>
        <p:nvSpPr>
          <p:cNvPr id="33" name="Oval 32"/>
          <p:cNvSpPr/>
          <p:nvPr/>
        </p:nvSpPr>
        <p:spPr>
          <a:xfrm>
            <a:off x="4462272" y="300563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8576" y="295534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Area graph</a:t>
            </a:r>
          </a:p>
        </p:txBody>
      </p:sp>
      <p:sp>
        <p:nvSpPr>
          <p:cNvPr id="35" name="Oval 34"/>
          <p:cNvSpPr/>
          <p:nvPr/>
        </p:nvSpPr>
        <p:spPr>
          <a:xfrm>
            <a:off x="4462272" y="3236061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08576" y="3185769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Sparkline</a:t>
            </a:r>
          </a:p>
        </p:txBody>
      </p:sp>
      <p:sp>
        <p:nvSpPr>
          <p:cNvPr id="37" name="Oval 36"/>
          <p:cNvSpPr/>
          <p:nvPr/>
        </p:nvSpPr>
        <p:spPr>
          <a:xfrm>
            <a:off x="4462272" y="3466490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8576" y="3416198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Candlestick (prices)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5008" y="1755648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5008" y="1755648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901952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Compare categories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2176272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8" y="2212848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Which segments, teams or products are ahead or behind?</a:t>
            </a:r>
          </a:p>
        </p:txBody>
      </p:sp>
      <p:sp>
        <p:nvSpPr>
          <p:cNvPr id="44" name="Oval 43"/>
          <p:cNvSpPr/>
          <p:nvPr/>
        </p:nvSpPr>
        <p:spPr>
          <a:xfrm>
            <a:off x="8266176" y="27752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7249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Bar chart</a:t>
            </a:r>
          </a:p>
        </p:txBody>
      </p:sp>
      <p:sp>
        <p:nvSpPr>
          <p:cNvPr id="46" name="Oval 45"/>
          <p:cNvSpPr/>
          <p:nvPr/>
        </p:nvSpPr>
        <p:spPr>
          <a:xfrm>
            <a:off x="8266176" y="300563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295534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Multi-set bar chart</a:t>
            </a:r>
          </a:p>
        </p:txBody>
      </p:sp>
      <p:sp>
        <p:nvSpPr>
          <p:cNvPr id="48" name="Oval 47"/>
          <p:cNvSpPr/>
          <p:nvPr/>
        </p:nvSpPr>
        <p:spPr>
          <a:xfrm>
            <a:off x="8266176" y="3236061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185769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Radar chart</a:t>
            </a:r>
          </a:p>
        </p:txBody>
      </p:sp>
      <p:sp>
        <p:nvSpPr>
          <p:cNvPr id="50" name="Oval 49"/>
          <p:cNvSpPr/>
          <p:nvPr/>
        </p:nvSpPr>
        <p:spPr>
          <a:xfrm>
            <a:off x="8266176" y="3466490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416198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Marimekko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931920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931920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078224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Part-to-a-whole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" y="4352544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389120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Where does the total come from — what is the biggest slice?</a:t>
            </a:r>
          </a:p>
        </p:txBody>
      </p:sp>
      <p:sp>
        <p:nvSpPr>
          <p:cNvPr id="57" name="Oval 56"/>
          <p:cNvSpPr/>
          <p:nvPr/>
        </p:nvSpPr>
        <p:spPr>
          <a:xfrm>
            <a:off x="658368" y="4951475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4901183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Donut chart</a:t>
            </a:r>
          </a:p>
        </p:txBody>
      </p:sp>
      <p:sp>
        <p:nvSpPr>
          <p:cNvPr id="59" name="Oval 58"/>
          <p:cNvSpPr/>
          <p:nvPr/>
        </p:nvSpPr>
        <p:spPr>
          <a:xfrm>
            <a:off x="658368" y="51819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" y="51316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Pie chart</a:t>
            </a:r>
          </a:p>
        </p:txBody>
      </p:sp>
      <p:sp>
        <p:nvSpPr>
          <p:cNvPr id="61" name="Oval 60"/>
          <p:cNvSpPr/>
          <p:nvPr/>
        </p:nvSpPr>
        <p:spPr>
          <a:xfrm>
            <a:off x="658368" y="5412333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4672" y="5362041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Stacked bar</a:t>
            </a:r>
          </a:p>
        </p:txBody>
      </p:sp>
      <p:sp>
        <p:nvSpPr>
          <p:cNvPr id="63" name="Oval 62"/>
          <p:cNvSpPr/>
          <p:nvPr/>
        </p:nvSpPr>
        <p:spPr>
          <a:xfrm>
            <a:off x="658368" y="564276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" y="559247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Treemap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61104" y="3931920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61104" y="3931920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25696" y="4078224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Distribution &amp; spread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25696" y="4352544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35424" y="4389120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Is the average hiding outliers or wide variation?</a:t>
            </a:r>
          </a:p>
        </p:txBody>
      </p:sp>
      <p:sp>
        <p:nvSpPr>
          <p:cNvPr id="70" name="Oval 69"/>
          <p:cNvSpPr/>
          <p:nvPr/>
        </p:nvSpPr>
        <p:spPr>
          <a:xfrm>
            <a:off x="4462272" y="4951475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08576" y="4901183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Histogram</a:t>
            </a:r>
          </a:p>
        </p:txBody>
      </p:sp>
      <p:sp>
        <p:nvSpPr>
          <p:cNvPr id="72" name="Oval 71"/>
          <p:cNvSpPr/>
          <p:nvPr/>
        </p:nvSpPr>
        <p:spPr>
          <a:xfrm>
            <a:off x="4462272" y="51819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08576" y="51316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Box &amp; whisker plot</a:t>
            </a:r>
          </a:p>
        </p:txBody>
      </p:sp>
      <p:sp>
        <p:nvSpPr>
          <p:cNvPr id="74" name="Oval 73"/>
          <p:cNvSpPr/>
          <p:nvPr/>
        </p:nvSpPr>
        <p:spPr>
          <a:xfrm>
            <a:off x="4462272" y="5412333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08576" y="5362041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Violin plot</a:t>
            </a:r>
          </a:p>
        </p:txBody>
      </p:sp>
      <p:sp>
        <p:nvSpPr>
          <p:cNvPr id="76" name="Oval 75"/>
          <p:cNvSpPr/>
          <p:nvPr/>
        </p:nvSpPr>
        <p:spPr>
          <a:xfrm>
            <a:off x="4462272" y="564276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08576" y="559247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Density plot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065008" y="3931920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65008" y="3931920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9600" y="4078224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Relationships &amp; flow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29600" y="4352544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39328" y="4389120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What moves with what — and where does the volume flow?</a:t>
            </a:r>
          </a:p>
        </p:txBody>
      </p:sp>
      <p:sp>
        <p:nvSpPr>
          <p:cNvPr id="83" name="Oval 82"/>
          <p:cNvSpPr/>
          <p:nvPr/>
        </p:nvSpPr>
        <p:spPr>
          <a:xfrm>
            <a:off x="8266176" y="4951475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80" y="4901183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Scatterplot</a:t>
            </a:r>
          </a:p>
        </p:txBody>
      </p:sp>
      <p:sp>
        <p:nvSpPr>
          <p:cNvPr id="85" name="Oval 84"/>
          <p:cNvSpPr/>
          <p:nvPr/>
        </p:nvSpPr>
        <p:spPr>
          <a:xfrm>
            <a:off x="8266176" y="51819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12480" y="51316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Bubble chart</a:t>
            </a:r>
          </a:p>
        </p:txBody>
      </p:sp>
      <p:sp>
        <p:nvSpPr>
          <p:cNvPr id="87" name="Oval 86"/>
          <p:cNvSpPr/>
          <p:nvPr/>
        </p:nvSpPr>
        <p:spPr>
          <a:xfrm>
            <a:off x="8266176" y="5412333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12480" y="5362041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Heatmap</a:t>
            </a:r>
          </a:p>
        </p:txBody>
      </p:sp>
      <p:sp>
        <p:nvSpPr>
          <p:cNvPr id="89" name="Oval 88"/>
          <p:cNvSpPr/>
          <p:nvPr/>
        </p:nvSpPr>
        <p:spPr>
          <a:xfrm>
            <a:off x="8266176" y="564276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80" y="559247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Sankey diagram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7200" y="6254496"/>
            <a:ext cx="11274552" cy="274320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7200" y="6286500"/>
            <a:ext cx="11274552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Each question you answer becomes one panel on your KPI dashboard — build the dashboard from your answers.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0" y="6565392"/>
            <a:ext cx="82296" cy="2926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6592824"/>
            <a:ext cx="113385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Chart taxonomy &amp; method names adapted from The Data Visualisation Catalogue · datavizcatalogue.com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