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8537A-2558-1C0A-35FA-9BE67111D7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5B1DD6-923E-A290-7745-899FDE11AD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10BA2-6AB3-6E81-EDFB-3932B7336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A910-2123-4DCC-9F69-166C6CC8227C}" type="datetimeFigureOut">
              <a:rPr lang="en-AU" smtClean="0"/>
              <a:t>16/10/2026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9335C-C0DF-3429-C7EA-6F4C55B93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B23AA-73EF-6CC6-B632-EB3754511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F9101-C33F-4DC1-8077-07A0808AEF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7526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1DF0-F2EF-48F1-6264-EA3F81FFC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098F3-88E1-621E-289E-2315C2E91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F1D58-8221-918C-5353-BE71FD73C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A910-2123-4DCC-9F69-166C6CC8227C}" type="datetimeFigureOut">
              <a:rPr lang="en-AU" smtClean="0"/>
              <a:t>16/10/2026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8DE57-3DF6-F422-F7E8-87804D1E9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1290E-AC63-7515-60AF-113DAC7DE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F9101-C33F-4DC1-8077-07A0808AEF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2214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093C8-27FE-5373-EF1C-8BF108AF7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082EDC-5C33-3CD2-8A99-5166B96FE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D8D31-DE22-19D1-A1EE-FF0D39DBB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A910-2123-4DCC-9F69-166C6CC8227C}" type="datetimeFigureOut">
              <a:rPr lang="en-AU" smtClean="0"/>
              <a:t>16/10/2026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416AF-671A-CE6D-DD3F-48FE0821E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5B9B4-DE39-1661-18EF-C0BF0189F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F9101-C33F-4DC1-8077-07A0808AEF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7667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A4089-3DB2-61E8-4845-542E173D4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CFE6C-6D44-3286-6518-F80205958E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19A48F-6601-2588-7FCF-BBE11C713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4774F1-787C-3014-AE9C-1D0586E38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A910-2123-4DCC-9F69-166C6CC8227C}" type="datetimeFigureOut">
              <a:rPr lang="en-AU" smtClean="0"/>
              <a:t>16/10/2026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96CF6E-D05C-9CDA-9892-B00407AB3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C6E28-A2FF-39EE-917C-429528975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F9101-C33F-4DC1-8077-07A0808AEF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4395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E09A1-5C17-02BC-80F8-5222CB8F1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D83DB-F98F-C844-9BEE-352CC1F8F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D8479-EEF9-8B28-063A-DF8DCD30EC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E1CF83-2A18-AF79-BD98-64C4B32081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2CF9C5-A31C-80C9-4708-484AFA3CA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BB9D3E-47D3-CD52-BF37-C4F4D3E29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A910-2123-4DCC-9F69-166C6CC8227C}" type="datetimeFigureOut">
              <a:rPr lang="en-AU" smtClean="0"/>
              <a:t>16/10/2026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81402E-8FE0-E95B-D194-EF05E8131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A02033-7A31-7F23-4336-3E3A42F0A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F9101-C33F-4DC1-8077-07A0808AEF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9676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48A80-9EF7-7329-D743-38670C627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551AAB-8C46-A110-D41C-49CCD275D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A910-2123-4DCC-9F69-166C6CC8227C}" type="datetimeFigureOut">
              <a:rPr lang="en-AU" smtClean="0"/>
              <a:t>16/10/2026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B06A53-CEBA-AC8B-602E-49253DA22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2A40AF-74B8-DDC7-6386-09B4C5655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F9101-C33F-4DC1-8077-07A0808AEF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9973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8B3278-4643-82DD-E967-ED8ED8359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A910-2123-4DCC-9F69-166C6CC8227C}" type="datetimeFigureOut">
              <a:rPr lang="en-AU" smtClean="0"/>
              <a:t>16/10/2026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B399DD-4F11-FEB7-B8C8-8BD819AB0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F45AF-C5EA-FCCE-CA90-2FFE698F7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F9101-C33F-4DC1-8077-07A0808AEF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0119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0BD8B-90B8-58E8-F01F-2D08A15FD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DCEE5-EE40-26AB-D0C8-72D0795AF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054A8F-97D2-2881-6A43-04F19D3F3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2D217-79AB-AD19-470C-945F40C07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A910-2123-4DCC-9F69-166C6CC8227C}" type="datetimeFigureOut">
              <a:rPr lang="en-AU" smtClean="0"/>
              <a:t>16/10/2026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C7632-85E7-959A-1B06-C7AF2AC35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88072-1491-2782-102C-E0135F599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F9101-C33F-4DC1-8077-07A0808AEF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7309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233DB-69C1-3E97-59AC-EE8C91A90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35F436-D7D6-4F1E-315B-6BA520D9054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5AB591-CD95-E3F2-F473-DBD4FEF670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F22F5A-6B29-ED12-D876-C634943EC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A910-2123-4DCC-9F69-166C6CC8227C}" type="datetimeFigureOut">
              <a:rPr lang="en-AU" smtClean="0"/>
              <a:t>16/10/2026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3F26A4-AF2E-9D00-6CCF-87225F2B6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1FB55-F640-BFA4-0FC3-A242DEF2F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F9101-C33F-4DC1-8077-07A0808AEF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043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496EB-91B0-0FF6-82E4-B6F1BE734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52BF00-EE8F-74EF-4683-A150AE9CC5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797E5-4B8E-2D90-5F6E-7D605106E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A910-2123-4DCC-9F69-166C6CC8227C}" type="datetimeFigureOut">
              <a:rPr lang="en-AU" smtClean="0"/>
              <a:t>16/10/2026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FBFE6-A530-2F63-A84A-2003DD50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039E9-82E5-9264-B204-F18D2313B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F9101-C33F-4DC1-8077-07A0808AEF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6520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EFA2D3-2148-CFFE-495E-928C330ED1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5EAAEA-A20E-167A-3F9A-B78F52A3F6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A6D2B-E9CB-FF87-69E6-D5F616110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A910-2123-4DCC-9F69-166C6CC8227C}" type="datetimeFigureOut">
              <a:rPr lang="en-AU" smtClean="0"/>
              <a:t>16/10/2026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4F828-200F-95FA-0792-048338537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7C594-22BC-5B1B-81CF-47E47C737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F9101-C33F-4DC1-8077-07A0808AEF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9001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06EB3B-B9F8-F775-C729-B038517A6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816974-3799-87CF-04FE-B87AB9BB4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95E22-087D-F3A7-DE04-5C242A4020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16A910-2123-4DCC-9F69-166C6CC8227C}" type="datetimeFigureOut">
              <a:rPr lang="en-AU" smtClean="0"/>
              <a:t>16/10/2026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32D2A-E971-8E02-AA6B-34165849EF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D8C5D-6649-F7DB-799B-9A4D5DD24A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4F9101-C33F-4DC1-8077-07A0808AEF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4871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286000" y="182880"/>
            <a:ext cx="768096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22B49"/>
                </a:solidFill>
                <a:latin typeface="Calibri"/>
              </a:rPr>
              <a:t>BA WORKFLOW POWERED BY ROVO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603504"/>
            <a:ext cx="7680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C87A4"/>
                </a:solidFill>
                <a:latin typeface="Calibri"/>
              </a:rPr>
              <a:t>Work smarter. Add value. Deliver better outcomes.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877824"/>
            <a:ext cx="11457432" cy="384048"/>
          </a:xfrm>
          <a:prstGeom prst="roundRect">
            <a:avLst/>
          </a:prstGeom>
          <a:solidFill>
            <a:srgbClr val="12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30352" y="950976"/>
            <a:ext cx="237744" cy="237744"/>
          </a:xfrm>
          <a:prstGeom prst="ellipse">
            <a:avLst/>
          </a:prstGeom>
          <a:solidFill>
            <a:srgbClr val="F4A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960120"/>
            <a:ext cx="237744" cy="2286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22B49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886968"/>
            <a:ext cx="1060704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Rovo automations support you across the full BA lifecycle so you can focus on insight, collaboration and impact.</a:t>
            </a:r>
          </a:p>
        </p:txBody>
      </p:sp>
      <p:sp>
        <p:nvSpPr>
          <p:cNvPr id="13" name="Chevron 12"/>
          <p:cNvSpPr/>
          <p:nvPr/>
        </p:nvSpPr>
        <p:spPr>
          <a:xfrm>
            <a:off x="365760" y="1371600"/>
            <a:ext cx="2183892" cy="749808"/>
          </a:xfrm>
          <a:prstGeom prst="chevron">
            <a:avLst>
              <a:gd name="adj" fmla="val 18000"/>
            </a:avLst>
          </a:prstGeom>
          <a:solidFill>
            <a:srgbClr val="F4A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1500" y="1408176"/>
            <a:ext cx="181356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22B49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1600200"/>
            <a:ext cx="181356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22B49"/>
                </a:solidFill>
                <a:latin typeface="Calibri"/>
              </a:rPr>
              <a:t>DISCOVER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1792224"/>
            <a:ext cx="181356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22B49"/>
                </a:solidFill>
                <a:latin typeface="Calibri"/>
              </a:rPr>
              <a:t>Understand the problem and business context.</a:t>
            </a:r>
          </a:p>
        </p:txBody>
      </p:sp>
      <p:sp>
        <p:nvSpPr>
          <p:cNvPr id="17" name="Chevron 16"/>
          <p:cNvSpPr/>
          <p:nvPr/>
        </p:nvSpPr>
        <p:spPr>
          <a:xfrm>
            <a:off x="2275332" y="1371600"/>
            <a:ext cx="2183892" cy="749808"/>
          </a:xfrm>
          <a:prstGeom prst="chevron">
            <a:avLst>
              <a:gd name="adj" fmla="val 18000"/>
            </a:avLst>
          </a:prstGeom>
          <a:solidFill>
            <a:srgbClr val="F8B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81072" y="1408176"/>
            <a:ext cx="181356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22B49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1072" y="1600200"/>
            <a:ext cx="181356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22B49"/>
                </a:solidFill>
                <a:latin typeface="Calibri"/>
              </a:rPr>
              <a:t>CLARIFY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1072" y="1792224"/>
            <a:ext cx="181356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22B49"/>
                </a:solidFill>
                <a:latin typeface="Calibri"/>
              </a:rPr>
              <a:t>Clarify needs, requirements and assumptions.</a:t>
            </a:r>
          </a:p>
        </p:txBody>
      </p:sp>
      <p:sp>
        <p:nvSpPr>
          <p:cNvPr id="21" name="Chevron 20"/>
          <p:cNvSpPr/>
          <p:nvPr/>
        </p:nvSpPr>
        <p:spPr>
          <a:xfrm>
            <a:off x="4184904" y="1371600"/>
            <a:ext cx="2183892" cy="749808"/>
          </a:xfrm>
          <a:prstGeom prst="chevron">
            <a:avLst>
              <a:gd name="adj" fmla="val 18000"/>
            </a:avLst>
          </a:prstGeom>
          <a:solidFill>
            <a:srgbClr val="B2B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90644" y="1408176"/>
            <a:ext cx="181356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22B49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0644" y="1600200"/>
            <a:ext cx="181356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22B49"/>
                </a:solidFill>
                <a:latin typeface="Calibri"/>
              </a:rPr>
              <a:t>DEFINE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0644" y="1792224"/>
            <a:ext cx="181356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22B49"/>
                </a:solidFill>
                <a:latin typeface="Calibri"/>
              </a:rPr>
              <a:t>Define solutions, stories, processes and data needs.</a:t>
            </a:r>
          </a:p>
        </p:txBody>
      </p:sp>
      <p:sp>
        <p:nvSpPr>
          <p:cNvPr id="25" name="Chevron 24"/>
          <p:cNvSpPr/>
          <p:nvPr/>
        </p:nvSpPr>
        <p:spPr>
          <a:xfrm>
            <a:off x="6094476" y="1371600"/>
            <a:ext cx="2183892" cy="749808"/>
          </a:xfrm>
          <a:prstGeom prst="chevron">
            <a:avLst>
              <a:gd name="adj" fmla="val 18000"/>
            </a:avLst>
          </a:prstGeom>
          <a:solidFill>
            <a:srgbClr val="6C8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0216" y="1408176"/>
            <a:ext cx="181356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216" y="1600200"/>
            <a:ext cx="181356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VALIDATE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1792224"/>
            <a:ext cx="181356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>Check quality and readiness before delivery.</a:t>
            </a:r>
          </a:p>
        </p:txBody>
      </p:sp>
      <p:sp>
        <p:nvSpPr>
          <p:cNvPr id="29" name="Chevron 28"/>
          <p:cNvSpPr/>
          <p:nvPr/>
        </p:nvSpPr>
        <p:spPr>
          <a:xfrm>
            <a:off x="8004048" y="1371600"/>
            <a:ext cx="2183892" cy="749808"/>
          </a:xfrm>
          <a:prstGeom prst="chevron">
            <a:avLst>
              <a:gd name="adj" fmla="val 18000"/>
            </a:avLst>
          </a:prstGeom>
          <a:solidFill>
            <a:srgbClr val="12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09788" y="1408176"/>
            <a:ext cx="181356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9788" y="1600200"/>
            <a:ext cx="181356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DELIVER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9788" y="1792224"/>
            <a:ext cx="181356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>Support delivery, changes, risks and decisions.</a:t>
            </a:r>
          </a:p>
        </p:txBody>
      </p:sp>
      <p:sp>
        <p:nvSpPr>
          <p:cNvPr id="33" name="Chevron 32"/>
          <p:cNvSpPr/>
          <p:nvPr/>
        </p:nvSpPr>
        <p:spPr>
          <a:xfrm>
            <a:off x="9913620" y="1371600"/>
            <a:ext cx="2183892" cy="749808"/>
          </a:xfrm>
          <a:prstGeom prst="chevron">
            <a:avLst>
              <a:gd name="adj" fmla="val 18000"/>
            </a:avLst>
          </a:prstGeom>
          <a:solidFill>
            <a:srgbClr val="0D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119360" y="1408176"/>
            <a:ext cx="181356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19360" y="1600200"/>
            <a:ext cx="181356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IMPROVE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19360" y="1792224"/>
            <a:ext cx="181356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>Learn, improve and continuously add value.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2231136"/>
            <a:ext cx="1818132" cy="415398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393192" y="2276856"/>
            <a:ext cx="45720" cy="323958"/>
          </a:xfrm>
          <a:prstGeom prst="roundRect">
            <a:avLst/>
          </a:prstGeom>
          <a:solidFill>
            <a:srgbClr val="F4A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3776" y="2258568"/>
            <a:ext cx="1635252" cy="36053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1" i="0">
                <a:solidFill>
                  <a:srgbClr val="122B49"/>
                </a:solidFill>
                <a:latin typeface="Calibri"/>
              </a:rPr>
              <a:t>Knowledge Q&amp;A Assistant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 i="0">
                <a:solidFill>
                  <a:srgbClr val="555F6B"/>
                </a:solidFill>
                <a:latin typeface="Calibri"/>
              </a:rPr>
              <a:t>Get answers from Confluence, Jira and team knowledge.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2710542"/>
            <a:ext cx="1818132" cy="415398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393192" y="2756262"/>
            <a:ext cx="45720" cy="323958"/>
          </a:xfrm>
          <a:prstGeom prst="roundRect">
            <a:avLst/>
          </a:prstGeom>
          <a:solidFill>
            <a:srgbClr val="F4A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93776" y="2737974"/>
            <a:ext cx="1635252" cy="36053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1" i="0">
                <a:solidFill>
                  <a:srgbClr val="122B49"/>
                </a:solidFill>
                <a:latin typeface="Calibri"/>
              </a:rPr>
              <a:t>Jira Theme Analysis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 i="0">
                <a:solidFill>
                  <a:srgbClr val="555F6B"/>
                </a:solidFill>
                <a:latin typeface="Calibri"/>
              </a:rPr>
              <a:t>Find patterns and themes in your backlog.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" y="3189949"/>
            <a:ext cx="1818132" cy="415398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393192" y="3235669"/>
            <a:ext cx="45720" cy="323958"/>
          </a:xfrm>
          <a:prstGeom prst="roundRect">
            <a:avLst/>
          </a:prstGeom>
          <a:solidFill>
            <a:srgbClr val="F4A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3776" y="3217381"/>
            <a:ext cx="1635252" cy="36053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1" i="0">
                <a:solidFill>
                  <a:srgbClr val="122B49"/>
                </a:solidFill>
                <a:latin typeface="Calibri"/>
              </a:rPr>
              <a:t>Stakeholder Summary Generator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 i="0">
                <a:solidFill>
                  <a:srgbClr val="555F6B"/>
                </a:solidFill>
                <a:latin typeface="Calibri"/>
              </a:rPr>
              <a:t>Summarise stakeholder input clearly.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3669356"/>
            <a:ext cx="1818132" cy="415398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393192" y="3715076"/>
            <a:ext cx="45720" cy="323958"/>
          </a:xfrm>
          <a:prstGeom prst="roundRect">
            <a:avLst/>
          </a:prstGeom>
          <a:solidFill>
            <a:srgbClr val="F4A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3776" y="3696788"/>
            <a:ext cx="1635252" cy="36053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1" i="0">
                <a:solidFill>
                  <a:srgbClr val="122B49"/>
                </a:solidFill>
                <a:latin typeface="Calibri"/>
              </a:rPr>
              <a:t>Meeting Transcript to Jira Actions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 i="0">
                <a:solidFill>
                  <a:srgbClr val="555F6B"/>
                </a:solidFill>
                <a:latin typeface="Calibri"/>
              </a:rPr>
              <a:t>Convert meetings into actions, decisions and Jira items.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65760" y="4148763"/>
            <a:ext cx="1818132" cy="415398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393192" y="4194483"/>
            <a:ext cx="45720" cy="323958"/>
          </a:xfrm>
          <a:prstGeom prst="roundRect">
            <a:avLst/>
          </a:prstGeom>
          <a:solidFill>
            <a:srgbClr val="F4A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93776" y="4176195"/>
            <a:ext cx="1635252" cy="36053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1" i="0">
                <a:solidFill>
                  <a:srgbClr val="122B49"/>
                </a:solidFill>
                <a:latin typeface="Calibri"/>
              </a:rPr>
              <a:t>RAID Log Generator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 i="0">
                <a:solidFill>
                  <a:srgbClr val="555F6B"/>
                </a:solidFill>
                <a:latin typeface="Calibri"/>
              </a:rPr>
              <a:t>Identify risks, assumptions, issues and dependencies.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65760" y="4628170"/>
            <a:ext cx="1818132" cy="415398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393192" y="4673890"/>
            <a:ext cx="45720" cy="323958"/>
          </a:xfrm>
          <a:prstGeom prst="roundRect">
            <a:avLst/>
          </a:prstGeom>
          <a:solidFill>
            <a:srgbClr val="F4A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93776" y="4655602"/>
            <a:ext cx="1635252" cy="36053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1" i="0">
                <a:solidFill>
                  <a:srgbClr val="122B49"/>
                </a:solidFill>
                <a:latin typeface="Calibri"/>
              </a:rPr>
              <a:t>Decision Log Automation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 i="0">
                <a:solidFill>
                  <a:srgbClr val="555F6B"/>
                </a:solidFill>
                <a:latin typeface="Calibri"/>
              </a:rPr>
              <a:t>Capture decisions from comments and updates.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65760" y="5107577"/>
            <a:ext cx="1818132" cy="415398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393192" y="5153297"/>
            <a:ext cx="45720" cy="323958"/>
          </a:xfrm>
          <a:prstGeom prst="roundRect">
            <a:avLst/>
          </a:prstGeom>
          <a:solidFill>
            <a:srgbClr val="F4A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93776" y="5135009"/>
            <a:ext cx="1635252" cy="36053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1" i="0">
                <a:solidFill>
                  <a:srgbClr val="122B49"/>
                </a:solidFill>
                <a:latin typeface="Calibri"/>
              </a:rPr>
              <a:t>Change Impact Analysis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 i="0">
                <a:solidFill>
                  <a:srgbClr val="555F6B"/>
                </a:solidFill>
                <a:latin typeface="Calibri"/>
              </a:rPr>
              <a:t>Analyse impacts and process flows from notes or workshops.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293620" y="2231136"/>
            <a:ext cx="1818132" cy="774954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2321052" y="2276856"/>
            <a:ext cx="45720" cy="683514"/>
          </a:xfrm>
          <a:prstGeom prst="roundRect">
            <a:avLst/>
          </a:prstGeom>
          <a:solidFill>
            <a:srgbClr val="F8B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421636" y="2258568"/>
            <a:ext cx="1635252" cy="72009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1" i="0">
                <a:solidFill>
                  <a:srgbClr val="122B49"/>
                </a:solidFill>
                <a:latin typeface="Calibri"/>
              </a:rPr>
              <a:t>Requirements Clarification Agent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 i="0">
                <a:solidFill>
                  <a:srgbClr val="555F6B"/>
                </a:solidFill>
                <a:latin typeface="Calibri"/>
              </a:rPr>
              <a:t>Identify vague requirements and generate key clarifying questions.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293620" y="3070098"/>
            <a:ext cx="1818132" cy="774954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2321052" y="3115818"/>
            <a:ext cx="45720" cy="683514"/>
          </a:xfrm>
          <a:prstGeom prst="roundRect">
            <a:avLst/>
          </a:prstGeom>
          <a:solidFill>
            <a:srgbClr val="F8B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421636" y="3097529"/>
            <a:ext cx="1635252" cy="7200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1" i="0">
                <a:solidFill>
                  <a:srgbClr val="122B49"/>
                </a:solidFill>
                <a:latin typeface="Calibri"/>
              </a:rPr>
              <a:t>Acceptance Criteria Generator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 i="0">
                <a:solidFill>
                  <a:srgbClr val="555F6B"/>
                </a:solidFill>
                <a:latin typeface="Calibri"/>
              </a:rPr>
              <a:t>Draft clear, consistent acceptance criteria including rules, edge cases and NFRs.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293620" y="3909060"/>
            <a:ext cx="1818132" cy="774954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2321052" y="3954780"/>
            <a:ext cx="45720" cy="683514"/>
          </a:xfrm>
          <a:prstGeom prst="roundRect">
            <a:avLst/>
          </a:prstGeom>
          <a:solidFill>
            <a:srgbClr val="F8B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421636" y="3936492"/>
            <a:ext cx="1635252" cy="7200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1" i="0">
                <a:solidFill>
                  <a:srgbClr val="122B49"/>
                </a:solidFill>
                <a:latin typeface="Calibri"/>
              </a:rPr>
              <a:t>Epic-to-Story Gap Analysis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 i="0">
                <a:solidFill>
                  <a:srgbClr val="555F6B"/>
                </a:solidFill>
                <a:latin typeface="Calibri"/>
              </a:rPr>
              <a:t>Find missing stories, scenarios, personas or needs.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293620" y="4748022"/>
            <a:ext cx="1818132" cy="774954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2321052" y="4793742"/>
            <a:ext cx="45720" cy="683514"/>
          </a:xfrm>
          <a:prstGeom prst="roundRect">
            <a:avLst/>
          </a:prstGeom>
          <a:solidFill>
            <a:srgbClr val="F8B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421636" y="4775454"/>
            <a:ext cx="1635252" cy="72009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1" i="0">
                <a:solidFill>
                  <a:srgbClr val="122B49"/>
                </a:solidFill>
                <a:latin typeface="Calibri"/>
              </a:rPr>
              <a:t>Business Rules Extractor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 i="0">
                <a:solidFill>
                  <a:srgbClr val="555F6B"/>
                </a:solidFill>
                <a:latin typeface="Calibri"/>
              </a:rPr>
              <a:t>Extract business rules from documents and conversations.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221480" y="2231136"/>
            <a:ext cx="1818132" cy="607161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4248912" y="2276856"/>
            <a:ext cx="45720" cy="515721"/>
          </a:xfrm>
          <a:prstGeom prst="roundRect">
            <a:avLst/>
          </a:prstGeom>
          <a:solidFill>
            <a:srgbClr val="B2B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349496" y="2258568"/>
            <a:ext cx="1635252" cy="5522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1" i="0" dirty="0">
                <a:solidFill>
                  <a:srgbClr val="122B49"/>
                </a:solidFill>
                <a:latin typeface="Calibri"/>
              </a:rPr>
              <a:t>Process Flow Creator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 i="0" dirty="0">
                <a:solidFill>
                  <a:srgbClr val="555F6B"/>
                </a:solidFill>
                <a:latin typeface="Calibri"/>
              </a:rPr>
              <a:t>Design or refine process flows and workflows.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221480" y="2902305"/>
            <a:ext cx="1818132" cy="60716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4248912" y="2948025"/>
            <a:ext cx="45720" cy="515721"/>
          </a:xfrm>
          <a:prstGeom prst="roundRect">
            <a:avLst/>
          </a:prstGeom>
          <a:solidFill>
            <a:srgbClr val="B2B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349496" y="3104351"/>
            <a:ext cx="1635252" cy="203069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660" b="1" i="0" dirty="0">
                <a:solidFill>
                  <a:srgbClr val="122B49"/>
                </a:solidFill>
                <a:latin typeface="Calibri"/>
              </a:rPr>
              <a:t>User Story</a:t>
            </a:r>
            <a:r>
              <a:rPr sz="660" b="1" i="0" dirty="0">
                <a:solidFill>
                  <a:srgbClr val="122B49"/>
                </a:solidFill>
                <a:latin typeface="Calibri"/>
              </a:rPr>
              <a:t> Generator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 i="0" dirty="0">
                <a:solidFill>
                  <a:srgbClr val="555F6B"/>
                </a:solidFill>
                <a:latin typeface="Calibri"/>
              </a:rPr>
              <a:t>Create ACs </a:t>
            </a:r>
            <a:r>
              <a:rPr lang="en-US" sz="580" b="0" i="0" dirty="0">
                <a:solidFill>
                  <a:srgbClr val="555F6B"/>
                </a:solidFill>
                <a:latin typeface="Calibri"/>
              </a:rPr>
              <a:t>and new</a:t>
            </a:r>
            <a:r>
              <a:rPr sz="580" b="0" i="0" dirty="0">
                <a:solidFill>
                  <a:srgbClr val="555F6B"/>
                </a:solidFill>
                <a:latin typeface="Calibri"/>
              </a:rPr>
              <a:t> stories.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221480" y="3573475"/>
            <a:ext cx="1818132" cy="607161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4248912" y="3619195"/>
            <a:ext cx="45720" cy="515721"/>
          </a:xfrm>
          <a:prstGeom prst="roundRect">
            <a:avLst/>
          </a:prstGeom>
          <a:solidFill>
            <a:srgbClr val="B2B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349496" y="3600907"/>
            <a:ext cx="1635252" cy="5522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1" i="0">
                <a:solidFill>
                  <a:srgbClr val="122B49"/>
                </a:solidFill>
                <a:latin typeface="Calibri"/>
              </a:rPr>
              <a:t>Data Requirements Mapper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 i="0">
                <a:solidFill>
                  <a:srgbClr val="555F6B"/>
                </a:solidFill>
                <a:latin typeface="Calibri"/>
              </a:rPr>
              <a:t>Map data needs across stories and processes.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221480" y="4244644"/>
            <a:ext cx="1818132" cy="607161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4248912" y="4290364"/>
            <a:ext cx="45720" cy="515721"/>
          </a:xfrm>
          <a:prstGeom prst="roundRect">
            <a:avLst/>
          </a:prstGeom>
          <a:solidFill>
            <a:srgbClr val="B2B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349496" y="4272076"/>
            <a:ext cx="1635252" cy="5522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1" i="0">
                <a:solidFill>
                  <a:srgbClr val="122B49"/>
                </a:solidFill>
                <a:latin typeface="Calibri"/>
              </a:rPr>
              <a:t>Confluence Page Generator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 i="0">
                <a:solidFill>
                  <a:srgbClr val="555F6B"/>
                </a:solidFill>
                <a:latin typeface="Calibri"/>
              </a:rPr>
              <a:t>Create well-structured requirements pages, epics or solution overviews.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221480" y="4915814"/>
            <a:ext cx="1818132" cy="607161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4248912" y="4961534"/>
            <a:ext cx="45720" cy="515721"/>
          </a:xfrm>
          <a:prstGeom prst="roundRect">
            <a:avLst/>
          </a:prstGeom>
          <a:solidFill>
            <a:srgbClr val="B2B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349496" y="4943246"/>
            <a:ext cx="1635252" cy="5522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1" i="0">
                <a:solidFill>
                  <a:srgbClr val="122B49"/>
                </a:solidFill>
                <a:latin typeface="Calibri"/>
              </a:rPr>
              <a:t>Jira Theme Analysis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 i="0">
                <a:solidFill>
                  <a:srgbClr val="555F6B"/>
                </a:solidFill>
                <a:latin typeface="Calibri"/>
              </a:rPr>
              <a:t>Group work into themes and initiatives.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149340" y="2231136"/>
            <a:ext cx="1818132" cy="607161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6176772" y="2276856"/>
            <a:ext cx="45720" cy="515721"/>
          </a:xfrm>
          <a:prstGeom prst="roundRect">
            <a:avLst/>
          </a:prstGeom>
          <a:solidFill>
            <a:srgbClr val="6C8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277356" y="2258568"/>
            <a:ext cx="1635252" cy="5522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1" i="0">
                <a:solidFill>
                  <a:srgbClr val="122B49"/>
                </a:solidFill>
                <a:latin typeface="Calibri"/>
              </a:rPr>
              <a:t>Story Quality Checker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 i="0">
                <a:solidFill>
                  <a:srgbClr val="555F6B"/>
                </a:solidFill>
                <a:latin typeface="Calibri"/>
              </a:rPr>
              <a:t>Check stories against BA quality standards and flag gaps.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149340" y="2902305"/>
            <a:ext cx="1818132" cy="607161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6176772" y="2948025"/>
            <a:ext cx="45720" cy="515721"/>
          </a:xfrm>
          <a:prstGeom prst="roundRect">
            <a:avLst/>
          </a:prstGeom>
          <a:solidFill>
            <a:srgbClr val="6C8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277356" y="2929737"/>
            <a:ext cx="1635252" cy="5522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1" i="0">
                <a:solidFill>
                  <a:srgbClr val="122B49"/>
                </a:solidFill>
                <a:latin typeface="Calibri"/>
              </a:rPr>
              <a:t>Definition of Ready Checker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 i="0">
                <a:solidFill>
                  <a:srgbClr val="555F6B"/>
                </a:solidFill>
                <a:latin typeface="Calibri"/>
              </a:rPr>
              <a:t>Check if stories meet your DoR and highlight what's missing.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149340" y="3573475"/>
            <a:ext cx="1818132" cy="607161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6176772" y="3619195"/>
            <a:ext cx="45720" cy="515721"/>
          </a:xfrm>
          <a:prstGeom prst="roundRect">
            <a:avLst/>
          </a:prstGeom>
          <a:solidFill>
            <a:srgbClr val="6C8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277356" y="3600907"/>
            <a:ext cx="1635252" cy="5522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1" i="0">
                <a:solidFill>
                  <a:srgbClr val="122B49"/>
                </a:solidFill>
                <a:latin typeface="Calibri"/>
              </a:rPr>
              <a:t>Definition of Done Evidence Checker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 i="0">
                <a:solidFill>
                  <a:srgbClr val="555F6B"/>
                </a:solidFill>
                <a:latin typeface="Calibri"/>
              </a:rPr>
              <a:t>Validate evidence meets DoD and confirm work is truly done.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149340" y="4244644"/>
            <a:ext cx="1818132" cy="607161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6176772" y="4290364"/>
            <a:ext cx="45720" cy="515721"/>
          </a:xfrm>
          <a:prstGeom prst="roundRect">
            <a:avLst/>
          </a:prstGeom>
          <a:solidFill>
            <a:srgbClr val="6C8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277356" y="4272076"/>
            <a:ext cx="1635252" cy="5522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1" i="0">
                <a:solidFill>
                  <a:srgbClr val="122B49"/>
                </a:solidFill>
                <a:latin typeface="Calibri"/>
              </a:rPr>
              <a:t>Duplicate Story Detection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 i="0">
                <a:solidFill>
                  <a:srgbClr val="555F6B"/>
                </a:solidFill>
                <a:latin typeface="Calibri"/>
              </a:rPr>
              <a:t>Find similar or overlapping stories to reduce duplicates and backlog bloat.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149340" y="4915814"/>
            <a:ext cx="1818132" cy="607161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6176772" y="4961534"/>
            <a:ext cx="45720" cy="515721"/>
          </a:xfrm>
          <a:prstGeom prst="roundRect">
            <a:avLst/>
          </a:prstGeom>
          <a:solidFill>
            <a:srgbClr val="6C8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6277356" y="4943246"/>
            <a:ext cx="1635252" cy="5522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1" i="0">
                <a:solidFill>
                  <a:srgbClr val="122B49"/>
                </a:solidFill>
                <a:latin typeface="Calibri"/>
              </a:rPr>
              <a:t>Test Scenario Suggestions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 i="0">
                <a:solidFill>
                  <a:srgbClr val="555F6B"/>
                </a:solidFill>
                <a:latin typeface="Calibri"/>
              </a:rPr>
              <a:t>Suggest test scenarios based on ACs, rules and edge cases.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077200" y="2231136"/>
            <a:ext cx="1818132" cy="607161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8104632" y="2276856"/>
            <a:ext cx="45720" cy="515721"/>
          </a:xfrm>
          <a:prstGeom prst="roundRect">
            <a:avLst/>
          </a:prstGeom>
          <a:solidFill>
            <a:srgbClr val="12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8205216" y="2258568"/>
            <a:ext cx="1635252" cy="5522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1" i="0">
                <a:solidFill>
                  <a:srgbClr val="122B49"/>
                </a:solidFill>
                <a:latin typeface="Calibri"/>
              </a:rPr>
              <a:t>Meeting Transcript to Jira Actions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 i="0">
                <a:solidFill>
                  <a:srgbClr val="555F6B"/>
                </a:solidFill>
                <a:latin typeface="Calibri"/>
              </a:rPr>
              <a:t>Keep actions, decisions and follow-ups moving forward.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077200" y="2902305"/>
            <a:ext cx="1818132" cy="607161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8104632" y="2948025"/>
            <a:ext cx="45720" cy="515721"/>
          </a:xfrm>
          <a:prstGeom prst="roundRect">
            <a:avLst/>
          </a:prstGeom>
          <a:solidFill>
            <a:srgbClr val="12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8205216" y="2929737"/>
            <a:ext cx="1635252" cy="5522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1" i="0">
                <a:solidFill>
                  <a:srgbClr val="122B49"/>
                </a:solidFill>
                <a:latin typeface="Calibri"/>
              </a:rPr>
              <a:t>RAID Log Generator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 i="0">
                <a:solidFill>
                  <a:srgbClr val="555F6B"/>
                </a:solidFill>
                <a:latin typeface="Calibri"/>
              </a:rPr>
              <a:t>Keep RAID updated from work items and conversations.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077200" y="3573475"/>
            <a:ext cx="1818132" cy="607161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8104632" y="3619195"/>
            <a:ext cx="45720" cy="515721"/>
          </a:xfrm>
          <a:prstGeom prst="roundRect">
            <a:avLst/>
          </a:prstGeom>
          <a:solidFill>
            <a:srgbClr val="12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8205216" y="3600907"/>
            <a:ext cx="1635252" cy="5522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1" i="0">
                <a:solidFill>
                  <a:srgbClr val="122B49"/>
                </a:solidFill>
                <a:latin typeface="Calibri"/>
              </a:rPr>
              <a:t>Decision Log Automation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 i="0">
                <a:solidFill>
                  <a:srgbClr val="555F6B"/>
                </a:solidFill>
                <a:latin typeface="Calibri"/>
              </a:rPr>
              <a:t>Extract and maintain decisions from comments and updates.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077200" y="4244644"/>
            <a:ext cx="1818132" cy="607161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ounded Rectangle 109"/>
          <p:cNvSpPr/>
          <p:nvPr/>
        </p:nvSpPr>
        <p:spPr>
          <a:xfrm>
            <a:off x="8104632" y="4290364"/>
            <a:ext cx="45720" cy="515721"/>
          </a:xfrm>
          <a:prstGeom prst="roundRect">
            <a:avLst/>
          </a:prstGeom>
          <a:solidFill>
            <a:srgbClr val="12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205216" y="4272076"/>
            <a:ext cx="1635252" cy="5522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1" i="0">
                <a:solidFill>
                  <a:srgbClr val="122B49"/>
                </a:solidFill>
                <a:latin typeface="Calibri"/>
              </a:rPr>
              <a:t>Change Impact Analysis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 i="0">
                <a:solidFill>
                  <a:srgbClr val="555F6B"/>
                </a:solidFill>
                <a:latin typeface="Calibri"/>
              </a:rPr>
              <a:t>Re-run impact analysis as changes evolve.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077200" y="4915814"/>
            <a:ext cx="1818132" cy="607161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ounded Rectangle 112"/>
          <p:cNvSpPr/>
          <p:nvPr/>
        </p:nvSpPr>
        <p:spPr>
          <a:xfrm>
            <a:off x="8104632" y="4961534"/>
            <a:ext cx="45720" cy="515721"/>
          </a:xfrm>
          <a:prstGeom prst="roundRect">
            <a:avLst/>
          </a:prstGeom>
          <a:solidFill>
            <a:srgbClr val="12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205216" y="4943246"/>
            <a:ext cx="1635252" cy="5522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1" i="0">
                <a:solidFill>
                  <a:srgbClr val="122B49"/>
                </a:solidFill>
                <a:latin typeface="Calibri"/>
              </a:rPr>
              <a:t>Definition of Done Evidence Checker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 i="0">
                <a:solidFill>
                  <a:srgbClr val="555F6B"/>
                </a:solidFill>
                <a:latin typeface="Calibri"/>
              </a:rPr>
              <a:t>Validate completion evidence before closing work.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0005060" y="2231136"/>
            <a:ext cx="1818132" cy="607161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ounded Rectangle 115"/>
          <p:cNvSpPr/>
          <p:nvPr/>
        </p:nvSpPr>
        <p:spPr>
          <a:xfrm>
            <a:off x="10032492" y="2276856"/>
            <a:ext cx="45720" cy="515721"/>
          </a:xfrm>
          <a:prstGeom prst="roundRect">
            <a:avLst/>
          </a:prstGeom>
          <a:solidFill>
            <a:srgbClr val="0D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0133076" y="2258568"/>
            <a:ext cx="1635252" cy="5522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1" i="0">
                <a:solidFill>
                  <a:srgbClr val="122B49"/>
                </a:solidFill>
                <a:latin typeface="Calibri"/>
              </a:rPr>
              <a:t>Backlog Prioritisation Support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 i="0">
                <a:solidFill>
                  <a:srgbClr val="555F6B"/>
                </a:solidFill>
                <a:latin typeface="Calibri"/>
              </a:rPr>
              <a:t>Score work by value, complexity, risk and urgency.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0005060" y="2902305"/>
            <a:ext cx="1818132" cy="607161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10032492" y="2948025"/>
            <a:ext cx="45720" cy="515721"/>
          </a:xfrm>
          <a:prstGeom prst="roundRect">
            <a:avLst/>
          </a:prstGeom>
          <a:solidFill>
            <a:srgbClr val="0D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0133076" y="2929737"/>
            <a:ext cx="1635252" cy="5522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1" i="0">
                <a:solidFill>
                  <a:srgbClr val="122B49"/>
                </a:solidFill>
                <a:latin typeface="Calibri"/>
              </a:rPr>
              <a:t>Duplicate Story Detection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 i="0">
                <a:solidFill>
                  <a:srgbClr val="555F6B"/>
                </a:solidFill>
                <a:latin typeface="Calibri"/>
              </a:rPr>
              <a:t>Continuously clean and de-duplicate backlog.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0005060" y="3573475"/>
            <a:ext cx="1818132" cy="607161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ounded Rectangle 121"/>
          <p:cNvSpPr/>
          <p:nvPr/>
        </p:nvSpPr>
        <p:spPr>
          <a:xfrm>
            <a:off x="10032492" y="3619195"/>
            <a:ext cx="45720" cy="515721"/>
          </a:xfrm>
          <a:prstGeom prst="roundRect">
            <a:avLst/>
          </a:prstGeom>
          <a:solidFill>
            <a:srgbClr val="0D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10133076" y="3600907"/>
            <a:ext cx="1635252" cy="5522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1" i="0">
                <a:solidFill>
                  <a:srgbClr val="122B49"/>
                </a:solidFill>
                <a:latin typeface="Calibri"/>
              </a:rPr>
              <a:t>Stakeholder Summary Generator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 i="0">
                <a:solidFill>
                  <a:srgbClr val="555F6B"/>
                </a:solidFill>
                <a:latin typeface="Calibri"/>
              </a:rPr>
              <a:t>Provide clear, regular updates to stakeholders.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0005060" y="4244644"/>
            <a:ext cx="1818132" cy="607161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ounded Rectangle 124"/>
          <p:cNvSpPr/>
          <p:nvPr/>
        </p:nvSpPr>
        <p:spPr>
          <a:xfrm>
            <a:off x="10032492" y="4290364"/>
            <a:ext cx="45720" cy="515721"/>
          </a:xfrm>
          <a:prstGeom prst="roundRect">
            <a:avLst/>
          </a:prstGeom>
          <a:solidFill>
            <a:srgbClr val="0D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10133076" y="4272076"/>
            <a:ext cx="1635252" cy="5522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1" i="0">
                <a:solidFill>
                  <a:srgbClr val="122B49"/>
                </a:solidFill>
                <a:latin typeface="Calibri"/>
              </a:rPr>
              <a:t>Knowledge Q&amp;A Assistant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 i="0">
                <a:solidFill>
                  <a:srgbClr val="555F6B"/>
                </a:solidFill>
                <a:latin typeface="Calibri"/>
              </a:rPr>
              <a:t>Build and reuse team knowledge for future work.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10005060" y="4915814"/>
            <a:ext cx="1818132" cy="607161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ounded Rectangle 127"/>
          <p:cNvSpPr/>
          <p:nvPr/>
        </p:nvSpPr>
        <p:spPr>
          <a:xfrm>
            <a:off x="10032492" y="4961534"/>
            <a:ext cx="45720" cy="515721"/>
          </a:xfrm>
          <a:prstGeom prst="roundRect">
            <a:avLst/>
          </a:prstGeom>
          <a:solidFill>
            <a:srgbClr val="0D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10133076" y="4943246"/>
            <a:ext cx="1635252" cy="5522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1" i="0">
                <a:solidFill>
                  <a:srgbClr val="122B49"/>
                </a:solidFill>
                <a:latin typeface="Calibri"/>
              </a:rPr>
              <a:t>Test Scenario Suggestions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 i="0">
                <a:solidFill>
                  <a:srgbClr val="555F6B"/>
                </a:solidFill>
                <a:latin typeface="Calibri"/>
              </a:rPr>
              <a:t>Improve test coverage for future releases.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65760" y="5596128"/>
            <a:ext cx="11457432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50">
                <a:solidFill>
                  <a:srgbClr val="122B49"/>
                </a:solidFill>
                <a:latin typeface="Calibri"/>
              </a:rPr>
              <a:t>HOW IT WORKS IN YOUR BA FLOW</a:t>
            </a:r>
          </a:p>
        </p:txBody>
      </p:sp>
      <p:sp>
        <p:nvSpPr>
          <p:cNvPr id="131" name="Oval 130"/>
          <p:cNvSpPr/>
          <p:nvPr/>
        </p:nvSpPr>
        <p:spPr>
          <a:xfrm>
            <a:off x="365760" y="5852160"/>
            <a:ext cx="365760" cy="365760"/>
          </a:xfrm>
          <a:prstGeom prst="ellipse">
            <a:avLst/>
          </a:prstGeom>
          <a:solidFill>
            <a:srgbClr val="12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365760" y="5852160"/>
            <a:ext cx="36576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BC3B"/>
                </a:solidFill>
                <a:latin typeface="Calibri"/>
              </a:rPr>
              <a:t>1</a:t>
            </a:r>
          </a:p>
        </p:txBody>
      </p:sp>
      <p:sp>
        <p:nvSpPr>
          <p:cNvPr id="133" name="Right Arrow 132"/>
          <p:cNvSpPr/>
          <p:nvPr/>
        </p:nvSpPr>
        <p:spPr>
          <a:xfrm>
            <a:off x="2346350" y="5971032"/>
            <a:ext cx="201168" cy="128016"/>
          </a:xfrm>
          <a:prstGeom prst="rightArrow">
            <a:avLst/>
          </a:prstGeom>
          <a:solidFill>
            <a:srgbClr val="B2B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804672" y="5833872"/>
            <a:ext cx="1788566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22B49"/>
                </a:solidFill>
                <a:latin typeface="Calibri"/>
              </a:rPr>
              <a:t>Inputs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04672" y="6016752"/>
            <a:ext cx="1788566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555F6B"/>
                </a:solidFill>
                <a:latin typeface="Calibri"/>
              </a:rPr>
              <a:t>Jira items, Confluence pages, meetings, documents and data.</a:t>
            </a:r>
          </a:p>
        </p:txBody>
      </p:sp>
      <p:sp>
        <p:nvSpPr>
          <p:cNvPr id="136" name="Oval 135"/>
          <p:cNvSpPr/>
          <p:nvPr/>
        </p:nvSpPr>
        <p:spPr>
          <a:xfrm>
            <a:off x="2657246" y="5852160"/>
            <a:ext cx="365760" cy="365760"/>
          </a:xfrm>
          <a:prstGeom prst="ellipse">
            <a:avLst/>
          </a:prstGeom>
          <a:solidFill>
            <a:srgbClr val="12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2657246" y="5852160"/>
            <a:ext cx="36576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BC3B"/>
                </a:solidFill>
                <a:latin typeface="Calibri"/>
              </a:rPr>
              <a:t>2</a:t>
            </a:r>
          </a:p>
        </p:txBody>
      </p:sp>
      <p:sp>
        <p:nvSpPr>
          <p:cNvPr id="138" name="Right Arrow 137"/>
          <p:cNvSpPr/>
          <p:nvPr/>
        </p:nvSpPr>
        <p:spPr>
          <a:xfrm>
            <a:off x="4637836" y="5971032"/>
            <a:ext cx="201168" cy="128016"/>
          </a:xfrm>
          <a:prstGeom prst="rightArrow">
            <a:avLst/>
          </a:prstGeom>
          <a:solidFill>
            <a:srgbClr val="B2B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3096158" y="5833872"/>
            <a:ext cx="1788566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22B49"/>
                </a:solidFill>
                <a:latin typeface="Calibri"/>
              </a:rPr>
              <a:t>Rovo Automations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096158" y="6016752"/>
            <a:ext cx="1788566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555F6B"/>
                </a:solidFill>
                <a:latin typeface="Calibri"/>
              </a:rPr>
              <a:t>Analyse, extract, check and generate structured BA outputs.</a:t>
            </a:r>
          </a:p>
        </p:txBody>
      </p:sp>
      <p:sp>
        <p:nvSpPr>
          <p:cNvPr id="141" name="Oval 140"/>
          <p:cNvSpPr/>
          <p:nvPr/>
        </p:nvSpPr>
        <p:spPr>
          <a:xfrm>
            <a:off x="4948732" y="5852160"/>
            <a:ext cx="365760" cy="365760"/>
          </a:xfrm>
          <a:prstGeom prst="ellipse">
            <a:avLst/>
          </a:prstGeom>
          <a:solidFill>
            <a:srgbClr val="12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4948732" y="5852160"/>
            <a:ext cx="36576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BC3B"/>
                </a:solidFill>
                <a:latin typeface="Calibri"/>
              </a:rPr>
              <a:t>3</a:t>
            </a:r>
          </a:p>
        </p:txBody>
      </p:sp>
      <p:sp>
        <p:nvSpPr>
          <p:cNvPr id="143" name="Right Arrow 142"/>
          <p:cNvSpPr/>
          <p:nvPr/>
        </p:nvSpPr>
        <p:spPr>
          <a:xfrm>
            <a:off x="6929323" y="5971032"/>
            <a:ext cx="201168" cy="128016"/>
          </a:xfrm>
          <a:prstGeom prst="rightArrow">
            <a:avLst/>
          </a:prstGeom>
          <a:solidFill>
            <a:srgbClr val="B2B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5387644" y="5833872"/>
            <a:ext cx="1788566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22B49"/>
                </a:solidFill>
                <a:latin typeface="Calibri"/>
              </a:rPr>
              <a:t>BA Review &amp; Judgement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387644" y="6016752"/>
            <a:ext cx="1788566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555F6B"/>
                </a:solidFill>
                <a:latin typeface="Calibri"/>
              </a:rPr>
              <a:t>You validate, challenge, refine and apply your expertise.</a:t>
            </a:r>
          </a:p>
        </p:txBody>
      </p:sp>
      <p:sp>
        <p:nvSpPr>
          <p:cNvPr id="146" name="Oval 145"/>
          <p:cNvSpPr/>
          <p:nvPr/>
        </p:nvSpPr>
        <p:spPr>
          <a:xfrm>
            <a:off x="7240219" y="5852160"/>
            <a:ext cx="365760" cy="365760"/>
          </a:xfrm>
          <a:prstGeom prst="ellipse">
            <a:avLst/>
          </a:prstGeom>
          <a:solidFill>
            <a:srgbClr val="12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7240219" y="5852160"/>
            <a:ext cx="36576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BC3B"/>
                </a:solidFill>
                <a:latin typeface="Calibri"/>
              </a:rPr>
              <a:t>4</a:t>
            </a:r>
          </a:p>
        </p:txBody>
      </p:sp>
      <p:sp>
        <p:nvSpPr>
          <p:cNvPr id="148" name="Right Arrow 147"/>
          <p:cNvSpPr/>
          <p:nvPr/>
        </p:nvSpPr>
        <p:spPr>
          <a:xfrm>
            <a:off x="9220809" y="5971032"/>
            <a:ext cx="201168" cy="128016"/>
          </a:xfrm>
          <a:prstGeom prst="rightArrow">
            <a:avLst/>
          </a:prstGeom>
          <a:solidFill>
            <a:srgbClr val="B2B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7679131" y="5833872"/>
            <a:ext cx="1788566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22B49"/>
                </a:solidFill>
                <a:latin typeface="Calibri"/>
              </a:rPr>
              <a:t>Outputs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679131" y="6016752"/>
            <a:ext cx="1788566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555F6B"/>
                </a:solidFill>
                <a:latin typeface="Calibri"/>
              </a:rPr>
              <a:t>Clear requirements, quality stories, decisions, RAID and more.</a:t>
            </a:r>
          </a:p>
        </p:txBody>
      </p:sp>
      <p:sp>
        <p:nvSpPr>
          <p:cNvPr id="151" name="Oval 150"/>
          <p:cNvSpPr/>
          <p:nvPr/>
        </p:nvSpPr>
        <p:spPr>
          <a:xfrm>
            <a:off x="9531705" y="5852160"/>
            <a:ext cx="365760" cy="365760"/>
          </a:xfrm>
          <a:prstGeom prst="ellipse">
            <a:avLst/>
          </a:prstGeom>
          <a:solidFill>
            <a:srgbClr val="12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9531705" y="5852160"/>
            <a:ext cx="36576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BC3B"/>
                </a:solidFill>
                <a:latin typeface="Calibri"/>
              </a:rPr>
              <a:t>5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970617" y="5833872"/>
            <a:ext cx="1788566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22B49"/>
                </a:solidFill>
                <a:latin typeface="Calibri"/>
              </a:rPr>
              <a:t>Better Outcomes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970617" y="6016752"/>
            <a:ext cx="1788566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555F6B"/>
                </a:solidFill>
                <a:latin typeface="Calibri"/>
              </a:rPr>
              <a:t>Less rework, better decisions, stronger delivery.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0" y="6309360"/>
            <a:ext cx="12191695" cy="548639"/>
          </a:xfrm>
          <a:prstGeom prst="rect">
            <a:avLst/>
          </a:prstGeom>
          <a:solidFill>
            <a:srgbClr val="0E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3246120" y="6428232"/>
            <a:ext cx="219456" cy="219456"/>
          </a:xfrm>
          <a:prstGeom prst="ellipse">
            <a:avLst/>
          </a:prstGeom>
          <a:solidFill>
            <a:srgbClr val="F4A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3520439" y="6400800"/>
            <a:ext cx="1344853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8BC3B"/>
                </a:solidFill>
                <a:latin typeface="Calibri"/>
              </a:rPr>
              <a:t>Better Insights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520439" y="6583680"/>
            <a:ext cx="1344853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FFFFFF"/>
                </a:solidFill>
                <a:latin typeface="Calibri"/>
              </a:rPr>
              <a:t>Make confident decisions.</a:t>
            </a:r>
          </a:p>
        </p:txBody>
      </p:sp>
      <p:sp>
        <p:nvSpPr>
          <p:cNvPr id="160" name="Oval 159"/>
          <p:cNvSpPr/>
          <p:nvPr/>
        </p:nvSpPr>
        <p:spPr>
          <a:xfrm>
            <a:off x="4865293" y="6428232"/>
            <a:ext cx="219456" cy="219456"/>
          </a:xfrm>
          <a:prstGeom prst="ellipse">
            <a:avLst/>
          </a:prstGeom>
          <a:solidFill>
            <a:srgbClr val="F4A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5139613" y="6400800"/>
            <a:ext cx="1344853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8BC3B"/>
                </a:solidFill>
                <a:latin typeface="Calibri"/>
              </a:rPr>
              <a:t>Save Time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139613" y="6583680"/>
            <a:ext cx="1344853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FFFFFF"/>
                </a:solidFill>
                <a:latin typeface="Calibri"/>
              </a:rPr>
              <a:t>Automate the manual work.</a:t>
            </a:r>
          </a:p>
        </p:txBody>
      </p:sp>
      <p:sp>
        <p:nvSpPr>
          <p:cNvPr id="163" name="Oval 162"/>
          <p:cNvSpPr/>
          <p:nvPr/>
        </p:nvSpPr>
        <p:spPr>
          <a:xfrm>
            <a:off x="6484467" y="6428232"/>
            <a:ext cx="219456" cy="219456"/>
          </a:xfrm>
          <a:prstGeom prst="ellipse">
            <a:avLst/>
          </a:prstGeom>
          <a:solidFill>
            <a:srgbClr val="F4A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6758787" y="6400800"/>
            <a:ext cx="1344853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8BC3B"/>
                </a:solidFill>
                <a:latin typeface="Calibri"/>
              </a:rPr>
              <a:t>Improve Quality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758787" y="6583680"/>
            <a:ext cx="1344853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FFFFFF"/>
                </a:solidFill>
                <a:latin typeface="Calibri"/>
              </a:rPr>
              <a:t>Consistent, clear and complete work.</a:t>
            </a:r>
          </a:p>
        </p:txBody>
      </p:sp>
      <p:sp>
        <p:nvSpPr>
          <p:cNvPr id="166" name="Oval 165"/>
          <p:cNvSpPr/>
          <p:nvPr/>
        </p:nvSpPr>
        <p:spPr>
          <a:xfrm>
            <a:off x="8103641" y="6428232"/>
            <a:ext cx="219456" cy="219456"/>
          </a:xfrm>
          <a:prstGeom prst="ellipse">
            <a:avLst/>
          </a:prstGeom>
          <a:solidFill>
            <a:srgbClr val="F4A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8377961" y="6400800"/>
            <a:ext cx="1344853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8BC3B"/>
                </a:solidFill>
                <a:latin typeface="Calibri"/>
              </a:rPr>
              <a:t>Deliver Value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377961" y="6583680"/>
            <a:ext cx="1344853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FFFFFF"/>
                </a:solidFill>
                <a:latin typeface="Calibri"/>
              </a:rPr>
              <a:t>Focus on outcomes that matter.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058400" y="6400800"/>
            <a:ext cx="210312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Prepared by Business Analyst Services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F8BC3B"/>
                </a:solidFill>
                <a:latin typeface="Calibri"/>
              </a:rPr>
              <a:t>gday@business-analyst.services</a:t>
            </a:r>
          </a:p>
        </p:txBody>
      </p:sp>
      <p:pic>
        <p:nvPicPr>
          <p:cNvPr id="171" name="Picture 170">
            <a:extLst>
              <a:ext uri="{FF2B5EF4-FFF2-40B4-BE49-F238E27FC236}">
                <a16:creationId xmlns:a16="http://schemas.microsoft.com/office/drawing/2014/main" id="{F88336FF-8067-E568-D8FE-BFC094111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16839" y="38366"/>
            <a:ext cx="806353" cy="806353"/>
          </a:xfrm>
          <a:prstGeom prst="rect">
            <a:avLst/>
          </a:prstGeom>
        </p:spPr>
      </p:pic>
      <p:pic>
        <p:nvPicPr>
          <p:cNvPr id="172" name="Picture 171">
            <a:extLst>
              <a:ext uri="{FF2B5EF4-FFF2-40B4-BE49-F238E27FC236}">
                <a16:creationId xmlns:a16="http://schemas.microsoft.com/office/drawing/2014/main" id="{4D60436A-5573-F7AC-E4A5-1D6AB7271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9587651" y="6367775"/>
            <a:ext cx="411174" cy="4111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240280" y="164592"/>
            <a:ext cx="859536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00" b="1" i="0" dirty="0">
                <a:solidFill>
                  <a:srgbClr val="122B49"/>
                </a:solidFill>
                <a:latin typeface="Calibri"/>
              </a:rPr>
              <a:t>AGILE</a:t>
            </a:r>
            <a:r>
              <a:rPr sz="2700" b="1" i="0" dirty="0">
                <a:solidFill>
                  <a:srgbClr val="122B49"/>
                </a:solidFill>
                <a:latin typeface="Calibri"/>
              </a:rPr>
              <a:t> AGENT</a:t>
            </a:r>
            <a:r>
              <a:rPr sz="1800" b="0" i="0" dirty="0">
                <a:solidFill>
                  <a:srgbClr val="6C87A4"/>
                </a:solidFill>
                <a:latin typeface="Calibri"/>
              </a:rPr>
              <a:t>  — 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58568" y="603504"/>
            <a:ext cx="877824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6C87A4"/>
                </a:solidFill>
                <a:latin typeface="Calibri"/>
              </a:rPr>
              <a:t>Hierarchical work-item creation with duplication checks and a template quality gate.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16736"/>
            <a:ext cx="11457432" cy="475488"/>
          </a:xfrm>
          <a:prstGeom prst="roundRect">
            <a:avLst/>
          </a:prstGeom>
          <a:solidFill>
            <a:srgbClr val="12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30352" y="1417320"/>
            <a:ext cx="274320" cy="274320"/>
          </a:xfrm>
          <a:prstGeom prst="ellipse">
            <a:avLst/>
          </a:prstGeom>
          <a:solidFill>
            <a:srgbClr val="F4A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1426464"/>
            <a:ext cx="274320" cy="2560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2B49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344168"/>
            <a:ext cx="10634472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F8BC3B"/>
                </a:solidFill>
                <a:latin typeface="Calibri"/>
              </a:rPr>
              <a:t>QUALITY CHECKER 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validates every work item against the template — can run at any point in the flow.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595116" y="1810512"/>
            <a:ext cx="164592" cy="146304"/>
          </a:xfrm>
          <a:prstGeom prst="downArrow">
            <a:avLst/>
          </a:prstGeom>
          <a:solidFill>
            <a:srgbClr val="F4A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own Arrow 13"/>
          <p:cNvSpPr/>
          <p:nvPr/>
        </p:nvSpPr>
        <p:spPr>
          <a:xfrm>
            <a:off x="6926579" y="1810512"/>
            <a:ext cx="164592" cy="146304"/>
          </a:xfrm>
          <a:prstGeom prst="downArrow">
            <a:avLst/>
          </a:prstGeom>
          <a:solidFill>
            <a:srgbClr val="F4A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own Arrow 14"/>
          <p:cNvSpPr/>
          <p:nvPr/>
        </p:nvSpPr>
        <p:spPr>
          <a:xfrm>
            <a:off x="10258043" y="1810512"/>
            <a:ext cx="164592" cy="146304"/>
          </a:xfrm>
          <a:prstGeom prst="downArrow">
            <a:avLst/>
          </a:prstGeom>
          <a:solidFill>
            <a:srgbClr val="F4A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94560" y="2029968"/>
            <a:ext cx="2965703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30">
                <a:solidFill>
                  <a:srgbClr val="122B49"/>
                </a:solidFill>
                <a:latin typeface="Calibri"/>
              </a:rPr>
              <a:t>1 · CHECK DUPLICATION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26024" y="2029968"/>
            <a:ext cx="2965703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30">
                <a:solidFill>
                  <a:srgbClr val="122B49"/>
                </a:solidFill>
                <a:latin typeface="Calibri"/>
              </a:rPr>
              <a:t>2 · CONFLUENCE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7488" y="2029968"/>
            <a:ext cx="2965703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30">
                <a:solidFill>
                  <a:srgbClr val="122B49"/>
                </a:solidFill>
                <a:latin typeface="Calibri"/>
              </a:rPr>
              <a:t>3 · JIRA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340864"/>
            <a:ext cx="1700784" cy="749808"/>
          </a:xfrm>
          <a:prstGeom prst="roundRect">
            <a:avLst/>
          </a:prstGeom>
          <a:solidFill>
            <a:srgbClr val="F4A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2336" y="2340864"/>
            <a:ext cx="1645920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30">
                <a:solidFill>
                  <a:srgbClr val="122B49"/>
                </a:solidFill>
                <a:latin typeface="Calibri"/>
              </a:rPr>
              <a:t>EPIC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4560" y="2340864"/>
            <a:ext cx="2965703" cy="74980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194560" y="2340864"/>
            <a:ext cx="82296" cy="749808"/>
          </a:xfrm>
          <a:prstGeom prst="roundRect">
            <a:avLst/>
          </a:prstGeom>
          <a:solidFill>
            <a:srgbClr val="F4A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395727" y="2514600"/>
            <a:ext cx="402336" cy="402336"/>
          </a:xfrm>
          <a:prstGeom prst="ellipse">
            <a:avLst/>
          </a:prstGeom>
          <a:solidFill>
            <a:srgbClr val="F4A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96312" y="2606040"/>
            <a:ext cx="155448" cy="155448"/>
          </a:xfrm>
          <a:prstGeom prst="ellipse">
            <a:avLst/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 rot="2700000">
            <a:off x="2624327" y="2752344"/>
            <a:ext cx="109728" cy="411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89504" y="2432304"/>
            <a:ext cx="2142743" cy="56692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22B49"/>
                </a:solidFill>
                <a:latin typeface="Calibri"/>
              </a:rPr>
              <a:t>Check duplication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555F6B"/>
                </a:solidFill>
                <a:latin typeface="Calibri"/>
              </a:rPr>
              <a:t>Scan existing items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215127" y="2633472"/>
            <a:ext cx="256032" cy="164592"/>
          </a:xfrm>
          <a:prstGeom prst="rightArrow">
            <a:avLst/>
          </a:prstGeom>
          <a:solidFill>
            <a:srgbClr val="B2B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526024" y="2340864"/>
            <a:ext cx="2965703" cy="74980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526024" y="2340864"/>
            <a:ext cx="82296" cy="749808"/>
          </a:xfrm>
          <a:prstGeom prst="roundRect">
            <a:avLst/>
          </a:prstGeom>
          <a:solidFill>
            <a:srgbClr val="F4A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727192" y="2514600"/>
            <a:ext cx="402336" cy="402336"/>
          </a:xfrm>
          <a:prstGeom prst="ellipse">
            <a:avLst/>
          </a:prstGeom>
          <a:solidFill>
            <a:srgbClr val="F4A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836920" y="2596896"/>
            <a:ext cx="182880" cy="2377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873496" y="2651760"/>
            <a:ext cx="109728" cy="16459"/>
          </a:xfrm>
          <a:prstGeom prst="rect">
            <a:avLst/>
          </a:prstGeom>
          <a:solidFill>
            <a:srgbClr val="F4A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873496" y="2706624"/>
            <a:ext cx="109728" cy="16459"/>
          </a:xfrm>
          <a:prstGeom prst="rect">
            <a:avLst/>
          </a:prstGeom>
          <a:solidFill>
            <a:srgbClr val="F4A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873496" y="2761488"/>
            <a:ext cx="109728" cy="16459"/>
          </a:xfrm>
          <a:prstGeom prst="rect">
            <a:avLst/>
          </a:prstGeom>
          <a:solidFill>
            <a:srgbClr val="F4A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20967" y="2432304"/>
            <a:ext cx="2142743" cy="56692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22B49"/>
                </a:solidFill>
                <a:latin typeface="Calibri"/>
              </a:rPr>
              <a:t>Confluence page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555F6B"/>
                </a:solidFill>
                <a:latin typeface="Calibri"/>
              </a:rPr>
              <a:t>Create / update page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8546592" y="2633472"/>
            <a:ext cx="256032" cy="164592"/>
          </a:xfrm>
          <a:prstGeom prst="rightArrow">
            <a:avLst/>
          </a:prstGeom>
          <a:solidFill>
            <a:srgbClr val="B2B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857488" y="2340864"/>
            <a:ext cx="2965703" cy="74980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857488" y="2340864"/>
            <a:ext cx="82296" cy="749808"/>
          </a:xfrm>
          <a:prstGeom prst="roundRect">
            <a:avLst/>
          </a:prstGeom>
          <a:solidFill>
            <a:srgbClr val="F4A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058655" y="2514600"/>
            <a:ext cx="402336" cy="402336"/>
          </a:xfrm>
          <a:prstGeom prst="ellipse">
            <a:avLst/>
          </a:prstGeom>
          <a:solidFill>
            <a:srgbClr val="F4A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Diamond 39"/>
          <p:cNvSpPr/>
          <p:nvPr/>
        </p:nvSpPr>
        <p:spPr>
          <a:xfrm>
            <a:off x="9154667" y="2610612"/>
            <a:ext cx="210312" cy="210312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552431" y="2432304"/>
            <a:ext cx="2142743" cy="56692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22B49"/>
                </a:solidFill>
                <a:latin typeface="Calibri"/>
              </a:rPr>
              <a:t>Jira work item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555F6B"/>
                </a:solidFill>
                <a:latin typeface="Calibri"/>
              </a:rPr>
              <a:t>Create work item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1115568" y="3090672"/>
            <a:ext cx="164592" cy="128016"/>
          </a:xfrm>
          <a:prstGeom prst="downArrow">
            <a:avLst/>
          </a:prstGeom>
          <a:solidFill>
            <a:srgbClr val="B2B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365760" y="3218688"/>
            <a:ext cx="1700784" cy="749808"/>
          </a:xfrm>
          <a:prstGeom prst="roundRect">
            <a:avLst/>
          </a:prstGeom>
          <a:solidFill>
            <a:srgbClr val="6C8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02336" y="3218688"/>
            <a:ext cx="1645920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3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94560" y="3218688"/>
            <a:ext cx="2965703" cy="74980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2194560" y="3218688"/>
            <a:ext cx="82296" cy="749808"/>
          </a:xfrm>
          <a:prstGeom prst="roundRect">
            <a:avLst/>
          </a:prstGeom>
          <a:solidFill>
            <a:srgbClr val="6C8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2395727" y="3392424"/>
            <a:ext cx="402336" cy="402336"/>
          </a:xfrm>
          <a:prstGeom prst="ellipse">
            <a:avLst/>
          </a:prstGeom>
          <a:solidFill>
            <a:srgbClr val="6C8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2496312" y="3483864"/>
            <a:ext cx="155448" cy="155448"/>
          </a:xfrm>
          <a:prstGeom prst="ellipse">
            <a:avLst/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 rot="2700000">
            <a:off x="2624327" y="3630168"/>
            <a:ext cx="109728" cy="411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889504" y="3310128"/>
            <a:ext cx="2142743" cy="56692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22B49"/>
                </a:solidFill>
                <a:latin typeface="Calibri"/>
              </a:rPr>
              <a:t>Check duplication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555F6B"/>
                </a:solidFill>
                <a:latin typeface="Calibri"/>
              </a:rPr>
              <a:t>Scan existing items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5215127" y="3511296"/>
            <a:ext cx="256032" cy="164592"/>
          </a:xfrm>
          <a:prstGeom prst="rightArrow">
            <a:avLst/>
          </a:prstGeom>
          <a:solidFill>
            <a:srgbClr val="B2B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526024" y="3218688"/>
            <a:ext cx="2965703" cy="74980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526024" y="3218688"/>
            <a:ext cx="82296" cy="749808"/>
          </a:xfrm>
          <a:prstGeom prst="roundRect">
            <a:avLst/>
          </a:prstGeom>
          <a:solidFill>
            <a:srgbClr val="6C8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5727192" y="3392424"/>
            <a:ext cx="402336" cy="402336"/>
          </a:xfrm>
          <a:prstGeom prst="ellipse">
            <a:avLst/>
          </a:prstGeom>
          <a:solidFill>
            <a:srgbClr val="6C8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5836920" y="3474720"/>
            <a:ext cx="182880" cy="2377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873496" y="3529584"/>
            <a:ext cx="109728" cy="16459"/>
          </a:xfrm>
          <a:prstGeom prst="rect">
            <a:avLst/>
          </a:prstGeom>
          <a:solidFill>
            <a:srgbClr val="6C8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873496" y="3584448"/>
            <a:ext cx="109728" cy="16459"/>
          </a:xfrm>
          <a:prstGeom prst="rect">
            <a:avLst/>
          </a:prstGeom>
          <a:solidFill>
            <a:srgbClr val="6C8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5873496" y="3639312"/>
            <a:ext cx="109728" cy="16459"/>
          </a:xfrm>
          <a:prstGeom prst="rect">
            <a:avLst/>
          </a:prstGeom>
          <a:solidFill>
            <a:srgbClr val="6C8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20967" y="3310128"/>
            <a:ext cx="2142743" cy="56692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22B49"/>
                </a:solidFill>
                <a:latin typeface="Calibri"/>
              </a:rPr>
              <a:t>Confluence page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555F6B"/>
                </a:solidFill>
                <a:latin typeface="Calibri"/>
              </a:rPr>
              <a:t>Create / update page</a:t>
            </a:r>
          </a:p>
        </p:txBody>
      </p:sp>
      <p:sp>
        <p:nvSpPr>
          <p:cNvPr id="60" name="Right Arrow 59"/>
          <p:cNvSpPr/>
          <p:nvPr/>
        </p:nvSpPr>
        <p:spPr>
          <a:xfrm>
            <a:off x="8546592" y="3511296"/>
            <a:ext cx="256032" cy="164592"/>
          </a:xfrm>
          <a:prstGeom prst="rightArrow">
            <a:avLst/>
          </a:prstGeom>
          <a:solidFill>
            <a:srgbClr val="B2B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8857488" y="3218688"/>
            <a:ext cx="2965703" cy="74980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8857488" y="3218688"/>
            <a:ext cx="82296" cy="749808"/>
          </a:xfrm>
          <a:prstGeom prst="roundRect">
            <a:avLst/>
          </a:prstGeom>
          <a:solidFill>
            <a:srgbClr val="6C8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9058655" y="3392424"/>
            <a:ext cx="402336" cy="402336"/>
          </a:xfrm>
          <a:prstGeom prst="ellipse">
            <a:avLst/>
          </a:prstGeom>
          <a:solidFill>
            <a:srgbClr val="6C8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Diamond 63"/>
          <p:cNvSpPr/>
          <p:nvPr/>
        </p:nvSpPr>
        <p:spPr>
          <a:xfrm>
            <a:off x="9154667" y="3488436"/>
            <a:ext cx="210312" cy="210312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552431" y="3310128"/>
            <a:ext cx="2142743" cy="56692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22B49"/>
                </a:solidFill>
                <a:latin typeface="Calibri"/>
              </a:rPr>
              <a:t>Jira work item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555F6B"/>
                </a:solidFill>
                <a:latin typeface="Calibri"/>
              </a:rPr>
              <a:t>Create work item</a:t>
            </a:r>
          </a:p>
        </p:txBody>
      </p:sp>
      <p:sp>
        <p:nvSpPr>
          <p:cNvPr id="66" name="Down Arrow 65"/>
          <p:cNvSpPr/>
          <p:nvPr/>
        </p:nvSpPr>
        <p:spPr>
          <a:xfrm>
            <a:off x="1115568" y="3968496"/>
            <a:ext cx="164592" cy="128016"/>
          </a:xfrm>
          <a:prstGeom prst="downArrow">
            <a:avLst/>
          </a:prstGeom>
          <a:solidFill>
            <a:srgbClr val="B2B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365760" y="4096512"/>
            <a:ext cx="1700784" cy="749808"/>
          </a:xfrm>
          <a:prstGeom prst="roundRect">
            <a:avLst/>
          </a:prstGeom>
          <a:solidFill>
            <a:srgbClr val="12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02336" y="4096512"/>
            <a:ext cx="1645920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30">
                <a:solidFill>
                  <a:srgbClr val="FFFFFF"/>
                </a:solidFill>
                <a:latin typeface="Calibri"/>
              </a:rPr>
              <a:t>USER STORY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194560" y="4096512"/>
            <a:ext cx="2965703" cy="74980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2194560" y="4096512"/>
            <a:ext cx="82296" cy="749808"/>
          </a:xfrm>
          <a:prstGeom prst="roundRect">
            <a:avLst/>
          </a:prstGeom>
          <a:solidFill>
            <a:srgbClr val="12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2395727" y="4270248"/>
            <a:ext cx="402336" cy="402336"/>
          </a:xfrm>
          <a:prstGeom prst="ellipse">
            <a:avLst/>
          </a:prstGeom>
          <a:solidFill>
            <a:srgbClr val="12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2496312" y="4361688"/>
            <a:ext cx="155448" cy="155448"/>
          </a:xfrm>
          <a:prstGeom prst="ellipse">
            <a:avLst/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 rot="2700000">
            <a:off x="2624327" y="4507992"/>
            <a:ext cx="109728" cy="411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889504" y="4187952"/>
            <a:ext cx="2142743" cy="56692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22B49"/>
                </a:solidFill>
                <a:latin typeface="Calibri"/>
              </a:rPr>
              <a:t>Check duplication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555F6B"/>
                </a:solidFill>
                <a:latin typeface="Calibri"/>
              </a:rPr>
              <a:t>Scan existing items</a:t>
            </a:r>
          </a:p>
        </p:txBody>
      </p:sp>
      <p:sp>
        <p:nvSpPr>
          <p:cNvPr id="75" name="Right Arrow 74"/>
          <p:cNvSpPr/>
          <p:nvPr/>
        </p:nvSpPr>
        <p:spPr>
          <a:xfrm>
            <a:off x="5215127" y="4389120"/>
            <a:ext cx="256032" cy="164592"/>
          </a:xfrm>
          <a:prstGeom prst="rightArrow">
            <a:avLst/>
          </a:prstGeom>
          <a:solidFill>
            <a:srgbClr val="B2B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5526024" y="4096512"/>
            <a:ext cx="2965703" cy="74980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5526024" y="4096512"/>
            <a:ext cx="82296" cy="749808"/>
          </a:xfrm>
          <a:prstGeom prst="roundRect">
            <a:avLst/>
          </a:prstGeom>
          <a:solidFill>
            <a:srgbClr val="12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5727192" y="4270248"/>
            <a:ext cx="402336" cy="402336"/>
          </a:xfrm>
          <a:prstGeom prst="ellipse">
            <a:avLst/>
          </a:prstGeom>
          <a:solidFill>
            <a:srgbClr val="12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5836920" y="4352544"/>
            <a:ext cx="182880" cy="2377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5873496" y="4407408"/>
            <a:ext cx="109728" cy="16459"/>
          </a:xfrm>
          <a:prstGeom prst="rect">
            <a:avLst/>
          </a:prstGeom>
          <a:solidFill>
            <a:srgbClr val="12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5873496" y="4462272"/>
            <a:ext cx="109728" cy="16459"/>
          </a:xfrm>
          <a:prstGeom prst="rect">
            <a:avLst/>
          </a:prstGeom>
          <a:solidFill>
            <a:srgbClr val="12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5873496" y="4517136"/>
            <a:ext cx="109728" cy="16459"/>
          </a:xfrm>
          <a:prstGeom prst="rect">
            <a:avLst/>
          </a:prstGeom>
          <a:solidFill>
            <a:srgbClr val="12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220967" y="4187952"/>
            <a:ext cx="2142743" cy="56692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22B49"/>
                </a:solidFill>
                <a:latin typeface="Calibri"/>
              </a:rPr>
              <a:t>Confluence page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555F6B"/>
                </a:solidFill>
                <a:latin typeface="Calibri"/>
              </a:rPr>
              <a:t>Create / update page</a:t>
            </a:r>
          </a:p>
        </p:txBody>
      </p:sp>
      <p:sp>
        <p:nvSpPr>
          <p:cNvPr id="84" name="Right Arrow 83"/>
          <p:cNvSpPr/>
          <p:nvPr/>
        </p:nvSpPr>
        <p:spPr>
          <a:xfrm>
            <a:off x="8546592" y="4389120"/>
            <a:ext cx="256032" cy="164592"/>
          </a:xfrm>
          <a:prstGeom prst="rightArrow">
            <a:avLst/>
          </a:prstGeom>
          <a:solidFill>
            <a:srgbClr val="B2B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8857488" y="4096512"/>
            <a:ext cx="2965703" cy="74980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8857488" y="4096512"/>
            <a:ext cx="82296" cy="749808"/>
          </a:xfrm>
          <a:prstGeom prst="roundRect">
            <a:avLst/>
          </a:prstGeom>
          <a:solidFill>
            <a:srgbClr val="12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9058655" y="4270248"/>
            <a:ext cx="402336" cy="402336"/>
          </a:xfrm>
          <a:prstGeom prst="ellipse">
            <a:avLst/>
          </a:prstGeom>
          <a:solidFill>
            <a:srgbClr val="12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Diamond 87"/>
          <p:cNvSpPr/>
          <p:nvPr/>
        </p:nvSpPr>
        <p:spPr>
          <a:xfrm>
            <a:off x="9154667" y="4366260"/>
            <a:ext cx="210312" cy="210312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552431" y="4187952"/>
            <a:ext cx="2142743" cy="56692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22B49"/>
                </a:solidFill>
                <a:latin typeface="Calibri"/>
              </a:rPr>
              <a:t>Jira work item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555F6B"/>
                </a:solidFill>
                <a:latin typeface="Calibri"/>
              </a:rPr>
              <a:t>Create work item</a:t>
            </a:r>
          </a:p>
        </p:txBody>
      </p:sp>
      <p:sp>
        <p:nvSpPr>
          <p:cNvPr id="90" name="Down Arrow 89"/>
          <p:cNvSpPr/>
          <p:nvPr/>
        </p:nvSpPr>
        <p:spPr>
          <a:xfrm>
            <a:off x="1115568" y="4846320"/>
            <a:ext cx="164592" cy="128016"/>
          </a:xfrm>
          <a:prstGeom prst="downArrow">
            <a:avLst/>
          </a:prstGeom>
          <a:solidFill>
            <a:srgbClr val="B2B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365760" y="4974336"/>
            <a:ext cx="1700784" cy="749808"/>
          </a:xfrm>
          <a:prstGeom prst="round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02336" y="4974336"/>
            <a:ext cx="1645920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30">
                <a:solidFill>
                  <a:srgbClr val="FFFFFF"/>
                </a:solidFill>
                <a:latin typeface="Calibri"/>
              </a:rPr>
              <a:t>LATER USER STORY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194560" y="4974336"/>
            <a:ext cx="2965703" cy="74980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2194560" y="4974336"/>
            <a:ext cx="82296" cy="749808"/>
          </a:xfrm>
          <a:prstGeom prst="round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2395727" y="5148072"/>
            <a:ext cx="402336" cy="402336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2496312" y="5239512"/>
            <a:ext cx="155448" cy="155448"/>
          </a:xfrm>
          <a:prstGeom prst="ellipse">
            <a:avLst/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 rot="2700000">
            <a:off x="2624327" y="5385816"/>
            <a:ext cx="109728" cy="411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889504" y="5065775"/>
            <a:ext cx="2142743" cy="56692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22B49"/>
                </a:solidFill>
                <a:latin typeface="Calibri"/>
              </a:rPr>
              <a:t>Check duplication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555F6B"/>
                </a:solidFill>
                <a:latin typeface="Calibri"/>
              </a:rPr>
              <a:t>Scan existing items</a:t>
            </a:r>
          </a:p>
        </p:txBody>
      </p:sp>
      <p:sp>
        <p:nvSpPr>
          <p:cNvPr id="99" name="Right Arrow 98"/>
          <p:cNvSpPr/>
          <p:nvPr/>
        </p:nvSpPr>
        <p:spPr>
          <a:xfrm>
            <a:off x="5215127" y="5266944"/>
            <a:ext cx="256032" cy="164592"/>
          </a:xfrm>
          <a:prstGeom prst="rightArrow">
            <a:avLst/>
          </a:prstGeom>
          <a:solidFill>
            <a:srgbClr val="B2B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5526024" y="4974336"/>
            <a:ext cx="2965703" cy="74980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5526024" y="4974336"/>
            <a:ext cx="82296" cy="749808"/>
          </a:xfrm>
          <a:prstGeom prst="round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5727192" y="5148072"/>
            <a:ext cx="402336" cy="402336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5836920" y="5230368"/>
            <a:ext cx="182880" cy="2377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5873496" y="5285231"/>
            <a:ext cx="109728" cy="16459"/>
          </a:xfrm>
          <a:prstGeom prst="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5873496" y="5340096"/>
            <a:ext cx="109728" cy="16459"/>
          </a:xfrm>
          <a:prstGeom prst="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5873496" y="5394959"/>
            <a:ext cx="109728" cy="16459"/>
          </a:xfrm>
          <a:prstGeom prst="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220967" y="5065775"/>
            <a:ext cx="2142743" cy="56692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22B49"/>
                </a:solidFill>
                <a:latin typeface="Calibri"/>
              </a:rPr>
              <a:t>Confluence page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555F6B"/>
                </a:solidFill>
                <a:latin typeface="Calibri"/>
              </a:rPr>
              <a:t>Create / update page</a:t>
            </a:r>
          </a:p>
        </p:txBody>
      </p:sp>
      <p:sp>
        <p:nvSpPr>
          <p:cNvPr id="108" name="Right Arrow 107"/>
          <p:cNvSpPr/>
          <p:nvPr/>
        </p:nvSpPr>
        <p:spPr>
          <a:xfrm>
            <a:off x="8546592" y="5266944"/>
            <a:ext cx="256032" cy="164592"/>
          </a:xfrm>
          <a:prstGeom prst="rightArrow">
            <a:avLst/>
          </a:prstGeom>
          <a:solidFill>
            <a:srgbClr val="B2B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8857488" y="4974336"/>
            <a:ext cx="2965703" cy="74980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ounded Rectangle 109"/>
          <p:cNvSpPr/>
          <p:nvPr/>
        </p:nvSpPr>
        <p:spPr>
          <a:xfrm>
            <a:off x="8857488" y="4974336"/>
            <a:ext cx="82296" cy="749808"/>
          </a:xfrm>
          <a:prstGeom prst="round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9058655" y="5148072"/>
            <a:ext cx="402336" cy="402336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Diamond 111"/>
          <p:cNvSpPr/>
          <p:nvPr/>
        </p:nvSpPr>
        <p:spPr>
          <a:xfrm>
            <a:off x="9154667" y="5244083"/>
            <a:ext cx="210312" cy="210312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9552431" y="5065775"/>
            <a:ext cx="2142743" cy="56692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22B49"/>
                </a:solidFill>
                <a:latin typeface="Calibri"/>
              </a:rPr>
              <a:t>Jira work item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555F6B"/>
                </a:solidFill>
                <a:latin typeface="Calibri"/>
              </a:rPr>
              <a:t>Create work item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0" y="5870448"/>
            <a:ext cx="12191695" cy="987552"/>
          </a:xfrm>
          <a:prstGeom prst="rect">
            <a:avLst/>
          </a:prstGeom>
          <a:solidFill>
            <a:srgbClr val="0E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11480" y="5961888"/>
            <a:ext cx="8503920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F8BC3B"/>
                </a:solidFill>
                <a:latin typeface="Calibri"/>
              </a:rPr>
              <a:t>HOW IT FLOWS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Each level runs the same path — check for duplicates, capture in Confluence, then create in Jira — with the Quality Checker validating against the template at any point.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058400" y="6159417"/>
            <a:ext cx="2011680" cy="135293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dirty="0">
                <a:solidFill>
                  <a:srgbClr val="FFFFFF"/>
                </a:solidFill>
                <a:latin typeface="Calibri"/>
              </a:rPr>
              <a:t>Prepared by Business Analyst Services</a:t>
            </a:r>
          </a:p>
        </p:txBody>
      </p:sp>
      <p:pic>
        <p:nvPicPr>
          <p:cNvPr id="118" name="Picture 117">
            <a:extLst>
              <a:ext uri="{FF2B5EF4-FFF2-40B4-BE49-F238E27FC236}">
                <a16:creationId xmlns:a16="http://schemas.microsoft.com/office/drawing/2014/main" id="{8EC7A8A0-03EC-22D6-BE34-DCE2BA489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9498939" y="5980176"/>
            <a:ext cx="411174" cy="411174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5EF88A16-8044-7A37-BF04-EF0A213A5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16839" y="38366"/>
            <a:ext cx="806353" cy="8063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757</Words>
  <Application>Microsoft Office PowerPoint</Application>
  <PresentationFormat>Widescreen</PresentationFormat>
  <Paragraphs>148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Chale Dodge</dc:creator>
  <cp:lastModifiedBy>Chale Dodge</cp:lastModifiedBy>
  <cp:revision>1</cp:revision>
  <dcterms:created xsi:type="dcterms:W3CDTF">2026-10-16T07:43:58Z</dcterms:created>
  <dcterms:modified xsi:type="dcterms:W3CDTF">2026-10-16T07:47:47Z</dcterms:modified>
</cp:coreProperties>
</file>