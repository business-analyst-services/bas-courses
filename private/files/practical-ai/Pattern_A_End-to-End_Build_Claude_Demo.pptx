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3" r:id="rId3"/>
    <p:sldId id="257" r:id="rId4"/>
    <p:sldId id="264"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2021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0:00–0:45  Open here.</a:t>
            </a:r>
          </a:p>
          <a:p>
            <a:endParaRPr/>
          </a:p>
          <a:p>
            <a:r>
              <a:t>"Everything I'm about to show you was specified, built, tested and shipped by one business analyst working with Claude. No engineering team. The platform is live."</a:t>
            </a:r>
          </a:p>
          <a:p>
            <a:endParaRPr/>
          </a:p>
          <a:p>
            <a:r>
              <a:t>Do not explain the architecture yet. The QR is the flagship 12-week programme — point at it once, then move on. You will come back to it at the 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0:45–2:00  The frame.</a:t>
            </a:r>
          </a:p>
          <a:p>
            <a:endParaRPr/>
          </a:p>
          <a:p>
            <a:r>
              <a:t>Spend most of the time on the third card. A room full of mixed roles will accept the first two and quietly discount them as 'a clever person with a side project'. The answer to that is the vendor list.</a:t>
            </a:r>
          </a:p>
          <a:p>
            <a:endParaRPr/>
          </a:p>
          <a:p>
            <a:r>
              <a:t>The three 'watch for' items are the ones you will point back to during the walkthrough.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against staging @ baa4983 on 6 September 2026.
Every element on this slide is a native PowerPoint shape — edit text and move boxes directly. The SVG at docs/architecture/bas-architecture-slide.svg remains the reference rendering; if you change one, change the other.
Dashed means built and deliberately switched off: SMS has no credentials, the LLM provider is held pending a cross-border disclosure review, and payments are live in code but absent from the provider status page — so a payment failure has nowhere to surface.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4:00–6:00  The walkthrough spine.</a:t>
            </a:r>
          </a:p>
          <a:p>
            <a:endParaRPr/>
          </a:p>
          <a:p>
            <a:r>
              <a:t>Walk the top row left to right, naming the vendor each time. Then drop to the teal band and give one concrete example per hop from the live system.</a:t>
            </a:r>
          </a:p>
          <a:p>
            <a:endParaRPr/>
          </a:p>
          <a:p>
            <a:r>
              <a:t>The navy band is the line to land: there is no handoff between the hops. That is the whole reason it fits in ten minutes.</a:t>
            </a:r>
          </a:p>
          <a:p>
            <a:endParaRPr/>
          </a:p>
          <a:p>
            <a:r>
              <a:t>If time is short, skip the analyst band — but never skip 'the model never accepted its own work'.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6:00–8:00  The scaling argument — the reason a mixed room should care.</a:t>
            </a:r>
          </a:p>
          <a:p>
            <a:endParaRPr/>
          </a:p>
          <a:p>
            <a:r>
              <a:t>Read three rows only: identity, relational store, model provider. Those are the three an enterprise architect will test you on.</a:t>
            </a:r>
          </a:p>
          <a:p>
            <a:endParaRPr/>
          </a:p>
          <a:p>
            <a:r>
              <a:t>Then go to the amber box. The permission matrix, the audit-row transaction and the human accept gate are the parts that never swap — and all three are specified by a business analyst, not chosen by procurement.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8:00–9:00  The takeaway slide. If you are running over, this is the one to keep and slide 4 is the one to cut.</a:t>
            </a:r>
          </a:p>
          <a:p>
            <a:endParaRPr/>
          </a:p>
          <a:p>
            <a:r>
              <a:t>The line to say out loud: a model can write the code for any of these four. It cannot decide that they are required. That decision is analysis, and it is why the role gets bigger rather than smaller.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9:00–10:00  Close.</a:t>
            </a:r>
          </a:p>
          <a:p>
            <a:endParaRPr/>
          </a:p>
          <a:p>
            <a:r>
              <a:t>Do not re-summarise. Say what the room should do next, then stop talking and leave the QR on screen while questions run.</a:t>
            </a:r>
          </a:p>
          <a:p>
            <a:endParaRPr/>
          </a:p>
          <a:p>
            <a:r>
              <a:t>The flagship is one global intake, 12 Thursdays, $3,000. The regional one-day and two-day courses (BA Leadership, Agile BA, BA Playbooks, the three Horizons courses) run Sep–Nov across APAC, EMEA &amp; India and the Americas — mention them only if asked.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5018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5F"/>
          </a:solidFill>
          <a:ln>
            <a:noFill/>
          </a:ln>
          <a:effectLst/>
        </p:spPr>
        <p:txBody>
          <a:bodyPr rtlCol="0" anchor="ctr"/>
          <a:lstStyle/>
          <a:p>
            <a:endParaRPr/>
          </a:p>
        </p:txBody>
      </p:sp>
      <p:sp>
        <p:nvSpPr>
          <p:cNvPr id="3" name="Rectangle 2"/>
          <p:cNvSpPr/>
          <p:nvPr/>
        </p:nvSpPr>
        <p:spPr>
          <a:xfrm>
            <a:off x="0" y="0"/>
            <a:ext cx="164592" cy="6858000"/>
          </a:xfrm>
          <a:prstGeom prst="rect">
            <a:avLst/>
          </a:prstGeom>
          <a:solidFill>
            <a:srgbClr val="4FB8B8"/>
          </a:solidFill>
          <a:ln>
            <a:noFill/>
          </a:ln>
          <a:effectLst/>
        </p:spPr>
        <p:txBody>
          <a:bodyPr rtlCol="0" anchor="ctr"/>
          <a:lstStyle/>
          <a:p>
            <a:endParaRPr/>
          </a:p>
        </p:txBody>
      </p:sp>
      <p:sp>
        <p:nvSpPr>
          <p:cNvPr id="5" name="TextBox 4"/>
          <p:cNvSpPr txBox="1"/>
          <p:nvPr/>
        </p:nvSpPr>
        <p:spPr>
          <a:xfrm>
            <a:off x="822960" y="1298448"/>
            <a:ext cx="8595360" cy="201168"/>
          </a:xfrm>
          <a:prstGeom prst="rect">
            <a:avLst/>
          </a:prstGeom>
          <a:noFill/>
        </p:spPr>
        <p:txBody>
          <a:bodyPr wrap="square" lIns="0" tIns="0" rIns="0" bIns="0" anchor="t">
            <a:spAutoFit/>
          </a:bodyPr>
          <a:lstStyle/>
          <a:p>
            <a:pPr algn="l">
              <a:lnSpc>
                <a:spcPct val="115000"/>
              </a:lnSpc>
              <a:spcAft>
                <a:spcPts val="0"/>
              </a:spcAft>
            </a:pPr>
            <a:r>
              <a:rPr sz="850" b="1" spc="180">
                <a:solidFill>
                  <a:srgbClr val="4FB8B8"/>
                </a:solidFill>
                <a:latin typeface="Segoe UI"/>
              </a:rPr>
              <a:t>BUSINESS ANALYST SERVICES  ·  LIVE DEMONSTRATION  ·  10 MINUTES</a:t>
            </a:r>
          </a:p>
        </p:txBody>
      </p:sp>
      <p:sp>
        <p:nvSpPr>
          <p:cNvPr id="6" name="TextBox 5"/>
          <p:cNvSpPr txBox="1"/>
          <p:nvPr/>
        </p:nvSpPr>
        <p:spPr>
          <a:xfrm>
            <a:off x="822960" y="1609344"/>
            <a:ext cx="8778240" cy="1371600"/>
          </a:xfrm>
          <a:prstGeom prst="rect">
            <a:avLst/>
          </a:prstGeom>
          <a:noFill/>
        </p:spPr>
        <p:txBody>
          <a:bodyPr wrap="square" lIns="0" tIns="0" rIns="0" bIns="0" anchor="t">
            <a:spAutoFit/>
          </a:bodyPr>
          <a:lstStyle/>
          <a:p>
            <a:pPr algn="l">
              <a:lnSpc>
                <a:spcPct val="100000"/>
              </a:lnSpc>
              <a:spcAft>
                <a:spcPts val="0"/>
              </a:spcAft>
            </a:pPr>
            <a:r>
              <a:rPr lang="en-US" sz="4400" b="1" dirty="0">
                <a:solidFill>
                  <a:srgbClr val="FFFFFF"/>
                </a:solidFill>
                <a:latin typeface="Segoe UI"/>
              </a:rPr>
              <a:t>Enterprise Apps</a:t>
            </a:r>
            <a:r>
              <a:rPr sz="4400" b="1" dirty="0">
                <a:solidFill>
                  <a:srgbClr val="FFFFFF"/>
                </a:solidFill>
                <a:latin typeface="Segoe UI"/>
              </a:rPr>
              <a:t>,</a:t>
            </a:r>
          </a:p>
          <a:p>
            <a:pPr algn="l">
              <a:lnSpc>
                <a:spcPct val="100000"/>
              </a:lnSpc>
              <a:spcAft>
                <a:spcPts val="0"/>
              </a:spcAft>
            </a:pPr>
            <a:r>
              <a:rPr sz="4400" b="1" dirty="0">
                <a:solidFill>
                  <a:srgbClr val="FFFFFF"/>
                </a:solidFill>
                <a:latin typeface="Segoe UI"/>
              </a:rPr>
              <a:t>with Claude</a:t>
            </a:r>
          </a:p>
        </p:txBody>
      </p:sp>
      <p:sp>
        <p:nvSpPr>
          <p:cNvPr id="7" name="TextBox 6"/>
          <p:cNvSpPr txBox="1"/>
          <p:nvPr/>
        </p:nvSpPr>
        <p:spPr>
          <a:xfrm>
            <a:off x="822960" y="3182112"/>
            <a:ext cx="7955279" cy="822960"/>
          </a:xfrm>
          <a:prstGeom prst="rect">
            <a:avLst/>
          </a:prstGeom>
          <a:noFill/>
        </p:spPr>
        <p:txBody>
          <a:bodyPr wrap="square" lIns="0" tIns="0" rIns="0" bIns="0" anchor="t">
            <a:spAutoFit/>
          </a:bodyPr>
          <a:lstStyle/>
          <a:p>
            <a:pPr algn="l">
              <a:lnSpc>
                <a:spcPct val="142000"/>
              </a:lnSpc>
              <a:spcAft>
                <a:spcPts val="0"/>
              </a:spcAft>
            </a:pPr>
            <a:r>
              <a:rPr sz="1100" b="0">
                <a:solidFill>
                  <a:srgbClr val="AEBDCC"/>
                </a:solidFill>
                <a:latin typeface="Segoe UI"/>
              </a:rPr>
              <a:t>One analyst, one unbroken toolchain, and a working platform in production. Ten minutes on what was built — then the pattern that lets an enterprise do the same with the vendors it already owns.</a:t>
            </a:r>
          </a:p>
        </p:txBody>
      </p:sp>
      <p:sp>
        <p:nvSpPr>
          <p:cNvPr id="8" name="Rectangle 7"/>
          <p:cNvSpPr/>
          <p:nvPr/>
        </p:nvSpPr>
        <p:spPr>
          <a:xfrm>
            <a:off x="822960" y="4590288"/>
            <a:ext cx="2286000" cy="18288"/>
          </a:xfrm>
          <a:prstGeom prst="rect">
            <a:avLst/>
          </a:prstGeom>
          <a:solidFill>
            <a:srgbClr val="4FB8B8"/>
          </a:solidFill>
          <a:ln>
            <a:noFill/>
          </a:ln>
          <a:effectLst/>
        </p:spPr>
        <p:txBody>
          <a:bodyPr rtlCol="0" anchor="ctr"/>
          <a:lstStyle/>
          <a:p>
            <a:endParaRPr/>
          </a:p>
        </p:txBody>
      </p:sp>
      <p:sp>
        <p:nvSpPr>
          <p:cNvPr id="9" name="TextBox 8"/>
          <p:cNvSpPr txBox="1"/>
          <p:nvPr/>
        </p:nvSpPr>
        <p:spPr>
          <a:xfrm>
            <a:off x="822960" y="4718303"/>
            <a:ext cx="2286000" cy="237744"/>
          </a:xfrm>
          <a:prstGeom prst="rect">
            <a:avLst/>
          </a:prstGeom>
          <a:noFill/>
        </p:spPr>
        <p:txBody>
          <a:bodyPr wrap="square" lIns="0" tIns="0" rIns="0" bIns="0" anchor="t">
            <a:spAutoFit/>
          </a:bodyPr>
          <a:lstStyle/>
          <a:p>
            <a:pPr algn="l">
              <a:lnSpc>
                <a:spcPct val="115000"/>
              </a:lnSpc>
              <a:spcAft>
                <a:spcPts val="0"/>
              </a:spcAft>
            </a:pPr>
            <a:r>
              <a:rPr sz="1150" b="1">
                <a:solidFill>
                  <a:srgbClr val="FFFFFF"/>
                </a:solidFill>
                <a:latin typeface="Segoe UI"/>
              </a:rPr>
              <a:t>10 minutes</a:t>
            </a:r>
          </a:p>
        </p:txBody>
      </p:sp>
      <p:sp>
        <p:nvSpPr>
          <p:cNvPr id="10" name="TextBox 9"/>
          <p:cNvSpPr txBox="1"/>
          <p:nvPr/>
        </p:nvSpPr>
        <p:spPr>
          <a:xfrm>
            <a:off x="822960" y="4956048"/>
            <a:ext cx="2286000" cy="457200"/>
          </a:xfrm>
          <a:prstGeom prst="rect">
            <a:avLst/>
          </a:prstGeom>
          <a:noFill/>
        </p:spPr>
        <p:txBody>
          <a:bodyPr wrap="square" lIns="0" tIns="0" rIns="0" bIns="0" anchor="t">
            <a:spAutoFit/>
          </a:bodyPr>
          <a:lstStyle/>
          <a:p>
            <a:pPr algn="l">
              <a:lnSpc>
                <a:spcPct val="128000"/>
              </a:lnSpc>
              <a:spcAft>
                <a:spcPts val="0"/>
              </a:spcAft>
            </a:pPr>
            <a:r>
              <a:rPr sz="800" b="0">
                <a:solidFill>
                  <a:srgbClr val="8EA3B8"/>
                </a:solidFill>
                <a:latin typeface="Segoe UI"/>
              </a:rPr>
              <a:t>Live walkthrough, not a video</a:t>
            </a:r>
          </a:p>
        </p:txBody>
      </p:sp>
      <p:sp>
        <p:nvSpPr>
          <p:cNvPr id="11" name="Rectangle 10"/>
          <p:cNvSpPr/>
          <p:nvPr/>
        </p:nvSpPr>
        <p:spPr>
          <a:xfrm>
            <a:off x="3310128" y="4590288"/>
            <a:ext cx="2286000" cy="18288"/>
          </a:xfrm>
          <a:prstGeom prst="rect">
            <a:avLst/>
          </a:prstGeom>
          <a:solidFill>
            <a:srgbClr val="4FB8B8"/>
          </a:solidFill>
          <a:ln>
            <a:noFill/>
          </a:ln>
          <a:effectLst/>
        </p:spPr>
        <p:txBody>
          <a:bodyPr rtlCol="0" anchor="ctr"/>
          <a:lstStyle/>
          <a:p>
            <a:endParaRPr/>
          </a:p>
        </p:txBody>
      </p:sp>
      <p:sp>
        <p:nvSpPr>
          <p:cNvPr id="12" name="TextBox 11"/>
          <p:cNvSpPr txBox="1"/>
          <p:nvPr/>
        </p:nvSpPr>
        <p:spPr>
          <a:xfrm>
            <a:off x="3310128" y="4718303"/>
            <a:ext cx="2286000" cy="186077"/>
          </a:xfrm>
          <a:prstGeom prst="rect">
            <a:avLst/>
          </a:prstGeom>
          <a:noFill/>
        </p:spPr>
        <p:txBody>
          <a:bodyPr wrap="square" lIns="0" tIns="0" rIns="0" bIns="0" anchor="t">
            <a:spAutoFit/>
          </a:bodyPr>
          <a:lstStyle/>
          <a:p>
            <a:pPr algn="l">
              <a:lnSpc>
                <a:spcPct val="115000"/>
              </a:lnSpc>
              <a:spcAft>
                <a:spcPts val="0"/>
              </a:spcAft>
            </a:pPr>
            <a:r>
              <a:rPr sz="1150" b="1" dirty="0">
                <a:solidFill>
                  <a:srgbClr val="FFFFFF"/>
                </a:solidFill>
                <a:latin typeface="Segoe UI"/>
              </a:rPr>
              <a:t>One </a:t>
            </a:r>
            <a:r>
              <a:rPr lang="en-US" sz="1150" b="1" dirty="0">
                <a:solidFill>
                  <a:srgbClr val="FFFFFF"/>
                </a:solidFill>
                <a:latin typeface="Segoe UI"/>
              </a:rPr>
              <a:t>team</a:t>
            </a:r>
            <a:endParaRPr sz="1150" b="1" dirty="0">
              <a:solidFill>
                <a:srgbClr val="FFFFFF"/>
              </a:solidFill>
              <a:latin typeface="Segoe UI"/>
            </a:endParaRPr>
          </a:p>
        </p:txBody>
      </p:sp>
      <p:sp>
        <p:nvSpPr>
          <p:cNvPr id="13" name="TextBox 12"/>
          <p:cNvSpPr txBox="1"/>
          <p:nvPr/>
        </p:nvSpPr>
        <p:spPr>
          <a:xfrm>
            <a:off x="3310128" y="4956048"/>
            <a:ext cx="2286000" cy="457200"/>
          </a:xfrm>
          <a:prstGeom prst="rect">
            <a:avLst/>
          </a:prstGeom>
          <a:noFill/>
        </p:spPr>
        <p:txBody>
          <a:bodyPr wrap="square" lIns="0" tIns="0" rIns="0" bIns="0" anchor="t">
            <a:spAutoFit/>
          </a:bodyPr>
          <a:lstStyle/>
          <a:p>
            <a:pPr algn="l">
              <a:lnSpc>
                <a:spcPct val="128000"/>
              </a:lnSpc>
              <a:spcAft>
                <a:spcPts val="0"/>
              </a:spcAft>
            </a:pPr>
            <a:r>
              <a:rPr sz="800" b="0">
                <a:solidFill>
                  <a:srgbClr val="8EA3B8"/>
                </a:solidFill>
                <a:latin typeface="Segoe UI"/>
              </a:rPr>
              <a:t>No engineering team behind it</a:t>
            </a:r>
          </a:p>
        </p:txBody>
      </p:sp>
      <p:sp>
        <p:nvSpPr>
          <p:cNvPr id="14" name="Rectangle 13"/>
          <p:cNvSpPr/>
          <p:nvPr/>
        </p:nvSpPr>
        <p:spPr>
          <a:xfrm>
            <a:off x="5797296" y="4590288"/>
            <a:ext cx="2286000" cy="18288"/>
          </a:xfrm>
          <a:prstGeom prst="rect">
            <a:avLst/>
          </a:prstGeom>
          <a:solidFill>
            <a:srgbClr val="4FB8B8"/>
          </a:solidFill>
          <a:ln>
            <a:noFill/>
          </a:ln>
          <a:effectLst/>
        </p:spPr>
        <p:txBody>
          <a:bodyPr rtlCol="0" anchor="ctr"/>
          <a:lstStyle/>
          <a:p>
            <a:endParaRPr/>
          </a:p>
        </p:txBody>
      </p:sp>
      <p:sp>
        <p:nvSpPr>
          <p:cNvPr id="15" name="TextBox 14"/>
          <p:cNvSpPr txBox="1"/>
          <p:nvPr/>
        </p:nvSpPr>
        <p:spPr>
          <a:xfrm>
            <a:off x="5797296" y="4718303"/>
            <a:ext cx="2286000" cy="237744"/>
          </a:xfrm>
          <a:prstGeom prst="rect">
            <a:avLst/>
          </a:prstGeom>
          <a:noFill/>
        </p:spPr>
        <p:txBody>
          <a:bodyPr wrap="square" lIns="0" tIns="0" rIns="0" bIns="0" anchor="t">
            <a:spAutoFit/>
          </a:bodyPr>
          <a:lstStyle/>
          <a:p>
            <a:pPr algn="l">
              <a:lnSpc>
                <a:spcPct val="115000"/>
              </a:lnSpc>
              <a:spcAft>
                <a:spcPts val="0"/>
              </a:spcAft>
            </a:pPr>
            <a:r>
              <a:rPr sz="1150" b="1">
                <a:solidFill>
                  <a:srgbClr val="FFFFFF"/>
                </a:solidFill>
                <a:latin typeface="Segoe UI"/>
              </a:rPr>
              <a:t>Six vendors</a:t>
            </a:r>
          </a:p>
        </p:txBody>
      </p:sp>
      <p:sp>
        <p:nvSpPr>
          <p:cNvPr id="16" name="TextBox 15"/>
          <p:cNvSpPr txBox="1"/>
          <p:nvPr/>
        </p:nvSpPr>
        <p:spPr>
          <a:xfrm>
            <a:off x="5797296" y="4956048"/>
            <a:ext cx="2286000" cy="457200"/>
          </a:xfrm>
          <a:prstGeom prst="rect">
            <a:avLst/>
          </a:prstGeom>
          <a:noFill/>
        </p:spPr>
        <p:txBody>
          <a:bodyPr wrap="square" lIns="0" tIns="0" rIns="0" bIns="0" anchor="t">
            <a:spAutoFit/>
          </a:bodyPr>
          <a:lstStyle/>
          <a:p>
            <a:pPr algn="l">
              <a:lnSpc>
                <a:spcPct val="128000"/>
              </a:lnSpc>
              <a:spcAft>
                <a:spcPts val="0"/>
              </a:spcAft>
            </a:pPr>
            <a:r>
              <a:rPr sz="800" b="0">
                <a:solidFill>
                  <a:srgbClr val="8EA3B8"/>
                </a:solidFill>
                <a:latin typeface="Segoe UI"/>
              </a:rPr>
              <a:t>Miro · Jira · GitHub · Vercel · Neon · Clerk</a:t>
            </a:r>
          </a:p>
        </p:txBody>
      </p:sp>
      <p:sp>
        <p:nvSpPr>
          <p:cNvPr id="17" name="Rectangle 16"/>
          <p:cNvSpPr/>
          <p:nvPr/>
        </p:nvSpPr>
        <p:spPr>
          <a:xfrm>
            <a:off x="8284464" y="4590288"/>
            <a:ext cx="2286000" cy="18288"/>
          </a:xfrm>
          <a:prstGeom prst="rect">
            <a:avLst/>
          </a:prstGeom>
          <a:solidFill>
            <a:srgbClr val="4FB8B8"/>
          </a:solidFill>
          <a:ln>
            <a:noFill/>
          </a:ln>
          <a:effectLst/>
        </p:spPr>
        <p:txBody>
          <a:bodyPr rtlCol="0" anchor="ctr"/>
          <a:lstStyle/>
          <a:p>
            <a:endParaRPr/>
          </a:p>
        </p:txBody>
      </p:sp>
      <p:sp>
        <p:nvSpPr>
          <p:cNvPr id="18" name="TextBox 17"/>
          <p:cNvSpPr txBox="1"/>
          <p:nvPr/>
        </p:nvSpPr>
        <p:spPr>
          <a:xfrm>
            <a:off x="8284464" y="4718303"/>
            <a:ext cx="2286000" cy="186077"/>
          </a:xfrm>
          <a:prstGeom prst="rect">
            <a:avLst/>
          </a:prstGeom>
          <a:noFill/>
        </p:spPr>
        <p:txBody>
          <a:bodyPr wrap="square" lIns="0" tIns="0" rIns="0" bIns="0" anchor="t">
            <a:spAutoFit/>
          </a:bodyPr>
          <a:lstStyle/>
          <a:p>
            <a:pPr algn="l">
              <a:lnSpc>
                <a:spcPct val="115000"/>
              </a:lnSpc>
              <a:spcAft>
                <a:spcPts val="0"/>
              </a:spcAft>
            </a:pPr>
            <a:r>
              <a:rPr lang="en-US" sz="1150" b="1" dirty="0">
                <a:solidFill>
                  <a:srgbClr val="FFFFFF"/>
                </a:solidFill>
                <a:latin typeface="Segoe UI"/>
              </a:rPr>
              <a:t>300</a:t>
            </a:r>
            <a:r>
              <a:rPr sz="1150" b="1" dirty="0">
                <a:solidFill>
                  <a:srgbClr val="FFFFFF"/>
                </a:solidFill>
                <a:latin typeface="Segoe UI"/>
              </a:rPr>
              <a:t> </a:t>
            </a:r>
            <a:r>
              <a:rPr lang="en-US" sz="1150" b="1" dirty="0">
                <a:solidFill>
                  <a:srgbClr val="FFFFFF"/>
                </a:solidFill>
                <a:latin typeface="Segoe UI"/>
              </a:rPr>
              <a:t>requirements</a:t>
            </a:r>
            <a:endParaRPr sz="1150" b="1" dirty="0">
              <a:solidFill>
                <a:srgbClr val="FFFFFF"/>
              </a:solidFill>
              <a:latin typeface="Segoe UI"/>
            </a:endParaRPr>
          </a:p>
        </p:txBody>
      </p:sp>
      <p:sp>
        <p:nvSpPr>
          <p:cNvPr id="19" name="TextBox 18"/>
          <p:cNvSpPr txBox="1"/>
          <p:nvPr/>
        </p:nvSpPr>
        <p:spPr>
          <a:xfrm>
            <a:off x="8284464" y="4956048"/>
            <a:ext cx="2286000" cy="457200"/>
          </a:xfrm>
          <a:prstGeom prst="rect">
            <a:avLst/>
          </a:prstGeom>
          <a:noFill/>
        </p:spPr>
        <p:txBody>
          <a:bodyPr wrap="square" lIns="0" tIns="0" rIns="0" bIns="0" anchor="t">
            <a:spAutoFit/>
          </a:bodyPr>
          <a:lstStyle/>
          <a:p>
            <a:pPr algn="l">
              <a:lnSpc>
                <a:spcPct val="128000"/>
              </a:lnSpc>
              <a:spcAft>
                <a:spcPts val="0"/>
              </a:spcAft>
            </a:pPr>
            <a:r>
              <a:rPr sz="800" b="0" dirty="0">
                <a:solidFill>
                  <a:srgbClr val="8EA3B8"/>
                </a:solidFill>
                <a:latin typeface="Segoe UI"/>
              </a:rPr>
              <a:t>Green before anything is promoted</a:t>
            </a:r>
          </a:p>
        </p:txBody>
      </p:sp>
      <p:sp>
        <p:nvSpPr>
          <p:cNvPr id="20" name="Rounded Rectangle 19"/>
          <p:cNvSpPr/>
          <p:nvPr/>
        </p:nvSpPr>
        <p:spPr>
          <a:xfrm>
            <a:off x="9689439" y="2761487"/>
            <a:ext cx="1591056" cy="1591056"/>
          </a:xfrm>
          <a:prstGeom prst="roundRect">
            <a:avLst>
              <a:gd name="adj" fmla="val 5500"/>
            </a:avLst>
          </a:prstGeom>
          <a:solidFill>
            <a:srgbClr val="FFFFFF"/>
          </a:solidFill>
          <a:ln>
            <a:noFill/>
          </a:ln>
          <a:effectLst/>
        </p:spPr>
        <p:txBody>
          <a:bodyPr rtlCol="0" anchor="ctr"/>
          <a:lstStyle/>
          <a:p>
            <a:endParaRPr/>
          </a:p>
        </p:txBody>
      </p:sp>
      <p:pic>
        <p:nvPicPr>
          <p:cNvPr id="21" name="Picture 20" descr="qr_flagship.png"/>
          <p:cNvPicPr>
            <a:picLocks noChangeAspect="1"/>
          </p:cNvPicPr>
          <p:nvPr/>
        </p:nvPicPr>
        <p:blipFill>
          <a:blip r:embed="rId3"/>
          <a:stretch>
            <a:fillRect/>
          </a:stretch>
        </p:blipFill>
        <p:spPr>
          <a:xfrm>
            <a:off x="9835743" y="2907791"/>
            <a:ext cx="1298448" cy="1298448"/>
          </a:xfrm>
          <a:prstGeom prst="rect">
            <a:avLst/>
          </a:prstGeom>
        </p:spPr>
      </p:pic>
      <p:sp>
        <p:nvSpPr>
          <p:cNvPr id="22" name="TextBox 21"/>
          <p:cNvSpPr txBox="1"/>
          <p:nvPr/>
        </p:nvSpPr>
        <p:spPr>
          <a:xfrm>
            <a:off x="9009583" y="2194560"/>
            <a:ext cx="2505456" cy="402336"/>
          </a:xfrm>
          <a:prstGeom prst="rect">
            <a:avLst/>
          </a:prstGeom>
          <a:noFill/>
        </p:spPr>
        <p:txBody>
          <a:bodyPr wrap="square" lIns="0" tIns="0" rIns="0" bIns="0" anchor="t">
            <a:spAutoFit/>
          </a:bodyPr>
          <a:lstStyle/>
          <a:p>
            <a:pPr algn="ctr">
              <a:lnSpc>
                <a:spcPct val="130000"/>
              </a:lnSpc>
              <a:spcAft>
                <a:spcPts val="0"/>
              </a:spcAft>
            </a:pPr>
            <a:r>
              <a:rPr sz="800" b="1">
                <a:solidFill>
                  <a:srgbClr val="4FB8B8"/>
                </a:solidFill>
                <a:latin typeface="Segoe UI"/>
              </a:rPr>
              <a:t>Scan for the flagship</a:t>
            </a:r>
          </a:p>
          <a:p>
            <a:pPr algn="ctr">
              <a:lnSpc>
                <a:spcPct val="130000"/>
              </a:lnSpc>
              <a:spcAft>
                <a:spcPts val="0"/>
              </a:spcAft>
            </a:pPr>
            <a:r>
              <a:rPr sz="800" b="1">
                <a:solidFill>
                  <a:srgbClr val="4FB8B8"/>
                </a:solidFill>
                <a:latin typeface="Segoe UI"/>
              </a:rPr>
              <a:t>programme</a:t>
            </a:r>
          </a:p>
        </p:txBody>
      </p:sp>
      <p:sp>
        <p:nvSpPr>
          <p:cNvPr id="23" name="TextBox 22"/>
          <p:cNvSpPr txBox="1"/>
          <p:nvPr/>
        </p:nvSpPr>
        <p:spPr>
          <a:xfrm>
            <a:off x="822960" y="6144768"/>
            <a:ext cx="5029200" cy="201168"/>
          </a:xfrm>
          <a:prstGeom prst="rect">
            <a:avLst/>
          </a:prstGeom>
          <a:noFill/>
        </p:spPr>
        <p:txBody>
          <a:bodyPr wrap="square" lIns="0" tIns="0" rIns="0" bIns="0" anchor="t">
            <a:spAutoFit/>
          </a:bodyPr>
          <a:lstStyle/>
          <a:p>
            <a:pPr algn="l">
              <a:lnSpc>
                <a:spcPct val="115000"/>
              </a:lnSpc>
              <a:spcAft>
                <a:spcPts val="0"/>
              </a:spcAft>
            </a:pPr>
            <a:r>
              <a:rPr sz="850" b="1" spc="100">
                <a:solidFill>
                  <a:srgbClr val="4FB8B8"/>
                </a:solidFill>
                <a:latin typeface="Segoe UI"/>
              </a:rPr>
              <a:t>business-analyst.services</a:t>
            </a:r>
          </a:p>
        </p:txBody>
      </p:sp>
      <p:sp>
        <p:nvSpPr>
          <p:cNvPr id="24" name="TextBox 23"/>
          <p:cNvSpPr txBox="1"/>
          <p:nvPr/>
        </p:nvSpPr>
        <p:spPr>
          <a:xfrm>
            <a:off x="6796735" y="6144768"/>
            <a:ext cx="4572000" cy="201168"/>
          </a:xfrm>
          <a:prstGeom prst="rect">
            <a:avLst/>
          </a:prstGeom>
          <a:noFill/>
        </p:spPr>
        <p:txBody>
          <a:bodyPr wrap="square" lIns="0" tIns="0" rIns="0" bIns="0" anchor="t">
            <a:spAutoFit/>
          </a:bodyPr>
          <a:lstStyle/>
          <a:p>
            <a:pPr algn="r">
              <a:lnSpc>
                <a:spcPct val="115000"/>
              </a:lnSpc>
              <a:spcAft>
                <a:spcPts val="0"/>
              </a:spcAft>
            </a:pPr>
            <a:r>
              <a:rPr sz="850" b="0">
                <a:solidFill>
                  <a:srgbClr val="8EA3B8"/>
                </a:solidFill>
                <a:latin typeface="Segoe UI"/>
              </a:rPr>
              <a:t>Presented by Business Analyst Services</a:t>
            </a:r>
          </a:p>
        </p:txBody>
      </p:sp>
      <p:pic>
        <p:nvPicPr>
          <p:cNvPr id="26" name="Picture 25">
            <a:extLst>
              <a:ext uri="{FF2B5EF4-FFF2-40B4-BE49-F238E27FC236}">
                <a16:creationId xmlns:a16="http://schemas.microsoft.com/office/drawing/2014/main" id="{51F3DF4A-F1E5-3573-87DF-0674DCCD6839}"/>
              </a:ext>
            </a:extLst>
          </p:cNvPr>
          <p:cNvPicPr>
            <a:picLocks noChangeAspect="1"/>
          </p:cNvPicPr>
          <p:nvPr/>
        </p:nvPicPr>
        <p:blipFill>
          <a:blip r:embed="rId4"/>
          <a:srcRect/>
          <a:stretch>
            <a:fillRect/>
          </a:stretch>
        </p:blipFill>
        <p:spPr>
          <a:xfrm>
            <a:off x="10322918" y="512506"/>
            <a:ext cx="1407734" cy="14077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114D3EF1-D4DF-6306-49C4-AFED57CC1482}"/>
              </a:ext>
            </a:extLst>
          </p:cNvPr>
          <p:cNvPicPr>
            <a:picLocks noChangeAspect="1"/>
          </p:cNvPicPr>
          <p:nvPr/>
        </p:nvPicPr>
        <p:blipFill>
          <a:blip r:embed="rId2"/>
          <a:stretch>
            <a:fillRect/>
          </a:stretch>
        </p:blipFill>
        <p:spPr>
          <a:xfrm>
            <a:off x="9938427" y="1863281"/>
            <a:ext cx="1674453" cy="2672000"/>
          </a:xfrm>
          <a:prstGeom prst="rect">
            <a:avLst/>
          </a:prstGeom>
          <a:effectLst>
            <a:outerShdw blurRad="50800" dist="38100" dir="2700000" algn="tl" rotWithShape="0">
              <a:prstClr val="black">
                <a:alpha val="40000"/>
              </a:prstClr>
            </a:outerShdw>
          </a:effectLst>
        </p:spPr>
      </p:pic>
      <p:sp>
        <p:nvSpPr>
          <p:cNvPr id="2" name="Rectangle 1"/>
          <p:cNvSpPr/>
          <p:nvPr/>
        </p:nvSpPr>
        <p:spPr>
          <a:xfrm>
            <a:off x="0" y="0"/>
            <a:ext cx="164592" cy="6858000"/>
          </a:xfrm>
          <a:prstGeom prst="rect">
            <a:avLst/>
          </a:prstGeom>
          <a:solidFill>
            <a:srgbClr val="3FB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66928"/>
            <a:ext cx="10058400" cy="153888"/>
          </a:xfrm>
          <a:prstGeom prst="rect">
            <a:avLst/>
          </a:prstGeom>
          <a:noFill/>
        </p:spPr>
        <p:txBody>
          <a:bodyPr wrap="square" lIns="0" tIns="0" rIns="0" bIns="0" anchor="t">
            <a:spAutoFit/>
          </a:bodyPr>
          <a:lstStyle/>
          <a:p>
            <a:pPr algn="l"/>
            <a:r>
              <a:rPr lang="en-US" sz="1000" b="1" i="0" spc="300" dirty="0">
                <a:solidFill>
                  <a:srgbClr val="8895A2"/>
                </a:solidFill>
                <a:latin typeface="Calibri"/>
              </a:rPr>
              <a:t>PRESENTER</a:t>
            </a:r>
            <a:r>
              <a:rPr sz="1000" b="1" i="0" spc="300" dirty="0">
                <a:solidFill>
                  <a:srgbClr val="8895A2"/>
                </a:solidFill>
                <a:latin typeface="Calibri"/>
              </a:rPr>
              <a:t> PROFILE</a:t>
            </a:r>
          </a:p>
        </p:txBody>
      </p:sp>
      <p:sp>
        <p:nvSpPr>
          <p:cNvPr id="4" name="TextBox 3"/>
          <p:cNvSpPr txBox="1"/>
          <p:nvPr/>
        </p:nvSpPr>
        <p:spPr>
          <a:xfrm>
            <a:off x="548640" y="914400"/>
            <a:ext cx="11064240" cy="868680"/>
          </a:xfrm>
          <a:prstGeom prst="rect">
            <a:avLst/>
          </a:prstGeom>
          <a:noFill/>
        </p:spPr>
        <p:txBody>
          <a:bodyPr wrap="square" lIns="0" tIns="0" rIns="0" bIns="0" anchor="t">
            <a:spAutoFit/>
          </a:bodyPr>
          <a:lstStyle/>
          <a:p>
            <a:pPr algn="l">
              <a:lnSpc>
                <a:spcPct val="100000"/>
              </a:lnSpc>
            </a:pPr>
            <a:r>
              <a:rPr sz="3200" b="1" i="0">
                <a:solidFill>
                  <a:srgbClr val="1B3A5C"/>
                </a:solidFill>
                <a:latin typeface="Georgia"/>
              </a:rPr>
              <a:t>Chale Dodge</a:t>
            </a:r>
          </a:p>
        </p:txBody>
      </p:sp>
      <p:sp>
        <p:nvSpPr>
          <p:cNvPr id="5" name="TextBox 4"/>
          <p:cNvSpPr txBox="1"/>
          <p:nvPr/>
        </p:nvSpPr>
        <p:spPr>
          <a:xfrm>
            <a:off x="548640" y="1691640"/>
            <a:ext cx="11064240" cy="457200"/>
          </a:xfrm>
          <a:prstGeom prst="rect">
            <a:avLst/>
          </a:prstGeom>
          <a:noFill/>
        </p:spPr>
        <p:txBody>
          <a:bodyPr wrap="square" lIns="0" tIns="0" rIns="0" bIns="0" anchor="t">
            <a:spAutoFit/>
          </a:bodyPr>
          <a:lstStyle/>
          <a:p>
            <a:pPr algn="l">
              <a:lnSpc>
                <a:spcPct val="105000"/>
              </a:lnSpc>
            </a:pPr>
            <a:r>
              <a:rPr sz="1300" b="0" i="1">
                <a:solidFill>
                  <a:srgbClr val="4A5662"/>
                </a:solidFill>
                <a:latin typeface="Calibri"/>
              </a:rPr>
              <a:t>Practice Lead  ·  Business Analyst Services</a:t>
            </a:r>
          </a:p>
        </p:txBody>
      </p:sp>
      <p:sp>
        <p:nvSpPr>
          <p:cNvPr id="8" name="TextBox 7"/>
          <p:cNvSpPr txBox="1"/>
          <p:nvPr/>
        </p:nvSpPr>
        <p:spPr>
          <a:xfrm>
            <a:off x="548640" y="4800600"/>
            <a:ext cx="3017520" cy="169277"/>
          </a:xfrm>
          <a:prstGeom prst="rect">
            <a:avLst/>
          </a:prstGeom>
          <a:noFill/>
        </p:spPr>
        <p:txBody>
          <a:bodyPr wrap="square" lIns="0" tIns="0" rIns="0" bIns="0" anchor="t">
            <a:spAutoFit/>
          </a:bodyPr>
          <a:lstStyle/>
          <a:p>
            <a:pPr algn="ctr"/>
            <a:r>
              <a:rPr lang="en-US" sz="1100" b="1" dirty="0" err="1">
                <a:latin typeface="Calibri"/>
              </a:rPr>
              <a:t>chaled</a:t>
            </a:r>
            <a:r>
              <a:rPr sz="1100" b="1" dirty="0" err="1">
                <a:latin typeface="Calibri"/>
              </a:rPr>
              <a:t>@business-analyst.services</a:t>
            </a:r>
            <a:endParaRPr sz="1100" b="1" dirty="0">
              <a:latin typeface="Calibri"/>
            </a:endParaRPr>
          </a:p>
        </p:txBody>
      </p:sp>
      <p:sp>
        <p:nvSpPr>
          <p:cNvPr id="9" name="TextBox 8"/>
          <p:cNvSpPr txBox="1"/>
          <p:nvPr/>
        </p:nvSpPr>
        <p:spPr>
          <a:xfrm>
            <a:off x="548640" y="5074920"/>
            <a:ext cx="3017520" cy="274320"/>
          </a:xfrm>
          <a:prstGeom prst="rect">
            <a:avLst/>
          </a:prstGeom>
          <a:noFill/>
        </p:spPr>
        <p:txBody>
          <a:bodyPr wrap="square" lIns="0" tIns="0" rIns="0" bIns="0" anchor="t">
            <a:spAutoFit/>
          </a:bodyPr>
          <a:lstStyle/>
          <a:p>
            <a:pPr algn="ctr"/>
            <a:r>
              <a:rPr sz="1100" b="0" i="0">
                <a:solidFill>
                  <a:srgbClr val="4A5662"/>
                </a:solidFill>
                <a:latin typeface="Calibri"/>
              </a:rPr>
              <a:t>0451 878 883</a:t>
            </a:r>
          </a:p>
        </p:txBody>
      </p:sp>
      <p:sp>
        <p:nvSpPr>
          <p:cNvPr id="10" name="Rectangle 9"/>
          <p:cNvSpPr/>
          <p:nvPr/>
        </p:nvSpPr>
        <p:spPr>
          <a:xfrm>
            <a:off x="680313" y="5486400"/>
            <a:ext cx="592531" cy="310896"/>
          </a:xfrm>
          <a:prstGeom prst="rect">
            <a:avLst/>
          </a:prstGeom>
          <a:solidFill>
            <a:srgbClr val="E8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0313" y="5486400"/>
            <a:ext cx="592531" cy="310896"/>
          </a:xfrm>
          <a:prstGeom prst="rect">
            <a:avLst/>
          </a:prstGeom>
          <a:noFill/>
        </p:spPr>
        <p:txBody>
          <a:bodyPr wrap="square" lIns="0" tIns="0" rIns="0" bIns="0" anchor="ctr">
            <a:spAutoFit/>
          </a:bodyPr>
          <a:lstStyle/>
          <a:p>
            <a:pPr algn="ctr"/>
            <a:r>
              <a:rPr sz="950" b="1" i="0">
                <a:solidFill>
                  <a:srgbClr val="2A8E87"/>
                </a:solidFill>
                <a:latin typeface="Calibri"/>
              </a:rPr>
              <a:t>CBAP</a:t>
            </a:r>
          </a:p>
        </p:txBody>
      </p:sp>
      <p:sp>
        <p:nvSpPr>
          <p:cNvPr id="12" name="Rectangle 11"/>
          <p:cNvSpPr/>
          <p:nvPr/>
        </p:nvSpPr>
        <p:spPr>
          <a:xfrm>
            <a:off x="1382572" y="5486400"/>
            <a:ext cx="1181404" cy="310896"/>
          </a:xfrm>
          <a:prstGeom prst="rect">
            <a:avLst/>
          </a:prstGeom>
          <a:solidFill>
            <a:srgbClr val="E8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82572" y="5486400"/>
            <a:ext cx="1181404" cy="310896"/>
          </a:xfrm>
          <a:prstGeom prst="rect">
            <a:avLst/>
          </a:prstGeom>
          <a:noFill/>
        </p:spPr>
        <p:txBody>
          <a:bodyPr wrap="square" lIns="0" tIns="0" rIns="0" bIns="0" anchor="ctr">
            <a:spAutoFit/>
          </a:bodyPr>
          <a:lstStyle/>
          <a:p>
            <a:pPr algn="ctr"/>
            <a:r>
              <a:rPr sz="950" b="1" i="0">
                <a:solidFill>
                  <a:srgbClr val="2A8E87"/>
                </a:solidFill>
                <a:latin typeface="Calibri"/>
              </a:rPr>
              <a:t>IIBA Member</a:t>
            </a:r>
          </a:p>
        </p:txBody>
      </p:sp>
      <p:sp>
        <p:nvSpPr>
          <p:cNvPr id="14" name="Rectangle 13"/>
          <p:cNvSpPr/>
          <p:nvPr/>
        </p:nvSpPr>
        <p:spPr>
          <a:xfrm>
            <a:off x="2673705" y="5486400"/>
            <a:ext cx="760780" cy="310896"/>
          </a:xfrm>
          <a:prstGeom prst="rect">
            <a:avLst/>
          </a:prstGeom>
          <a:solidFill>
            <a:srgbClr val="E8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73705" y="5486400"/>
            <a:ext cx="760780" cy="310896"/>
          </a:xfrm>
          <a:prstGeom prst="rect">
            <a:avLst/>
          </a:prstGeom>
          <a:noFill/>
        </p:spPr>
        <p:txBody>
          <a:bodyPr wrap="square" lIns="0" tIns="0" rIns="0" bIns="0" anchor="ctr">
            <a:spAutoFit/>
          </a:bodyPr>
          <a:lstStyle/>
          <a:p>
            <a:pPr algn="ctr"/>
            <a:r>
              <a:rPr sz="950" b="1" i="0">
                <a:solidFill>
                  <a:srgbClr val="2A8E87"/>
                </a:solidFill>
                <a:latin typeface="Calibri"/>
              </a:rPr>
              <a:t>PROSCI</a:t>
            </a:r>
          </a:p>
        </p:txBody>
      </p:sp>
      <p:sp>
        <p:nvSpPr>
          <p:cNvPr id="16" name="Rectangle 15"/>
          <p:cNvSpPr/>
          <p:nvPr/>
        </p:nvSpPr>
        <p:spPr>
          <a:xfrm>
            <a:off x="821131" y="5907024"/>
            <a:ext cx="844905" cy="310896"/>
          </a:xfrm>
          <a:prstGeom prst="rect">
            <a:avLst/>
          </a:prstGeom>
          <a:solidFill>
            <a:srgbClr val="E8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1131" y="5907024"/>
            <a:ext cx="844905" cy="310896"/>
          </a:xfrm>
          <a:prstGeom prst="rect">
            <a:avLst/>
          </a:prstGeom>
          <a:noFill/>
        </p:spPr>
        <p:txBody>
          <a:bodyPr wrap="square" lIns="0" tIns="0" rIns="0" bIns="0" anchor="ctr">
            <a:spAutoFit/>
          </a:bodyPr>
          <a:lstStyle/>
          <a:p>
            <a:pPr algn="ctr"/>
            <a:r>
              <a:rPr sz="950" b="1" i="0">
                <a:solidFill>
                  <a:srgbClr val="2A8E87"/>
                </a:solidFill>
                <a:latin typeface="Calibri"/>
              </a:rPr>
              <a:t>PRINCE2</a:t>
            </a:r>
          </a:p>
        </p:txBody>
      </p:sp>
      <p:sp>
        <p:nvSpPr>
          <p:cNvPr id="18" name="Rectangle 17"/>
          <p:cNvSpPr/>
          <p:nvPr/>
        </p:nvSpPr>
        <p:spPr>
          <a:xfrm>
            <a:off x="1775764" y="5907024"/>
            <a:ext cx="1517904" cy="310896"/>
          </a:xfrm>
          <a:prstGeom prst="rect">
            <a:avLst/>
          </a:prstGeom>
          <a:solidFill>
            <a:srgbClr val="E8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775764" y="5907024"/>
            <a:ext cx="1517904" cy="310896"/>
          </a:xfrm>
          <a:prstGeom prst="rect">
            <a:avLst/>
          </a:prstGeom>
          <a:noFill/>
        </p:spPr>
        <p:txBody>
          <a:bodyPr wrap="square" lIns="0" tIns="0" rIns="0" bIns="0" anchor="ctr">
            <a:spAutoFit/>
          </a:bodyPr>
          <a:lstStyle/>
          <a:p>
            <a:pPr algn="ctr"/>
            <a:r>
              <a:rPr sz="950" b="1" i="0">
                <a:solidFill>
                  <a:srgbClr val="2A8E87"/>
                </a:solidFill>
                <a:latin typeface="Calibri"/>
              </a:rPr>
              <a:t>M.IT Leadership</a:t>
            </a:r>
          </a:p>
        </p:txBody>
      </p:sp>
      <p:sp>
        <p:nvSpPr>
          <p:cNvPr id="20" name="TextBox 19"/>
          <p:cNvSpPr txBox="1"/>
          <p:nvPr/>
        </p:nvSpPr>
        <p:spPr>
          <a:xfrm>
            <a:off x="3977639" y="2286000"/>
            <a:ext cx="5843016" cy="2160079"/>
          </a:xfrm>
          <a:prstGeom prst="rect">
            <a:avLst/>
          </a:prstGeom>
          <a:noFill/>
        </p:spPr>
        <p:txBody>
          <a:bodyPr wrap="square" lIns="0" tIns="0" rIns="0" bIns="0" anchor="t">
            <a:spAutoFit/>
          </a:bodyPr>
          <a:lstStyle/>
          <a:p>
            <a:pPr algn="l">
              <a:lnSpc>
                <a:spcPct val="112000"/>
              </a:lnSpc>
              <a:spcAft>
                <a:spcPts val="400"/>
              </a:spcAft>
            </a:pPr>
            <a:r>
              <a:rPr sz="1200" b="0" i="0" dirty="0">
                <a:solidFill>
                  <a:srgbClr val="4A5662"/>
                </a:solidFill>
                <a:latin typeface="Calibri"/>
              </a:rPr>
              <a:t>Chale Dodge leads Business Analyst Services, </a:t>
            </a:r>
            <a:r>
              <a:rPr sz="1200" b="0" i="0" dirty="0" err="1">
                <a:solidFill>
                  <a:srgbClr val="4A5662"/>
                </a:solidFill>
                <a:latin typeface="Calibri"/>
              </a:rPr>
              <a:t>specialising</a:t>
            </a:r>
            <a:r>
              <a:rPr sz="1200" b="0" i="0" dirty="0">
                <a:solidFill>
                  <a:srgbClr val="4A5662"/>
                </a:solidFill>
                <a:latin typeface="Calibri"/>
              </a:rPr>
              <a:t> in uplifting enterprise-wide business analysis capability. A Certified Business Analysis Professional (CBAP) and IIBA member, he holds a Master of IT Leadership from Deakin University and is a certified PROSCI Change Practitioner and PRINCE2 Practitioner — blending strategy, delivery and change.</a:t>
            </a:r>
          </a:p>
          <a:p>
            <a:pPr algn="l">
              <a:lnSpc>
                <a:spcPct val="112000"/>
              </a:lnSpc>
              <a:spcAft>
                <a:spcPts val="400"/>
              </a:spcAft>
            </a:pPr>
            <a:endParaRPr sz="1200" b="0" i="0" dirty="0">
              <a:solidFill>
                <a:srgbClr val="4A5662"/>
              </a:solidFill>
              <a:latin typeface="Calibri"/>
            </a:endParaRPr>
          </a:p>
          <a:p>
            <a:pPr algn="l">
              <a:lnSpc>
                <a:spcPct val="112000"/>
              </a:lnSpc>
              <a:spcAft>
                <a:spcPts val="400"/>
              </a:spcAft>
            </a:pPr>
            <a:r>
              <a:rPr sz="1200" b="0" i="0" dirty="0">
                <a:solidFill>
                  <a:srgbClr val="4A5662"/>
                </a:solidFill>
                <a:latin typeface="Calibri"/>
              </a:rPr>
              <a:t>His work strengthens BA practices at scale while creating greater visibility, capability and opportunity for professionals across Sydney and NSW. Chale co-authored The Evolving Analyst with global peers, and his book (</a:t>
            </a:r>
            <a:r>
              <a:rPr lang="en-US" sz="1200" dirty="0">
                <a:solidFill>
                  <a:srgbClr val="4A5662"/>
                </a:solidFill>
                <a:latin typeface="Calibri"/>
              </a:rPr>
              <a:t>OUT NOW</a:t>
            </a:r>
            <a:r>
              <a:rPr sz="1200" b="0" i="0" dirty="0">
                <a:solidFill>
                  <a:srgbClr val="4A5662"/>
                </a:solidFill>
                <a:latin typeface="Calibri"/>
              </a:rPr>
              <a:t>) introduces a scalable BA Practice Model for the practical application of AI — helping teams deliver greater value from business analysis now and into the future.</a:t>
            </a:r>
          </a:p>
        </p:txBody>
      </p:sp>
      <p:sp>
        <p:nvSpPr>
          <p:cNvPr id="21" name="TextBox 20"/>
          <p:cNvSpPr txBox="1"/>
          <p:nvPr/>
        </p:nvSpPr>
        <p:spPr>
          <a:xfrm>
            <a:off x="3977639" y="4526280"/>
            <a:ext cx="7662672" cy="228600"/>
          </a:xfrm>
          <a:prstGeom prst="rect">
            <a:avLst/>
          </a:prstGeom>
          <a:noFill/>
        </p:spPr>
        <p:txBody>
          <a:bodyPr wrap="square" lIns="0" tIns="0" rIns="0" bIns="0" anchor="t">
            <a:spAutoFit/>
          </a:bodyPr>
          <a:lstStyle/>
          <a:p>
            <a:pPr algn="l"/>
            <a:r>
              <a:rPr sz="1000" b="1" i="0" spc="300">
                <a:solidFill>
                  <a:srgbClr val="2A8E87"/>
                </a:solidFill>
                <a:latin typeface="Calibri"/>
              </a:rPr>
              <a:t>WHAT CLIENTS SAY</a:t>
            </a:r>
          </a:p>
        </p:txBody>
      </p:sp>
      <p:sp>
        <p:nvSpPr>
          <p:cNvPr id="22" name="Rectangle 21"/>
          <p:cNvSpPr/>
          <p:nvPr/>
        </p:nvSpPr>
        <p:spPr>
          <a:xfrm>
            <a:off x="3977639" y="4828032"/>
            <a:ext cx="3694176" cy="1207008"/>
          </a:xfrm>
          <a:prstGeom prst="rect">
            <a:avLst/>
          </a:prstGeom>
          <a:solidFill>
            <a:srgbClr val="F4F6F9"/>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977639" y="4828032"/>
            <a:ext cx="64008" cy="1207008"/>
          </a:xfrm>
          <a:prstGeom prst="rect">
            <a:avLst/>
          </a:prstGeom>
          <a:solidFill>
            <a:srgbClr val="3FB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33672" y="4992624"/>
            <a:ext cx="3236976" cy="357214"/>
          </a:xfrm>
          <a:prstGeom prst="rect">
            <a:avLst/>
          </a:prstGeom>
          <a:noFill/>
        </p:spPr>
        <p:txBody>
          <a:bodyPr wrap="square" lIns="0" tIns="0" rIns="0" bIns="0" anchor="t">
            <a:spAutoFit/>
          </a:bodyPr>
          <a:lstStyle/>
          <a:p>
            <a:pPr algn="l">
              <a:lnSpc>
                <a:spcPct val="108000"/>
              </a:lnSpc>
            </a:pPr>
            <a:r>
              <a:rPr sz="1100" b="0" i="1" dirty="0">
                <a:solidFill>
                  <a:srgbClr val="1B3A5C"/>
                </a:solidFill>
                <a:latin typeface="Calibri"/>
              </a:rPr>
              <a:t>“</a:t>
            </a:r>
            <a:r>
              <a:rPr lang="en-US" sz="1100" b="0" i="1" dirty="0">
                <a:solidFill>
                  <a:srgbClr val="1B3A5C"/>
                </a:solidFill>
                <a:latin typeface="Calibri"/>
              </a:rPr>
              <a:t>Chale is the best Business Analyst I have ever worked with!</a:t>
            </a:r>
            <a:r>
              <a:rPr sz="1100" b="0" i="1" dirty="0">
                <a:solidFill>
                  <a:srgbClr val="1B3A5C"/>
                </a:solidFill>
                <a:latin typeface="Calibri"/>
              </a:rPr>
              <a:t>”</a:t>
            </a:r>
          </a:p>
        </p:txBody>
      </p:sp>
      <p:sp>
        <p:nvSpPr>
          <p:cNvPr id="25" name="TextBox 24"/>
          <p:cNvSpPr txBox="1"/>
          <p:nvPr/>
        </p:nvSpPr>
        <p:spPr>
          <a:xfrm>
            <a:off x="4233672" y="5705856"/>
            <a:ext cx="3236976" cy="146194"/>
          </a:xfrm>
          <a:prstGeom prst="rect">
            <a:avLst/>
          </a:prstGeom>
          <a:noFill/>
        </p:spPr>
        <p:txBody>
          <a:bodyPr wrap="square" lIns="0" tIns="0" rIns="0" bIns="0" anchor="t">
            <a:spAutoFit/>
          </a:bodyPr>
          <a:lstStyle/>
          <a:p>
            <a:pPr algn="l"/>
            <a:r>
              <a:rPr lang="en-US" sz="950" b="1" i="0" dirty="0">
                <a:solidFill>
                  <a:srgbClr val="8895A2"/>
                </a:solidFill>
                <a:latin typeface="Calibri"/>
              </a:rPr>
              <a:t>Annette Gal</a:t>
            </a:r>
            <a:r>
              <a:rPr sz="950" b="1" i="0" dirty="0">
                <a:solidFill>
                  <a:srgbClr val="8895A2"/>
                </a:solidFill>
                <a:latin typeface="Calibri"/>
              </a:rPr>
              <a:t>, </a:t>
            </a:r>
            <a:r>
              <a:rPr lang="en-US" sz="950" b="1" i="0" dirty="0">
                <a:solidFill>
                  <a:srgbClr val="8895A2"/>
                </a:solidFill>
                <a:latin typeface="Calibri"/>
              </a:rPr>
              <a:t>Project Manager</a:t>
            </a:r>
            <a:r>
              <a:rPr sz="950" b="1" i="0" dirty="0">
                <a:solidFill>
                  <a:srgbClr val="8895A2"/>
                </a:solidFill>
                <a:latin typeface="Calibri"/>
              </a:rPr>
              <a:t>  ·  </a:t>
            </a:r>
            <a:r>
              <a:rPr lang="en-US" sz="950" b="1" i="0" dirty="0">
                <a:solidFill>
                  <a:srgbClr val="8895A2"/>
                </a:solidFill>
                <a:latin typeface="Calibri"/>
              </a:rPr>
              <a:t>University of NSW</a:t>
            </a:r>
            <a:endParaRPr sz="950" b="1" i="0" dirty="0">
              <a:solidFill>
                <a:srgbClr val="8895A2"/>
              </a:solidFill>
              <a:latin typeface="Calibri"/>
            </a:endParaRPr>
          </a:p>
        </p:txBody>
      </p:sp>
      <p:sp>
        <p:nvSpPr>
          <p:cNvPr id="26" name="Rectangle 25"/>
          <p:cNvSpPr/>
          <p:nvPr/>
        </p:nvSpPr>
        <p:spPr>
          <a:xfrm>
            <a:off x="7946136" y="4828032"/>
            <a:ext cx="3694176" cy="1207008"/>
          </a:xfrm>
          <a:prstGeom prst="rect">
            <a:avLst/>
          </a:prstGeom>
          <a:solidFill>
            <a:srgbClr val="F4F6F9"/>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946136" y="4828032"/>
            <a:ext cx="64008" cy="1207008"/>
          </a:xfrm>
          <a:prstGeom prst="rect">
            <a:avLst/>
          </a:prstGeom>
          <a:solidFill>
            <a:srgbClr val="3FB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02167" y="4992624"/>
            <a:ext cx="3236976" cy="540020"/>
          </a:xfrm>
          <a:prstGeom prst="rect">
            <a:avLst/>
          </a:prstGeom>
          <a:noFill/>
        </p:spPr>
        <p:txBody>
          <a:bodyPr wrap="square" lIns="0" tIns="0" rIns="0" bIns="0" anchor="t">
            <a:spAutoFit/>
          </a:bodyPr>
          <a:lstStyle/>
          <a:p>
            <a:pPr algn="l">
              <a:lnSpc>
                <a:spcPct val="108000"/>
              </a:lnSpc>
            </a:pPr>
            <a:r>
              <a:rPr sz="1100" b="0" i="1" dirty="0">
                <a:solidFill>
                  <a:srgbClr val="1B3A5C"/>
                </a:solidFill>
                <a:latin typeface="Calibri"/>
              </a:rPr>
              <a:t>“</a:t>
            </a:r>
            <a:r>
              <a:rPr lang="en-US" sz="1100" b="0" i="1" dirty="0">
                <a:solidFill>
                  <a:srgbClr val="1B3A5C"/>
                </a:solidFill>
                <a:latin typeface="Calibri"/>
              </a:rPr>
              <a:t>We needed a BA Practice stood up for a team and within a few weeks, Chale had the team engaged and building out the community.</a:t>
            </a:r>
            <a:r>
              <a:rPr sz="1100" b="0" i="1" dirty="0">
                <a:solidFill>
                  <a:srgbClr val="1B3A5C"/>
                </a:solidFill>
                <a:latin typeface="Calibri"/>
              </a:rPr>
              <a:t>”</a:t>
            </a:r>
          </a:p>
        </p:txBody>
      </p:sp>
      <p:sp>
        <p:nvSpPr>
          <p:cNvPr id="29" name="TextBox 28"/>
          <p:cNvSpPr txBox="1"/>
          <p:nvPr/>
        </p:nvSpPr>
        <p:spPr>
          <a:xfrm>
            <a:off x="8202167" y="5705856"/>
            <a:ext cx="3236976" cy="146194"/>
          </a:xfrm>
          <a:prstGeom prst="rect">
            <a:avLst/>
          </a:prstGeom>
          <a:noFill/>
        </p:spPr>
        <p:txBody>
          <a:bodyPr wrap="square" lIns="0" tIns="0" rIns="0" bIns="0" anchor="t">
            <a:spAutoFit/>
          </a:bodyPr>
          <a:lstStyle/>
          <a:p>
            <a:pPr algn="l"/>
            <a:r>
              <a:rPr lang="en-US" sz="950" b="1" i="0" dirty="0">
                <a:solidFill>
                  <a:srgbClr val="8895A2"/>
                </a:solidFill>
                <a:latin typeface="Calibri"/>
              </a:rPr>
              <a:t>Pat Wrighton</a:t>
            </a:r>
            <a:r>
              <a:rPr sz="950" b="1" i="0" dirty="0">
                <a:solidFill>
                  <a:srgbClr val="8895A2"/>
                </a:solidFill>
                <a:latin typeface="Calibri"/>
              </a:rPr>
              <a:t>, </a:t>
            </a:r>
            <a:r>
              <a:rPr lang="en-US" sz="950" b="1" i="0" dirty="0">
                <a:solidFill>
                  <a:srgbClr val="8895A2"/>
                </a:solidFill>
                <a:latin typeface="Calibri"/>
              </a:rPr>
              <a:t>Delivery Lead</a:t>
            </a:r>
            <a:r>
              <a:rPr sz="950" b="1" i="0" dirty="0">
                <a:solidFill>
                  <a:srgbClr val="8895A2"/>
                </a:solidFill>
                <a:latin typeface="Calibri"/>
              </a:rPr>
              <a:t>  ·  </a:t>
            </a:r>
            <a:r>
              <a:rPr lang="en-US" sz="950" b="1" i="0" dirty="0">
                <a:solidFill>
                  <a:srgbClr val="8895A2"/>
                </a:solidFill>
                <a:latin typeface="Calibri"/>
              </a:rPr>
              <a:t>UNSW College</a:t>
            </a:r>
            <a:endParaRPr sz="950" b="1" i="0" dirty="0">
              <a:solidFill>
                <a:srgbClr val="8895A2"/>
              </a:solidFill>
              <a:latin typeface="Calibri"/>
            </a:endParaRPr>
          </a:p>
        </p:txBody>
      </p:sp>
      <p:pic>
        <p:nvPicPr>
          <p:cNvPr id="33" name="Picture 32">
            <a:extLst>
              <a:ext uri="{FF2B5EF4-FFF2-40B4-BE49-F238E27FC236}">
                <a16:creationId xmlns:a16="http://schemas.microsoft.com/office/drawing/2014/main" id="{B7F7EB63-B9B2-35FC-76CF-CC7BA4D8EBBE}"/>
              </a:ext>
            </a:extLst>
          </p:cNvPr>
          <p:cNvPicPr>
            <a:picLocks noChangeAspect="1"/>
          </p:cNvPicPr>
          <p:nvPr/>
        </p:nvPicPr>
        <p:blipFill>
          <a:blip r:embed="rId3"/>
          <a:stretch>
            <a:fillRect/>
          </a:stretch>
        </p:blipFill>
        <p:spPr>
          <a:xfrm>
            <a:off x="1104043" y="2049839"/>
            <a:ext cx="1738461" cy="2607924"/>
          </a:xfrm>
          <a:prstGeom prst="rect">
            <a:avLst/>
          </a:prstGeom>
        </p:spPr>
      </p:pic>
      <p:pic>
        <p:nvPicPr>
          <p:cNvPr id="32" name="Picture 31">
            <a:extLst>
              <a:ext uri="{FF2B5EF4-FFF2-40B4-BE49-F238E27FC236}">
                <a16:creationId xmlns:a16="http://schemas.microsoft.com/office/drawing/2014/main" id="{6B6D018D-D7F4-8FD9-2A8C-EB1648F500E2}"/>
              </a:ext>
            </a:extLst>
          </p:cNvPr>
          <p:cNvPicPr>
            <a:picLocks noChangeAspect="1"/>
          </p:cNvPicPr>
          <p:nvPr/>
        </p:nvPicPr>
        <p:blipFill>
          <a:blip r:embed="rId4"/>
          <a:stretch>
            <a:fillRect/>
          </a:stretch>
        </p:blipFill>
        <p:spPr>
          <a:xfrm>
            <a:off x="10322918" y="512506"/>
            <a:ext cx="1407734" cy="1407734"/>
          </a:xfrm>
          <a:prstGeom prst="rect">
            <a:avLst/>
          </a:prstGeom>
        </p:spPr>
      </p:pic>
      <p:sp>
        <p:nvSpPr>
          <p:cNvPr id="7" name="TextBox 6">
            <a:extLst>
              <a:ext uri="{FF2B5EF4-FFF2-40B4-BE49-F238E27FC236}">
                <a16:creationId xmlns:a16="http://schemas.microsoft.com/office/drawing/2014/main" id="{B509D1AF-F9B2-23BE-0DB6-94EFDD72C810}"/>
              </a:ext>
            </a:extLst>
          </p:cNvPr>
          <p:cNvSpPr txBox="1"/>
          <p:nvPr/>
        </p:nvSpPr>
        <p:spPr>
          <a:xfrm>
            <a:off x="822960" y="274320"/>
            <a:ext cx="9722815" cy="201168"/>
          </a:xfrm>
          <a:prstGeom prst="rect">
            <a:avLst/>
          </a:prstGeom>
          <a:noFill/>
        </p:spPr>
        <p:txBody>
          <a:bodyPr wrap="square" lIns="0" tIns="0" rIns="0" bIns="0" anchor="t">
            <a:spAutoFit/>
          </a:bodyPr>
          <a:lstStyle/>
          <a:p>
            <a:pPr algn="l">
              <a:lnSpc>
                <a:spcPct val="115000"/>
              </a:lnSpc>
              <a:spcAft>
                <a:spcPts val="0"/>
              </a:spcAft>
            </a:pPr>
            <a:r>
              <a:rPr sz="750" b="1" spc="160">
                <a:solidFill>
                  <a:srgbClr val="6E7C8C"/>
                </a:solidFill>
                <a:latin typeface="Segoe UI"/>
              </a:rPr>
              <a:t>BUSINESS ANALYST SERVICES  ·  CLAUDE DEMONSTRATION  ·  PRACTICAL AI FOR END-TO-END BUSINESS ANALYSIS</a:t>
            </a:r>
          </a:p>
        </p:txBody>
      </p:sp>
      <p:sp>
        <p:nvSpPr>
          <p:cNvPr id="36" name="TextBox 35">
            <a:extLst>
              <a:ext uri="{FF2B5EF4-FFF2-40B4-BE49-F238E27FC236}">
                <a16:creationId xmlns:a16="http://schemas.microsoft.com/office/drawing/2014/main" id="{0F120E75-580C-EC32-AED1-F741A49062BB}"/>
              </a:ext>
            </a:extLst>
          </p:cNvPr>
          <p:cNvSpPr txBox="1"/>
          <p:nvPr/>
        </p:nvSpPr>
        <p:spPr>
          <a:xfrm>
            <a:off x="10545775" y="274320"/>
            <a:ext cx="822960" cy="121315"/>
          </a:xfrm>
          <a:prstGeom prst="rect">
            <a:avLst/>
          </a:prstGeom>
          <a:noFill/>
        </p:spPr>
        <p:txBody>
          <a:bodyPr wrap="square" lIns="0" tIns="0" rIns="0" bIns="0" anchor="t">
            <a:spAutoFit/>
          </a:bodyPr>
          <a:lstStyle/>
          <a:p>
            <a:pPr algn="r">
              <a:lnSpc>
                <a:spcPct val="115000"/>
              </a:lnSpc>
              <a:spcAft>
                <a:spcPts val="0"/>
              </a:spcAft>
            </a:pPr>
            <a:r>
              <a:rPr lang="en-US" sz="750" b="1" spc="100" dirty="0">
                <a:solidFill>
                  <a:srgbClr val="2A6F8E"/>
                </a:solidFill>
                <a:latin typeface="Segoe UI"/>
              </a:rPr>
              <a:t>1</a:t>
            </a:r>
            <a:r>
              <a:rPr sz="750" b="1" spc="100" dirty="0">
                <a:solidFill>
                  <a:srgbClr val="2A6F8E"/>
                </a:solidFill>
                <a:latin typeface="Segoe UI"/>
              </a:rPr>
              <a:t> / 7</a:t>
            </a:r>
          </a:p>
        </p:txBody>
      </p:sp>
      <p:sp>
        <p:nvSpPr>
          <p:cNvPr id="38" name="Rectangle 37">
            <a:extLst>
              <a:ext uri="{FF2B5EF4-FFF2-40B4-BE49-F238E27FC236}">
                <a16:creationId xmlns:a16="http://schemas.microsoft.com/office/drawing/2014/main" id="{8F8A0C4B-656B-BA23-D7A7-ABCE3DAA7B97}"/>
              </a:ext>
            </a:extLst>
          </p:cNvPr>
          <p:cNvSpPr/>
          <p:nvPr/>
        </p:nvSpPr>
        <p:spPr>
          <a:xfrm>
            <a:off x="822960" y="566928"/>
            <a:ext cx="10545775" cy="10972"/>
          </a:xfrm>
          <a:prstGeom prst="rect">
            <a:avLst/>
          </a:prstGeom>
          <a:solidFill>
            <a:srgbClr val="E2EAF3"/>
          </a:solidFill>
          <a:ln>
            <a:noFill/>
          </a:ln>
          <a:effectLst/>
        </p:spPr>
        <p:txBody>
          <a:bodyPr rtlCol="0" anchor="ctr"/>
          <a:lstStyle/>
          <a:p>
            <a:endParaRPr/>
          </a:p>
        </p:txBody>
      </p:sp>
      <p:pic>
        <p:nvPicPr>
          <p:cNvPr id="40" name="Picture 39">
            <a:extLst>
              <a:ext uri="{FF2B5EF4-FFF2-40B4-BE49-F238E27FC236}">
                <a16:creationId xmlns:a16="http://schemas.microsoft.com/office/drawing/2014/main" id="{F1B6B5DC-1A8A-3394-02DC-57C807DE0B8F}"/>
              </a:ext>
            </a:extLst>
          </p:cNvPr>
          <p:cNvPicPr>
            <a:picLocks noChangeAspect="1"/>
          </p:cNvPicPr>
          <p:nvPr/>
        </p:nvPicPr>
        <p:blipFill>
          <a:blip r:embed="rId5"/>
          <a:stretch>
            <a:fillRect/>
          </a:stretch>
        </p:blipFill>
        <p:spPr>
          <a:xfrm>
            <a:off x="3566160" y="611812"/>
            <a:ext cx="1447619" cy="14476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endParaRPr/>
          </a:p>
        </p:txBody>
      </p:sp>
      <p:sp>
        <p:nvSpPr>
          <p:cNvPr id="3" name="Rectangle 2"/>
          <p:cNvSpPr/>
          <p:nvPr/>
        </p:nvSpPr>
        <p:spPr>
          <a:xfrm>
            <a:off x="0" y="0"/>
            <a:ext cx="164592" cy="6858000"/>
          </a:xfrm>
          <a:prstGeom prst="rect">
            <a:avLst/>
          </a:prstGeom>
          <a:solidFill>
            <a:srgbClr val="4FB8B8"/>
          </a:solidFill>
          <a:ln>
            <a:noFill/>
          </a:ln>
          <a:effectLst/>
        </p:spPr>
        <p:txBody>
          <a:bodyPr rtlCol="0" anchor="ctr"/>
          <a:lstStyle/>
          <a:p>
            <a:endParaRPr/>
          </a:p>
        </p:txBody>
      </p:sp>
      <p:sp>
        <p:nvSpPr>
          <p:cNvPr id="4" name="TextBox 3"/>
          <p:cNvSpPr txBox="1"/>
          <p:nvPr/>
        </p:nvSpPr>
        <p:spPr>
          <a:xfrm>
            <a:off x="822960" y="274320"/>
            <a:ext cx="9722815" cy="201168"/>
          </a:xfrm>
          <a:prstGeom prst="rect">
            <a:avLst/>
          </a:prstGeom>
          <a:noFill/>
        </p:spPr>
        <p:txBody>
          <a:bodyPr wrap="square" lIns="0" tIns="0" rIns="0" bIns="0" anchor="t">
            <a:spAutoFit/>
          </a:bodyPr>
          <a:lstStyle/>
          <a:p>
            <a:pPr algn="l">
              <a:lnSpc>
                <a:spcPct val="115000"/>
              </a:lnSpc>
              <a:spcAft>
                <a:spcPts val="0"/>
              </a:spcAft>
            </a:pPr>
            <a:r>
              <a:rPr sz="750" b="1" spc="160">
                <a:solidFill>
                  <a:srgbClr val="6E7C8C"/>
                </a:solidFill>
                <a:latin typeface="Segoe UI"/>
              </a:rPr>
              <a:t>BUSINESS ANALYST SERVICES  ·  CLAUDE DEMONSTRATION  ·  PRACTICAL AI FOR END-TO-END BUSINESS ANALYSIS</a:t>
            </a:r>
          </a:p>
        </p:txBody>
      </p:sp>
      <p:sp>
        <p:nvSpPr>
          <p:cNvPr id="5" name="TextBox 4"/>
          <p:cNvSpPr txBox="1"/>
          <p:nvPr/>
        </p:nvSpPr>
        <p:spPr>
          <a:xfrm>
            <a:off x="10545775" y="274320"/>
            <a:ext cx="822960" cy="201168"/>
          </a:xfrm>
          <a:prstGeom prst="rect">
            <a:avLst/>
          </a:prstGeom>
          <a:noFill/>
        </p:spPr>
        <p:txBody>
          <a:bodyPr wrap="square" lIns="0" tIns="0" rIns="0" bIns="0" anchor="t">
            <a:spAutoFit/>
          </a:bodyPr>
          <a:lstStyle/>
          <a:p>
            <a:pPr algn="r">
              <a:lnSpc>
                <a:spcPct val="115000"/>
              </a:lnSpc>
              <a:spcAft>
                <a:spcPts val="0"/>
              </a:spcAft>
            </a:pPr>
            <a:r>
              <a:rPr sz="750" b="1" spc="100">
                <a:solidFill>
                  <a:srgbClr val="2A6F8E"/>
                </a:solidFill>
                <a:latin typeface="Segoe UI"/>
              </a:rPr>
              <a:t>2 / 7</a:t>
            </a:r>
          </a:p>
        </p:txBody>
      </p:sp>
      <p:sp>
        <p:nvSpPr>
          <p:cNvPr id="6" name="Rectangle 5"/>
          <p:cNvSpPr/>
          <p:nvPr/>
        </p:nvSpPr>
        <p:spPr>
          <a:xfrm>
            <a:off x="822960" y="566928"/>
            <a:ext cx="10545775" cy="10972"/>
          </a:xfrm>
          <a:prstGeom prst="rect">
            <a:avLst/>
          </a:prstGeom>
          <a:solidFill>
            <a:srgbClr val="E2EAF3"/>
          </a:solidFill>
          <a:ln>
            <a:noFill/>
          </a:ln>
          <a:effectLst/>
        </p:spPr>
        <p:txBody>
          <a:bodyPr rtlCol="0" anchor="ctr"/>
          <a:lstStyle/>
          <a:p>
            <a:endParaRPr/>
          </a:p>
        </p:txBody>
      </p:sp>
      <p:sp>
        <p:nvSpPr>
          <p:cNvPr id="7" name="TextBox 6"/>
          <p:cNvSpPr txBox="1"/>
          <p:nvPr/>
        </p:nvSpPr>
        <p:spPr>
          <a:xfrm>
            <a:off x="822960" y="786384"/>
            <a:ext cx="10545775" cy="201168"/>
          </a:xfrm>
          <a:prstGeom prst="rect">
            <a:avLst/>
          </a:prstGeom>
          <a:noFill/>
        </p:spPr>
        <p:txBody>
          <a:bodyPr wrap="square" lIns="0" tIns="0" rIns="0" bIns="0" anchor="t">
            <a:spAutoFit/>
          </a:bodyPr>
          <a:lstStyle/>
          <a:p>
            <a:pPr algn="l">
              <a:lnSpc>
                <a:spcPct val="115000"/>
              </a:lnSpc>
              <a:spcAft>
                <a:spcPts val="0"/>
              </a:spcAft>
            </a:pPr>
            <a:r>
              <a:rPr sz="850" b="1" spc="180">
                <a:solidFill>
                  <a:srgbClr val="2A6F8E"/>
                </a:solidFill>
                <a:latin typeface="Segoe UI"/>
              </a:rPr>
              <a:t>INTRODUCTION</a:t>
            </a:r>
          </a:p>
        </p:txBody>
      </p:sp>
      <p:sp>
        <p:nvSpPr>
          <p:cNvPr id="8" name="TextBox 7"/>
          <p:cNvSpPr txBox="1"/>
          <p:nvPr/>
        </p:nvSpPr>
        <p:spPr>
          <a:xfrm>
            <a:off x="822960" y="1024128"/>
            <a:ext cx="10545775" cy="457200"/>
          </a:xfrm>
          <a:prstGeom prst="rect">
            <a:avLst/>
          </a:prstGeom>
          <a:noFill/>
        </p:spPr>
        <p:txBody>
          <a:bodyPr wrap="square" lIns="0" tIns="0" rIns="0" bIns="0" anchor="t">
            <a:spAutoFit/>
          </a:bodyPr>
          <a:lstStyle/>
          <a:p>
            <a:pPr algn="l">
              <a:lnSpc>
                <a:spcPct val="105000"/>
              </a:lnSpc>
              <a:spcAft>
                <a:spcPts val="0"/>
              </a:spcAft>
            </a:pPr>
            <a:r>
              <a:rPr sz="2600" b="1">
                <a:solidFill>
                  <a:srgbClr val="1E3A5F"/>
                </a:solidFill>
                <a:latin typeface="Segoe UI"/>
              </a:rPr>
              <a:t>What you are about to see</a:t>
            </a:r>
          </a:p>
        </p:txBody>
      </p:sp>
      <p:sp>
        <p:nvSpPr>
          <p:cNvPr id="9" name="TextBox 8"/>
          <p:cNvSpPr txBox="1"/>
          <p:nvPr/>
        </p:nvSpPr>
        <p:spPr>
          <a:xfrm>
            <a:off x="822960" y="1649770"/>
            <a:ext cx="9265615" cy="457200"/>
          </a:xfrm>
          <a:prstGeom prst="rect">
            <a:avLst/>
          </a:prstGeom>
          <a:noFill/>
        </p:spPr>
        <p:txBody>
          <a:bodyPr wrap="square" lIns="0" tIns="0" rIns="0" bIns="0" anchor="t">
            <a:spAutoFit/>
          </a:bodyPr>
          <a:lstStyle/>
          <a:p>
            <a:pPr algn="l">
              <a:lnSpc>
                <a:spcPct val="135000"/>
              </a:lnSpc>
              <a:spcAft>
                <a:spcPts val="0"/>
              </a:spcAft>
            </a:pPr>
            <a:r>
              <a:rPr sz="1100" b="0">
                <a:solidFill>
                  <a:srgbClr val="6E7C8C"/>
                </a:solidFill>
                <a:latin typeface="Segoe UI"/>
              </a:rPr>
              <a:t>Three claims, in order. Hold me to the third one — it is the only one that matters outside this room.</a:t>
            </a:r>
          </a:p>
        </p:txBody>
      </p:sp>
      <p:sp>
        <p:nvSpPr>
          <p:cNvPr id="10" name="Rectangle 9"/>
          <p:cNvSpPr/>
          <p:nvPr/>
        </p:nvSpPr>
        <p:spPr>
          <a:xfrm>
            <a:off x="822960" y="2139696"/>
            <a:ext cx="3332378" cy="2340864"/>
          </a:xfrm>
          <a:prstGeom prst="rect">
            <a:avLst/>
          </a:prstGeom>
          <a:solidFill>
            <a:srgbClr val="F4F7FB"/>
          </a:solidFill>
          <a:ln>
            <a:noFill/>
          </a:ln>
          <a:effectLst/>
        </p:spPr>
        <p:txBody>
          <a:bodyPr rtlCol="0" anchor="ctr"/>
          <a:lstStyle/>
          <a:p>
            <a:endParaRPr/>
          </a:p>
        </p:txBody>
      </p:sp>
      <p:sp>
        <p:nvSpPr>
          <p:cNvPr id="11" name="Rectangle 10"/>
          <p:cNvSpPr/>
          <p:nvPr/>
        </p:nvSpPr>
        <p:spPr>
          <a:xfrm>
            <a:off x="822960" y="2139696"/>
            <a:ext cx="50292" cy="2340864"/>
          </a:xfrm>
          <a:prstGeom prst="rect">
            <a:avLst/>
          </a:prstGeom>
          <a:solidFill>
            <a:srgbClr val="2A6F8E"/>
          </a:solidFill>
          <a:ln>
            <a:noFill/>
          </a:ln>
          <a:effectLst/>
        </p:spPr>
        <p:txBody>
          <a:bodyPr rtlCol="0" anchor="ctr"/>
          <a:lstStyle/>
          <a:p>
            <a:endParaRPr/>
          </a:p>
        </p:txBody>
      </p:sp>
      <p:sp>
        <p:nvSpPr>
          <p:cNvPr id="12" name="TextBox 11"/>
          <p:cNvSpPr txBox="1"/>
          <p:nvPr/>
        </p:nvSpPr>
        <p:spPr>
          <a:xfrm>
            <a:off x="1097280" y="2340864"/>
            <a:ext cx="2829458" cy="182880"/>
          </a:xfrm>
          <a:prstGeom prst="rect">
            <a:avLst/>
          </a:prstGeom>
          <a:noFill/>
        </p:spPr>
        <p:txBody>
          <a:bodyPr wrap="square" lIns="0" tIns="0" rIns="0" bIns="0" anchor="t">
            <a:spAutoFit/>
          </a:bodyPr>
          <a:lstStyle/>
          <a:p>
            <a:pPr algn="l">
              <a:lnSpc>
                <a:spcPct val="115000"/>
              </a:lnSpc>
              <a:spcAft>
                <a:spcPts val="0"/>
              </a:spcAft>
            </a:pPr>
            <a:r>
              <a:rPr sz="750" b="1" spc="150">
                <a:solidFill>
                  <a:srgbClr val="2A6F8E"/>
                </a:solidFill>
                <a:latin typeface="Segoe UI"/>
              </a:rPr>
              <a:t>THE ARTEFACT</a:t>
            </a:r>
          </a:p>
        </p:txBody>
      </p:sp>
      <p:sp>
        <p:nvSpPr>
          <p:cNvPr id="13" name="TextBox 12"/>
          <p:cNvSpPr txBox="1"/>
          <p:nvPr/>
        </p:nvSpPr>
        <p:spPr>
          <a:xfrm>
            <a:off x="1097280" y="2560320"/>
            <a:ext cx="2829458" cy="512064"/>
          </a:xfrm>
          <a:prstGeom prst="rect">
            <a:avLst/>
          </a:prstGeom>
          <a:noFill/>
        </p:spPr>
        <p:txBody>
          <a:bodyPr wrap="square" lIns="0" tIns="0" rIns="0" bIns="0" anchor="t">
            <a:spAutoFit/>
          </a:bodyPr>
          <a:lstStyle/>
          <a:p>
            <a:pPr algn="l">
              <a:lnSpc>
                <a:spcPct val="110000"/>
              </a:lnSpc>
              <a:spcAft>
                <a:spcPts val="0"/>
              </a:spcAft>
            </a:pPr>
            <a:r>
              <a:rPr sz="1300" b="1">
                <a:solidFill>
                  <a:srgbClr val="1E3A5F"/>
                </a:solidFill>
                <a:latin typeface="Segoe UI"/>
              </a:rPr>
              <a:t>A platform, in production</a:t>
            </a:r>
          </a:p>
        </p:txBody>
      </p:sp>
      <p:sp>
        <p:nvSpPr>
          <p:cNvPr id="14" name="TextBox 13"/>
          <p:cNvSpPr txBox="1"/>
          <p:nvPr/>
        </p:nvSpPr>
        <p:spPr>
          <a:xfrm>
            <a:off x="1097280" y="3127248"/>
            <a:ext cx="2829458" cy="1170432"/>
          </a:xfrm>
          <a:prstGeom prst="rect">
            <a:avLst/>
          </a:prstGeom>
          <a:noFill/>
        </p:spPr>
        <p:txBody>
          <a:bodyPr wrap="square" lIns="0" tIns="0" rIns="0" bIns="0" anchor="t">
            <a:spAutoFit/>
          </a:bodyPr>
          <a:lstStyle/>
          <a:p>
            <a:pPr algn="l">
              <a:lnSpc>
                <a:spcPct val="138000"/>
              </a:lnSpc>
              <a:spcAft>
                <a:spcPts val="0"/>
              </a:spcAft>
            </a:pPr>
            <a:r>
              <a:rPr sz="950" b="0">
                <a:solidFill>
                  <a:srgbClr val="33475C"/>
                </a:solidFill>
                <a:latin typeface="Segoe UI"/>
              </a:rPr>
              <a:t>Invitation-only roles across nine role types, one permission matrix, an append-only audit register, and a client document that leaves the building by email. Not a prototype and not a slide — a system with users.</a:t>
            </a:r>
          </a:p>
        </p:txBody>
      </p:sp>
      <p:sp>
        <p:nvSpPr>
          <p:cNvPr id="15" name="Rectangle 14"/>
          <p:cNvSpPr/>
          <p:nvPr/>
        </p:nvSpPr>
        <p:spPr>
          <a:xfrm>
            <a:off x="4429658" y="2139696"/>
            <a:ext cx="3332378" cy="2340864"/>
          </a:xfrm>
          <a:prstGeom prst="rect">
            <a:avLst/>
          </a:prstGeom>
          <a:solidFill>
            <a:srgbClr val="F4F7FB"/>
          </a:solidFill>
          <a:ln>
            <a:noFill/>
          </a:ln>
          <a:effectLst/>
        </p:spPr>
        <p:txBody>
          <a:bodyPr rtlCol="0" anchor="ctr"/>
          <a:lstStyle/>
          <a:p>
            <a:endParaRPr/>
          </a:p>
        </p:txBody>
      </p:sp>
      <p:sp>
        <p:nvSpPr>
          <p:cNvPr id="16" name="Rectangle 15"/>
          <p:cNvSpPr/>
          <p:nvPr/>
        </p:nvSpPr>
        <p:spPr>
          <a:xfrm>
            <a:off x="4429658" y="2139696"/>
            <a:ext cx="50292" cy="2340864"/>
          </a:xfrm>
          <a:prstGeom prst="rect">
            <a:avLst/>
          </a:prstGeom>
          <a:solidFill>
            <a:srgbClr val="2A8E87"/>
          </a:solidFill>
          <a:ln>
            <a:noFill/>
          </a:ln>
          <a:effectLst/>
        </p:spPr>
        <p:txBody>
          <a:bodyPr rtlCol="0" anchor="ctr"/>
          <a:lstStyle/>
          <a:p>
            <a:endParaRPr/>
          </a:p>
        </p:txBody>
      </p:sp>
      <p:sp>
        <p:nvSpPr>
          <p:cNvPr id="17" name="TextBox 16"/>
          <p:cNvSpPr txBox="1"/>
          <p:nvPr/>
        </p:nvSpPr>
        <p:spPr>
          <a:xfrm>
            <a:off x="4703978" y="2340864"/>
            <a:ext cx="2829458" cy="182880"/>
          </a:xfrm>
          <a:prstGeom prst="rect">
            <a:avLst/>
          </a:prstGeom>
          <a:noFill/>
        </p:spPr>
        <p:txBody>
          <a:bodyPr wrap="square" lIns="0" tIns="0" rIns="0" bIns="0" anchor="t">
            <a:spAutoFit/>
          </a:bodyPr>
          <a:lstStyle/>
          <a:p>
            <a:pPr algn="l">
              <a:lnSpc>
                <a:spcPct val="115000"/>
              </a:lnSpc>
              <a:spcAft>
                <a:spcPts val="0"/>
              </a:spcAft>
            </a:pPr>
            <a:r>
              <a:rPr sz="750" b="1" spc="150">
                <a:solidFill>
                  <a:srgbClr val="2A8E87"/>
                </a:solidFill>
                <a:latin typeface="Segoe UI"/>
              </a:rPr>
              <a:t>THE METHOD</a:t>
            </a:r>
          </a:p>
        </p:txBody>
      </p:sp>
      <p:sp>
        <p:nvSpPr>
          <p:cNvPr id="18" name="TextBox 17"/>
          <p:cNvSpPr txBox="1"/>
          <p:nvPr/>
        </p:nvSpPr>
        <p:spPr>
          <a:xfrm>
            <a:off x="4703978" y="2560320"/>
            <a:ext cx="2829458" cy="512064"/>
          </a:xfrm>
          <a:prstGeom prst="rect">
            <a:avLst/>
          </a:prstGeom>
          <a:noFill/>
        </p:spPr>
        <p:txBody>
          <a:bodyPr wrap="square" lIns="0" tIns="0" rIns="0" bIns="0" anchor="t">
            <a:spAutoFit/>
          </a:bodyPr>
          <a:lstStyle/>
          <a:p>
            <a:pPr algn="l">
              <a:lnSpc>
                <a:spcPct val="110000"/>
              </a:lnSpc>
              <a:spcAft>
                <a:spcPts val="0"/>
              </a:spcAft>
            </a:pPr>
            <a:r>
              <a:rPr sz="1300" b="1">
                <a:solidFill>
                  <a:srgbClr val="1E3A5F"/>
                </a:solidFill>
                <a:latin typeface="Segoe UI"/>
              </a:rPr>
              <a:t>A specification that is read</a:t>
            </a:r>
          </a:p>
        </p:txBody>
      </p:sp>
      <p:sp>
        <p:nvSpPr>
          <p:cNvPr id="19" name="TextBox 18"/>
          <p:cNvSpPr txBox="1"/>
          <p:nvPr/>
        </p:nvSpPr>
        <p:spPr>
          <a:xfrm>
            <a:off x="4703978" y="3127248"/>
            <a:ext cx="2829458" cy="1170432"/>
          </a:xfrm>
          <a:prstGeom prst="rect">
            <a:avLst/>
          </a:prstGeom>
          <a:noFill/>
        </p:spPr>
        <p:txBody>
          <a:bodyPr wrap="square" lIns="0" tIns="0" rIns="0" bIns="0" anchor="t">
            <a:spAutoFit/>
          </a:bodyPr>
          <a:lstStyle/>
          <a:p>
            <a:pPr algn="l">
              <a:lnSpc>
                <a:spcPct val="138000"/>
              </a:lnSpc>
              <a:spcAft>
                <a:spcPts val="0"/>
              </a:spcAft>
            </a:pPr>
            <a:r>
              <a:rPr sz="950" b="0">
                <a:solidFill>
                  <a:srgbClr val="33475C"/>
                </a:solidFill>
                <a:latin typeface="Segoe UI"/>
              </a:rPr>
              <a:t>Every change begins as a story with acceptance criteria in Jira. Claude builds against that spec, opens a pull request, and 27 browser specs have to be green on the release branch before anything is promoted.</a:t>
            </a:r>
          </a:p>
        </p:txBody>
      </p:sp>
      <p:sp>
        <p:nvSpPr>
          <p:cNvPr id="20" name="Rectangle 19"/>
          <p:cNvSpPr/>
          <p:nvPr/>
        </p:nvSpPr>
        <p:spPr>
          <a:xfrm>
            <a:off x="8036356" y="2139696"/>
            <a:ext cx="3332378" cy="2340864"/>
          </a:xfrm>
          <a:prstGeom prst="rect">
            <a:avLst/>
          </a:prstGeom>
          <a:solidFill>
            <a:srgbClr val="F4F7FB"/>
          </a:solidFill>
          <a:ln>
            <a:noFill/>
          </a:ln>
          <a:effectLst/>
        </p:spPr>
        <p:txBody>
          <a:bodyPr rtlCol="0" anchor="ctr"/>
          <a:lstStyle/>
          <a:p>
            <a:endParaRPr/>
          </a:p>
        </p:txBody>
      </p:sp>
      <p:sp>
        <p:nvSpPr>
          <p:cNvPr id="21" name="Rectangle 20"/>
          <p:cNvSpPr/>
          <p:nvPr/>
        </p:nvSpPr>
        <p:spPr>
          <a:xfrm>
            <a:off x="8036356" y="2139696"/>
            <a:ext cx="50292" cy="2340864"/>
          </a:xfrm>
          <a:prstGeom prst="rect">
            <a:avLst/>
          </a:prstGeom>
          <a:solidFill>
            <a:srgbClr val="C97D2D"/>
          </a:solidFill>
          <a:ln>
            <a:noFill/>
          </a:ln>
          <a:effectLst/>
        </p:spPr>
        <p:txBody>
          <a:bodyPr rtlCol="0" anchor="ctr"/>
          <a:lstStyle/>
          <a:p>
            <a:endParaRPr/>
          </a:p>
        </p:txBody>
      </p:sp>
      <p:sp>
        <p:nvSpPr>
          <p:cNvPr id="22" name="TextBox 21"/>
          <p:cNvSpPr txBox="1"/>
          <p:nvPr/>
        </p:nvSpPr>
        <p:spPr>
          <a:xfrm>
            <a:off x="8310676" y="2340864"/>
            <a:ext cx="2829458" cy="182880"/>
          </a:xfrm>
          <a:prstGeom prst="rect">
            <a:avLst/>
          </a:prstGeom>
          <a:noFill/>
        </p:spPr>
        <p:txBody>
          <a:bodyPr wrap="square" lIns="0" tIns="0" rIns="0" bIns="0" anchor="t">
            <a:spAutoFit/>
          </a:bodyPr>
          <a:lstStyle/>
          <a:p>
            <a:pPr algn="l">
              <a:lnSpc>
                <a:spcPct val="115000"/>
              </a:lnSpc>
              <a:spcAft>
                <a:spcPts val="0"/>
              </a:spcAft>
            </a:pPr>
            <a:r>
              <a:rPr sz="750" b="1" spc="150">
                <a:solidFill>
                  <a:srgbClr val="C97D2D"/>
                </a:solidFill>
                <a:latin typeface="Segoe UI"/>
              </a:rPr>
              <a:t>THE POINT</a:t>
            </a:r>
          </a:p>
        </p:txBody>
      </p:sp>
      <p:sp>
        <p:nvSpPr>
          <p:cNvPr id="23" name="TextBox 22"/>
          <p:cNvSpPr txBox="1"/>
          <p:nvPr/>
        </p:nvSpPr>
        <p:spPr>
          <a:xfrm>
            <a:off x="8310676" y="2560320"/>
            <a:ext cx="2829458" cy="512064"/>
          </a:xfrm>
          <a:prstGeom prst="rect">
            <a:avLst/>
          </a:prstGeom>
          <a:noFill/>
        </p:spPr>
        <p:txBody>
          <a:bodyPr wrap="square" lIns="0" tIns="0" rIns="0" bIns="0" anchor="t">
            <a:spAutoFit/>
          </a:bodyPr>
          <a:lstStyle/>
          <a:p>
            <a:pPr algn="l">
              <a:lnSpc>
                <a:spcPct val="110000"/>
              </a:lnSpc>
              <a:spcAft>
                <a:spcPts val="0"/>
              </a:spcAft>
            </a:pPr>
            <a:r>
              <a:rPr sz="1300" b="1">
                <a:solidFill>
                  <a:srgbClr val="1E3A5F"/>
                </a:solidFill>
                <a:latin typeface="Segoe UI"/>
              </a:rPr>
              <a:t>None of this is bespoke</a:t>
            </a:r>
          </a:p>
        </p:txBody>
      </p:sp>
      <p:sp>
        <p:nvSpPr>
          <p:cNvPr id="24" name="TextBox 23"/>
          <p:cNvSpPr txBox="1"/>
          <p:nvPr/>
        </p:nvSpPr>
        <p:spPr>
          <a:xfrm>
            <a:off x="8310676" y="3127248"/>
            <a:ext cx="2829458" cy="1170432"/>
          </a:xfrm>
          <a:prstGeom prst="rect">
            <a:avLst/>
          </a:prstGeom>
          <a:noFill/>
        </p:spPr>
        <p:txBody>
          <a:bodyPr wrap="square" lIns="0" tIns="0" rIns="0" bIns="0" anchor="t">
            <a:spAutoFit/>
          </a:bodyPr>
          <a:lstStyle/>
          <a:p>
            <a:pPr algn="l">
              <a:lnSpc>
                <a:spcPct val="138000"/>
              </a:lnSpc>
              <a:spcAft>
                <a:spcPts val="0"/>
              </a:spcAft>
            </a:pPr>
            <a:r>
              <a:rPr sz="950" b="0">
                <a:solidFill>
                  <a:srgbClr val="33475C"/>
                </a:solidFill>
                <a:latin typeface="Segoe UI"/>
              </a:rPr>
              <a:t>Six ordinary vendors and one chain. Swap any of them for the enterprise equivalent and the pattern survives intact — which is why this transfers to Enterprise Apps rather than staying a personal-productivity story.</a:t>
            </a:r>
          </a:p>
        </p:txBody>
      </p:sp>
      <p:sp>
        <p:nvSpPr>
          <p:cNvPr id="25" name="Rectangle 24"/>
          <p:cNvSpPr/>
          <p:nvPr/>
        </p:nvSpPr>
        <p:spPr>
          <a:xfrm>
            <a:off x="822960" y="4773168"/>
            <a:ext cx="10545775" cy="1389888"/>
          </a:xfrm>
          <a:prstGeom prst="rect">
            <a:avLst/>
          </a:prstGeom>
          <a:solidFill>
            <a:srgbClr val="F1F5FA"/>
          </a:solidFill>
          <a:ln>
            <a:noFill/>
          </a:ln>
          <a:effectLst/>
        </p:spPr>
        <p:txBody>
          <a:bodyPr rtlCol="0" anchor="ctr"/>
          <a:lstStyle/>
          <a:p>
            <a:endParaRPr/>
          </a:p>
        </p:txBody>
      </p:sp>
      <p:sp>
        <p:nvSpPr>
          <p:cNvPr id="26" name="Rectangle 25"/>
          <p:cNvSpPr/>
          <p:nvPr/>
        </p:nvSpPr>
        <p:spPr>
          <a:xfrm>
            <a:off x="822960" y="4773168"/>
            <a:ext cx="50292" cy="1389888"/>
          </a:xfrm>
          <a:prstGeom prst="rect">
            <a:avLst/>
          </a:prstGeom>
          <a:solidFill>
            <a:srgbClr val="1E3A5F"/>
          </a:solidFill>
          <a:ln>
            <a:noFill/>
          </a:ln>
          <a:effectLst/>
        </p:spPr>
        <p:txBody>
          <a:bodyPr rtlCol="0" anchor="ctr"/>
          <a:lstStyle/>
          <a:p>
            <a:endParaRPr/>
          </a:p>
        </p:txBody>
      </p:sp>
      <p:sp>
        <p:nvSpPr>
          <p:cNvPr id="27" name="TextBox 26"/>
          <p:cNvSpPr txBox="1"/>
          <p:nvPr/>
        </p:nvSpPr>
        <p:spPr>
          <a:xfrm>
            <a:off x="1097280" y="5010912"/>
            <a:ext cx="9997135" cy="182880"/>
          </a:xfrm>
          <a:prstGeom prst="rect">
            <a:avLst/>
          </a:prstGeom>
          <a:noFill/>
        </p:spPr>
        <p:txBody>
          <a:bodyPr wrap="square" lIns="0" tIns="0" rIns="0" bIns="0" anchor="t">
            <a:spAutoFit/>
          </a:bodyPr>
          <a:lstStyle/>
          <a:p>
            <a:pPr algn="l">
              <a:lnSpc>
                <a:spcPct val="115000"/>
              </a:lnSpc>
              <a:spcAft>
                <a:spcPts val="0"/>
              </a:spcAft>
            </a:pPr>
            <a:r>
              <a:rPr sz="800" b="1" spc="150">
                <a:solidFill>
                  <a:srgbClr val="1E3A5F"/>
                </a:solidFill>
                <a:latin typeface="Segoe UI"/>
              </a:rPr>
              <a:t>WATCH FOR THREE THINGS</a:t>
            </a:r>
          </a:p>
        </p:txBody>
      </p:sp>
      <p:sp>
        <p:nvSpPr>
          <p:cNvPr id="28" name="TextBox 27"/>
          <p:cNvSpPr txBox="1"/>
          <p:nvPr/>
        </p:nvSpPr>
        <p:spPr>
          <a:xfrm>
            <a:off x="1097280" y="5358384"/>
            <a:ext cx="320040" cy="228600"/>
          </a:xfrm>
          <a:prstGeom prst="rect">
            <a:avLst/>
          </a:prstGeom>
          <a:noFill/>
        </p:spPr>
        <p:txBody>
          <a:bodyPr wrap="square" lIns="0" tIns="0" rIns="0" bIns="0" anchor="t">
            <a:spAutoFit/>
          </a:bodyPr>
          <a:lstStyle/>
          <a:p>
            <a:pPr algn="l">
              <a:lnSpc>
                <a:spcPct val="115000"/>
              </a:lnSpc>
              <a:spcAft>
                <a:spcPts val="0"/>
              </a:spcAft>
            </a:pPr>
            <a:r>
              <a:rPr sz="1300" b="1">
                <a:solidFill>
                  <a:srgbClr val="4FB8B8"/>
                </a:solidFill>
                <a:latin typeface="Segoe UI"/>
              </a:rPr>
              <a:t>01</a:t>
            </a:r>
          </a:p>
        </p:txBody>
      </p:sp>
      <p:sp>
        <p:nvSpPr>
          <p:cNvPr id="29" name="TextBox 28"/>
          <p:cNvSpPr txBox="1"/>
          <p:nvPr/>
        </p:nvSpPr>
        <p:spPr>
          <a:xfrm>
            <a:off x="1481328" y="5376672"/>
            <a:ext cx="2765450" cy="640080"/>
          </a:xfrm>
          <a:prstGeom prst="rect">
            <a:avLst/>
          </a:prstGeom>
          <a:noFill/>
        </p:spPr>
        <p:txBody>
          <a:bodyPr wrap="square" lIns="0" tIns="0" rIns="0" bIns="0" anchor="t">
            <a:spAutoFit/>
          </a:bodyPr>
          <a:lstStyle/>
          <a:p>
            <a:pPr algn="l">
              <a:lnSpc>
                <a:spcPct val="136000"/>
              </a:lnSpc>
              <a:spcAft>
                <a:spcPts val="0"/>
              </a:spcAft>
            </a:pPr>
            <a:r>
              <a:rPr sz="950" b="0">
                <a:solidFill>
                  <a:srgbClr val="33475C"/>
                </a:solidFill>
                <a:latin typeface="Segoe UI"/>
              </a:rPr>
              <a:t>The specification is read live at plan time. It is never copied, restated or summarised into the build.</a:t>
            </a:r>
          </a:p>
        </p:txBody>
      </p:sp>
      <p:sp>
        <p:nvSpPr>
          <p:cNvPr id="30" name="TextBox 29"/>
          <p:cNvSpPr txBox="1"/>
          <p:nvPr/>
        </p:nvSpPr>
        <p:spPr>
          <a:xfrm>
            <a:off x="4521098" y="5358384"/>
            <a:ext cx="320040" cy="228600"/>
          </a:xfrm>
          <a:prstGeom prst="rect">
            <a:avLst/>
          </a:prstGeom>
          <a:noFill/>
        </p:spPr>
        <p:txBody>
          <a:bodyPr wrap="square" lIns="0" tIns="0" rIns="0" bIns="0" anchor="t">
            <a:spAutoFit/>
          </a:bodyPr>
          <a:lstStyle/>
          <a:p>
            <a:pPr algn="l">
              <a:lnSpc>
                <a:spcPct val="115000"/>
              </a:lnSpc>
              <a:spcAft>
                <a:spcPts val="0"/>
              </a:spcAft>
            </a:pPr>
            <a:r>
              <a:rPr sz="1300" b="1">
                <a:solidFill>
                  <a:srgbClr val="4FB8B8"/>
                </a:solidFill>
                <a:latin typeface="Segoe UI"/>
              </a:rPr>
              <a:t>02</a:t>
            </a:r>
          </a:p>
        </p:txBody>
      </p:sp>
      <p:sp>
        <p:nvSpPr>
          <p:cNvPr id="31" name="TextBox 30"/>
          <p:cNvSpPr txBox="1"/>
          <p:nvPr/>
        </p:nvSpPr>
        <p:spPr>
          <a:xfrm>
            <a:off x="4905146" y="5376672"/>
            <a:ext cx="2765450" cy="640080"/>
          </a:xfrm>
          <a:prstGeom prst="rect">
            <a:avLst/>
          </a:prstGeom>
          <a:noFill/>
        </p:spPr>
        <p:txBody>
          <a:bodyPr wrap="square" lIns="0" tIns="0" rIns="0" bIns="0" anchor="t">
            <a:spAutoFit/>
          </a:bodyPr>
          <a:lstStyle/>
          <a:p>
            <a:pPr algn="l">
              <a:lnSpc>
                <a:spcPct val="136000"/>
              </a:lnSpc>
              <a:spcAft>
                <a:spcPts val="0"/>
              </a:spcAft>
            </a:pPr>
            <a:r>
              <a:rPr sz="950" b="0">
                <a:solidFill>
                  <a:srgbClr val="33475C"/>
                </a:solidFill>
                <a:latin typeface="Segoe UI"/>
              </a:rPr>
              <a:t>The model never accepts its own work. Every generation is logged; a human decides whether it counts.</a:t>
            </a:r>
          </a:p>
        </p:txBody>
      </p:sp>
      <p:sp>
        <p:nvSpPr>
          <p:cNvPr id="32" name="TextBox 31"/>
          <p:cNvSpPr txBox="1"/>
          <p:nvPr/>
        </p:nvSpPr>
        <p:spPr>
          <a:xfrm>
            <a:off x="7944916" y="5358384"/>
            <a:ext cx="320040" cy="228600"/>
          </a:xfrm>
          <a:prstGeom prst="rect">
            <a:avLst/>
          </a:prstGeom>
          <a:noFill/>
        </p:spPr>
        <p:txBody>
          <a:bodyPr wrap="square" lIns="0" tIns="0" rIns="0" bIns="0" anchor="t">
            <a:spAutoFit/>
          </a:bodyPr>
          <a:lstStyle/>
          <a:p>
            <a:pPr algn="l">
              <a:lnSpc>
                <a:spcPct val="115000"/>
              </a:lnSpc>
              <a:spcAft>
                <a:spcPts val="0"/>
              </a:spcAft>
            </a:pPr>
            <a:r>
              <a:rPr sz="1300" b="1">
                <a:solidFill>
                  <a:srgbClr val="4FB8B8"/>
                </a:solidFill>
                <a:latin typeface="Segoe UI"/>
              </a:rPr>
              <a:t>03</a:t>
            </a:r>
          </a:p>
        </p:txBody>
      </p:sp>
      <p:sp>
        <p:nvSpPr>
          <p:cNvPr id="33" name="TextBox 32"/>
          <p:cNvSpPr txBox="1"/>
          <p:nvPr/>
        </p:nvSpPr>
        <p:spPr>
          <a:xfrm>
            <a:off x="8328964" y="5376672"/>
            <a:ext cx="2765450" cy="640080"/>
          </a:xfrm>
          <a:prstGeom prst="rect">
            <a:avLst/>
          </a:prstGeom>
          <a:noFill/>
        </p:spPr>
        <p:txBody>
          <a:bodyPr wrap="square" lIns="0" tIns="0" rIns="0" bIns="0" anchor="t">
            <a:spAutoFit/>
          </a:bodyPr>
          <a:lstStyle/>
          <a:p>
            <a:pPr algn="l">
              <a:lnSpc>
                <a:spcPct val="136000"/>
              </a:lnSpc>
              <a:spcAft>
                <a:spcPts val="0"/>
              </a:spcAft>
            </a:pPr>
            <a:r>
              <a:rPr sz="950" b="0">
                <a:solidFill>
                  <a:srgbClr val="33475C"/>
                </a:solidFill>
                <a:latin typeface="Segoe UI"/>
              </a:rPr>
              <a:t>Every sensitive write and its audit row commit in one transaction — or neither of them happens.</a:t>
            </a:r>
          </a:p>
        </p:txBody>
      </p:sp>
      <p:pic>
        <p:nvPicPr>
          <p:cNvPr id="35" name="Picture 34">
            <a:extLst>
              <a:ext uri="{FF2B5EF4-FFF2-40B4-BE49-F238E27FC236}">
                <a16:creationId xmlns:a16="http://schemas.microsoft.com/office/drawing/2014/main" id="{00D3BF44-EC27-B79D-ED74-A7A0E47298F9}"/>
              </a:ext>
            </a:extLst>
          </p:cNvPr>
          <p:cNvPicPr>
            <a:picLocks noChangeAspect="1"/>
          </p:cNvPicPr>
          <p:nvPr/>
        </p:nvPicPr>
        <p:blipFill>
          <a:blip r:embed="rId3"/>
          <a:stretch>
            <a:fillRect/>
          </a:stretch>
        </p:blipFill>
        <p:spPr>
          <a:xfrm>
            <a:off x="10322918" y="512506"/>
            <a:ext cx="1407734" cy="14077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84048" y="219456"/>
            <a:ext cx="7315200" cy="384048"/>
          </a:xfrm>
          <a:prstGeom prst="rect">
            <a:avLst/>
          </a:prstGeom>
          <a:noFill/>
          <a:ln/>
        </p:spPr>
        <p:txBody>
          <a:bodyPr wrap="square" lIns="0" tIns="0" rIns="0" bIns="0" rtlCol="0" anchor="ctr"/>
          <a:lstStyle/>
          <a:p>
            <a:pPr marL="0" indent="0">
              <a:buNone/>
            </a:pPr>
            <a:r>
              <a:rPr lang="en-US" sz="2400" b="1" dirty="0">
                <a:solidFill>
                  <a:srgbClr val="0F1518"/>
                </a:solidFill>
                <a:latin typeface="Calibri" pitchFamily="34" charset="0"/>
                <a:ea typeface="Calibri" pitchFamily="34" charset="-122"/>
                <a:cs typeface="Calibri" pitchFamily="34" charset="-120"/>
              </a:rPr>
              <a:t>AI Platform — Architecture</a:t>
            </a:r>
            <a:endParaRPr lang="en-US" sz="2400" dirty="0"/>
          </a:p>
        </p:txBody>
      </p:sp>
      <p:sp>
        <p:nvSpPr>
          <p:cNvPr id="5" name="Shape 3"/>
          <p:cNvSpPr/>
          <p:nvPr/>
        </p:nvSpPr>
        <p:spPr>
          <a:xfrm>
            <a:off x="384048" y="676656"/>
            <a:ext cx="11430000" cy="0"/>
          </a:xfrm>
          <a:prstGeom prst="line">
            <a:avLst/>
          </a:prstGeom>
          <a:noFill/>
          <a:ln w="12700">
            <a:solidFill>
              <a:srgbClr val="D5DCDD"/>
            </a:solidFill>
            <a:prstDash val="solid"/>
          </a:ln>
        </p:spPr>
        <p:txBody>
          <a:bodyPr/>
          <a:lstStyle/>
          <a:p>
            <a:endParaRPr lang="en-AU"/>
          </a:p>
        </p:txBody>
      </p:sp>
      <p:sp>
        <p:nvSpPr>
          <p:cNvPr id="6" name="Text 4"/>
          <p:cNvSpPr txBox="1"/>
          <p:nvPr/>
        </p:nvSpPr>
        <p:spPr>
          <a:xfrm>
            <a:off x="384048" y="786384"/>
            <a:ext cx="7315200" cy="164592"/>
          </a:xfrm>
          <a:prstGeom prst="rect">
            <a:avLst/>
          </a:prstGeom>
          <a:noFill/>
          <a:ln/>
        </p:spPr>
        <p:txBody>
          <a:bodyPr wrap="square" lIns="0" tIns="0" rIns="0" bIns="0" rtlCol="0" anchor="ctr"/>
          <a:lstStyle/>
          <a:p>
            <a:pPr marL="0" indent="0">
              <a:buNone/>
            </a:pPr>
            <a:r>
              <a:rPr lang="en-US" sz="850" b="1" kern="0" spc="80" dirty="0">
                <a:solidFill>
                  <a:srgbClr val="1D5FC4"/>
                </a:solidFill>
                <a:latin typeface="Calibri" pitchFamily="34" charset="0"/>
                <a:ea typeface="Calibri" pitchFamily="34" charset="-122"/>
                <a:cs typeface="Calibri" pitchFamily="34" charset="-120"/>
              </a:rPr>
              <a:t>SPECIFICATION &amp; DELIVERY</a:t>
            </a:r>
            <a:endParaRPr lang="en-US" sz="850" dirty="0"/>
          </a:p>
        </p:txBody>
      </p:sp>
      <p:sp>
        <p:nvSpPr>
          <p:cNvPr id="7" name="Shape 5"/>
          <p:cNvSpPr/>
          <p:nvPr/>
        </p:nvSpPr>
        <p:spPr>
          <a:xfrm>
            <a:off x="384048" y="950976"/>
            <a:ext cx="1783080" cy="493776"/>
          </a:xfrm>
          <a:prstGeom prst="roundRect">
            <a:avLst>
              <a:gd name="adj" fmla="val 7407"/>
            </a:avLst>
          </a:prstGeom>
          <a:solidFill>
            <a:srgbClr val="FFFFFF"/>
          </a:solidFill>
          <a:ln w="15875">
            <a:solidFill>
              <a:srgbClr val="8B979A"/>
            </a:solidFill>
            <a:prstDash val="dash"/>
          </a:ln>
        </p:spPr>
        <p:txBody>
          <a:bodyPr/>
          <a:lstStyle/>
          <a:p>
            <a:endParaRPr lang="en-AU"/>
          </a:p>
        </p:txBody>
      </p:sp>
      <p:sp>
        <p:nvSpPr>
          <p:cNvPr id="8" name="Text 6"/>
          <p:cNvSpPr txBox="1"/>
          <p:nvPr/>
        </p:nvSpPr>
        <p:spPr>
          <a:xfrm>
            <a:off x="502920" y="1033272"/>
            <a:ext cx="3657600" cy="182880"/>
          </a:xfrm>
          <a:prstGeom prst="rect">
            <a:avLst/>
          </a:prstGeom>
          <a:noFill/>
          <a:ln/>
        </p:spPr>
        <p:txBody>
          <a:bodyPr wrap="square" lIns="0" tIns="0" rIns="0" bIns="0" rtlCol="0" anchor="t"/>
          <a:lstStyle/>
          <a:p>
            <a:pPr marL="0" indent="0">
              <a:buNone/>
            </a:pPr>
            <a:r>
              <a:rPr lang="en-US" sz="1050" b="1" dirty="0">
                <a:solidFill>
                  <a:srgbClr val="0F1518"/>
                </a:solidFill>
                <a:latin typeface="Calibri" pitchFamily="34" charset="0"/>
                <a:ea typeface="Calibri" pitchFamily="34" charset="-122"/>
                <a:cs typeface="Calibri" pitchFamily="34" charset="-120"/>
              </a:rPr>
              <a:t>Discovery</a:t>
            </a:r>
            <a:endParaRPr lang="en-US" sz="1050" dirty="0"/>
          </a:p>
        </p:txBody>
      </p:sp>
      <p:sp>
        <p:nvSpPr>
          <p:cNvPr id="9" name="Text 7"/>
          <p:cNvSpPr txBox="1"/>
          <p:nvPr/>
        </p:nvSpPr>
        <p:spPr>
          <a:xfrm>
            <a:off x="502920" y="1207008"/>
            <a:ext cx="1600200" cy="164592"/>
          </a:xfrm>
          <a:prstGeom prst="rect">
            <a:avLst/>
          </a:prstGeom>
          <a:noFill/>
          <a:ln/>
        </p:spPr>
        <p:txBody>
          <a:bodyPr wrap="square" lIns="0" tIns="0" rIns="0" bIns="0" rtlCol="0" anchor="t"/>
          <a:lstStyle/>
          <a:p>
            <a:pPr marL="0" indent="0">
              <a:lnSpc>
                <a:spcPct val="115000"/>
              </a:lnSpc>
              <a:buNone/>
            </a:pPr>
            <a:r>
              <a:rPr lang="en-US" sz="700" dirty="0">
                <a:solidFill>
                  <a:srgbClr val="5B6A6E"/>
                </a:solidFill>
                <a:latin typeface="Consolas" pitchFamily="34" charset="0"/>
                <a:ea typeface="Consolas" pitchFamily="34" charset="-122"/>
                <a:cs typeface="Consolas" pitchFamily="34" charset="-120"/>
              </a:rPr>
              <a:t>a source for humans only</a:t>
            </a:r>
            <a:endParaRPr lang="en-US" sz="700" dirty="0"/>
          </a:p>
        </p:txBody>
      </p:sp>
      <p:sp>
        <p:nvSpPr>
          <p:cNvPr id="10" name="Shape 8"/>
          <p:cNvSpPr/>
          <p:nvPr/>
        </p:nvSpPr>
        <p:spPr>
          <a:xfrm>
            <a:off x="2578608" y="950976"/>
            <a:ext cx="1783080" cy="493776"/>
          </a:xfrm>
          <a:prstGeom prst="roundRect">
            <a:avLst>
              <a:gd name="adj" fmla="val 7407"/>
            </a:avLst>
          </a:prstGeom>
          <a:solidFill>
            <a:srgbClr val="FFFFFF"/>
          </a:solidFill>
          <a:ln w="15875">
            <a:solidFill>
              <a:srgbClr val="1D5FC4"/>
            </a:solidFill>
            <a:prstDash val="solid"/>
          </a:ln>
        </p:spPr>
        <p:txBody>
          <a:bodyPr/>
          <a:lstStyle/>
          <a:p>
            <a:endParaRPr lang="en-AU"/>
          </a:p>
        </p:txBody>
      </p:sp>
      <p:sp>
        <p:nvSpPr>
          <p:cNvPr id="11" name="Text 9"/>
          <p:cNvSpPr txBox="1"/>
          <p:nvPr/>
        </p:nvSpPr>
        <p:spPr>
          <a:xfrm>
            <a:off x="2697480" y="1033272"/>
            <a:ext cx="3657600" cy="182880"/>
          </a:xfrm>
          <a:prstGeom prst="rect">
            <a:avLst/>
          </a:prstGeom>
          <a:noFill/>
          <a:ln/>
        </p:spPr>
        <p:txBody>
          <a:bodyPr wrap="square" lIns="0" tIns="0" rIns="0" bIns="0" rtlCol="0" anchor="t"/>
          <a:lstStyle/>
          <a:p>
            <a:pPr marL="0" indent="0">
              <a:buNone/>
            </a:pPr>
            <a:r>
              <a:rPr lang="en-US" sz="1050" b="1" dirty="0">
                <a:solidFill>
                  <a:srgbClr val="0F1518"/>
                </a:solidFill>
                <a:latin typeface="Calibri" pitchFamily="34" charset="0"/>
                <a:ea typeface="Calibri" pitchFamily="34" charset="-122"/>
                <a:cs typeface="Calibri" pitchFamily="34" charset="-120"/>
              </a:rPr>
              <a:t>Specification of record</a:t>
            </a:r>
            <a:endParaRPr lang="en-US" sz="1050" dirty="0"/>
          </a:p>
        </p:txBody>
      </p:sp>
      <p:sp>
        <p:nvSpPr>
          <p:cNvPr id="12" name="Text 10"/>
          <p:cNvSpPr txBox="1"/>
          <p:nvPr/>
        </p:nvSpPr>
        <p:spPr>
          <a:xfrm>
            <a:off x="2697480" y="1207008"/>
            <a:ext cx="1600200" cy="164592"/>
          </a:xfrm>
          <a:prstGeom prst="rect">
            <a:avLst/>
          </a:prstGeom>
          <a:noFill/>
          <a:ln/>
        </p:spPr>
        <p:txBody>
          <a:bodyPr wrap="square" lIns="0" tIns="0" rIns="0" bIns="0" rtlCol="0" anchor="t"/>
          <a:lstStyle/>
          <a:p>
            <a:pPr marL="0" indent="0">
              <a:lnSpc>
                <a:spcPct val="115000"/>
              </a:lnSpc>
              <a:buNone/>
            </a:pPr>
            <a:r>
              <a:rPr lang="en-US" sz="700" dirty="0">
                <a:solidFill>
                  <a:srgbClr val="5B6A6E"/>
                </a:solidFill>
                <a:latin typeface="Consolas" pitchFamily="34" charset="0"/>
                <a:ea typeface="Consolas" pitchFamily="34" charset="-122"/>
                <a:cs typeface="Consolas" pitchFamily="34" charset="-120"/>
              </a:rPr>
              <a:t>stories + ACs, read live</a:t>
            </a:r>
            <a:endParaRPr lang="en-US" sz="700" dirty="0"/>
          </a:p>
        </p:txBody>
      </p:sp>
      <p:sp>
        <p:nvSpPr>
          <p:cNvPr id="13" name="Shape 11"/>
          <p:cNvSpPr/>
          <p:nvPr/>
        </p:nvSpPr>
        <p:spPr>
          <a:xfrm>
            <a:off x="4773168" y="950976"/>
            <a:ext cx="1783080" cy="493776"/>
          </a:xfrm>
          <a:prstGeom prst="roundRect">
            <a:avLst>
              <a:gd name="adj" fmla="val 7407"/>
            </a:avLst>
          </a:prstGeom>
          <a:solidFill>
            <a:srgbClr val="FFFFFF"/>
          </a:solidFill>
          <a:ln w="15875">
            <a:solidFill>
              <a:srgbClr val="1D5FC4"/>
            </a:solidFill>
            <a:prstDash val="solid"/>
          </a:ln>
        </p:spPr>
        <p:txBody>
          <a:bodyPr/>
          <a:lstStyle/>
          <a:p>
            <a:endParaRPr lang="en-AU"/>
          </a:p>
        </p:txBody>
      </p:sp>
      <p:sp>
        <p:nvSpPr>
          <p:cNvPr id="14" name="Text 12"/>
          <p:cNvSpPr txBox="1"/>
          <p:nvPr/>
        </p:nvSpPr>
        <p:spPr>
          <a:xfrm>
            <a:off x="4892040" y="1033272"/>
            <a:ext cx="3657600" cy="182880"/>
          </a:xfrm>
          <a:prstGeom prst="rect">
            <a:avLst/>
          </a:prstGeom>
          <a:noFill/>
          <a:ln/>
        </p:spPr>
        <p:txBody>
          <a:bodyPr wrap="square" lIns="0" tIns="0" rIns="0" bIns="0" rtlCol="0" anchor="t"/>
          <a:lstStyle/>
          <a:p>
            <a:pPr marL="0" indent="0">
              <a:buNone/>
            </a:pPr>
            <a:r>
              <a:rPr lang="en-US" sz="1050" b="1" dirty="0">
                <a:solidFill>
                  <a:srgbClr val="0F1518"/>
                </a:solidFill>
                <a:latin typeface="Calibri" pitchFamily="34" charset="0"/>
                <a:ea typeface="Calibri" pitchFamily="34" charset="-122"/>
                <a:cs typeface="Calibri" pitchFamily="34" charset="-120"/>
              </a:rPr>
              <a:t>Source repository</a:t>
            </a:r>
            <a:endParaRPr lang="en-US" sz="1050" dirty="0"/>
          </a:p>
        </p:txBody>
      </p:sp>
      <p:sp>
        <p:nvSpPr>
          <p:cNvPr id="15" name="Text 13"/>
          <p:cNvSpPr txBox="1"/>
          <p:nvPr/>
        </p:nvSpPr>
        <p:spPr>
          <a:xfrm>
            <a:off x="4892040" y="1207008"/>
            <a:ext cx="1600200" cy="164592"/>
          </a:xfrm>
          <a:prstGeom prst="rect">
            <a:avLst/>
          </a:prstGeom>
          <a:noFill/>
          <a:ln/>
        </p:spPr>
        <p:txBody>
          <a:bodyPr wrap="square" lIns="0" tIns="0" rIns="0" bIns="0" rtlCol="0" anchor="t"/>
          <a:lstStyle/>
          <a:p>
            <a:pPr marL="0" indent="0">
              <a:lnSpc>
                <a:spcPct val="115000"/>
              </a:lnSpc>
              <a:buNone/>
            </a:pPr>
            <a:r>
              <a:rPr lang="en-US" sz="700" dirty="0">
                <a:solidFill>
                  <a:srgbClr val="5B6A6E"/>
                </a:solidFill>
                <a:latin typeface="Consolas" pitchFamily="34" charset="0"/>
                <a:ea typeface="Consolas" pitchFamily="34" charset="-122"/>
                <a:cs typeface="Consolas" pitchFamily="34" charset="-120"/>
              </a:rPr>
              <a:t>private · protected · squash</a:t>
            </a:r>
            <a:endParaRPr lang="en-US" sz="700" dirty="0"/>
          </a:p>
        </p:txBody>
      </p:sp>
      <p:sp>
        <p:nvSpPr>
          <p:cNvPr id="16" name="Shape 14"/>
          <p:cNvSpPr/>
          <p:nvPr/>
        </p:nvSpPr>
        <p:spPr>
          <a:xfrm>
            <a:off x="2578608" y="1591056"/>
            <a:ext cx="1783080" cy="493776"/>
          </a:xfrm>
          <a:prstGeom prst="roundRect">
            <a:avLst>
              <a:gd name="adj" fmla="val 7407"/>
            </a:avLst>
          </a:prstGeom>
          <a:solidFill>
            <a:srgbClr val="FFFFFF"/>
          </a:solidFill>
          <a:ln w="15875">
            <a:solidFill>
              <a:srgbClr val="1D5FC4"/>
            </a:solidFill>
            <a:prstDash val="solid"/>
          </a:ln>
        </p:spPr>
        <p:txBody>
          <a:bodyPr/>
          <a:lstStyle/>
          <a:p>
            <a:endParaRPr lang="en-AU"/>
          </a:p>
        </p:txBody>
      </p:sp>
      <p:sp>
        <p:nvSpPr>
          <p:cNvPr id="17" name="Text 15"/>
          <p:cNvSpPr txBox="1"/>
          <p:nvPr/>
        </p:nvSpPr>
        <p:spPr>
          <a:xfrm>
            <a:off x="2697480" y="1673352"/>
            <a:ext cx="3657600" cy="182880"/>
          </a:xfrm>
          <a:prstGeom prst="rect">
            <a:avLst/>
          </a:prstGeom>
          <a:noFill/>
          <a:ln/>
        </p:spPr>
        <p:txBody>
          <a:bodyPr wrap="square" lIns="0" tIns="0" rIns="0" bIns="0" rtlCol="0" anchor="t"/>
          <a:lstStyle/>
          <a:p>
            <a:pPr marL="0" indent="0">
              <a:buNone/>
            </a:pPr>
            <a:r>
              <a:rPr lang="en-US" sz="1050" b="1" dirty="0">
                <a:solidFill>
                  <a:srgbClr val="0F1518"/>
                </a:solidFill>
                <a:latin typeface="Calibri" pitchFamily="34" charset="0"/>
                <a:ea typeface="Calibri" pitchFamily="34" charset="-122"/>
                <a:cs typeface="Calibri" pitchFamily="34" charset="-120"/>
              </a:rPr>
              <a:t>Test management</a:t>
            </a:r>
            <a:endParaRPr lang="en-US" sz="1050" dirty="0"/>
          </a:p>
        </p:txBody>
      </p:sp>
      <p:sp>
        <p:nvSpPr>
          <p:cNvPr id="18" name="Text 16"/>
          <p:cNvSpPr txBox="1"/>
          <p:nvPr/>
        </p:nvSpPr>
        <p:spPr>
          <a:xfrm>
            <a:off x="2697480" y="1847088"/>
            <a:ext cx="1600200" cy="164592"/>
          </a:xfrm>
          <a:prstGeom prst="rect">
            <a:avLst/>
          </a:prstGeom>
          <a:noFill/>
          <a:ln/>
        </p:spPr>
        <p:txBody>
          <a:bodyPr wrap="square" lIns="0" tIns="0" rIns="0" bIns="0" rtlCol="0" anchor="t"/>
          <a:lstStyle/>
          <a:p>
            <a:pPr marL="0" indent="0">
              <a:lnSpc>
                <a:spcPct val="115000"/>
              </a:lnSpc>
              <a:buNone/>
            </a:pPr>
            <a:r>
              <a:rPr lang="en-US" sz="700" dirty="0">
                <a:solidFill>
                  <a:srgbClr val="5B6A6E"/>
                </a:solidFill>
                <a:latin typeface="Consolas" pitchFamily="34" charset="0"/>
                <a:ea typeface="Consolas" pitchFamily="34" charset="-122"/>
                <a:cs typeface="Consolas" pitchFamily="34" charset="-120"/>
              </a:rPr>
              <a:t>an app inside the spec tool</a:t>
            </a:r>
            <a:endParaRPr lang="en-US" sz="700" dirty="0"/>
          </a:p>
        </p:txBody>
      </p:sp>
      <p:sp>
        <p:nvSpPr>
          <p:cNvPr id="19" name="Shape 17"/>
          <p:cNvSpPr/>
          <p:nvPr/>
        </p:nvSpPr>
        <p:spPr>
          <a:xfrm>
            <a:off x="4773168" y="1591056"/>
            <a:ext cx="1783080" cy="493776"/>
          </a:xfrm>
          <a:prstGeom prst="roundRect">
            <a:avLst>
              <a:gd name="adj" fmla="val 7407"/>
            </a:avLst>
          </a:prstGeom>
          <a:solidFill>
            <a:srgbClr val="FFFFFF"/>
          </a:solidFill>
          <a:ln w="15875">
            <a:solidFill>
              <a:srgbClr val="1D5FC4"/>
            </a:solidFill>
            <a:prstDash val="solid"/>
          </a:ln>
        </p:spPr>
        <p:txBody>
          <a:bodyPr/>
          <a:lstStyle/>
          <a:p>
            <a:endParaRPr lang="en-AU"/>
          </a:p>
        </p:txBody>
      </p:sp>
      <p:sp>
        <p:nvSpPr>
          <p:cNvPr id="20" name="Text 18"/>
          <p:cNvSpPr txBox="1"/>
          <p:nvPr/>
        </p:nvSpPr>
        <p:spPr>
          <a:xfrm>
            <a:off x="4892040" y="1673352"/>
            <a:ext cx="3657600" cy="182880"/>
          </a:xfrm>
          <a:prstGeom prst="rect">
            <a:avLst/>
          </a:prstGeom>
          <a:noFill/>
          <a:ln/>
        </p:spPr>
        <p:txBody>
          <a:bodyPr wrap="square" lIns="0" tIns="0" rIns="0" bIns="0" rtlCol="0" anchor="t"/>
          <a:lstStyle/>
          <a:p>
            <a:pPr marL="0" indent="0">
              <a:buNone/>
            </a:pPr>
            <a:r>
              <a:rPr lang="en-US" sz="1050" b="1" dirty="0">
                <a:solidFill>
                  <a:srgbClr val="0F1518"/>
                </a:solidFill>
                <a:latin typeface="Calibri" pitchFamily="34" charset="0"/>
                <a:ea typeface="Calibri" pitchFamily="34" charset="-122"/>
                <a:cs typeface="Calibri" pitchFamily="34" charset="-120"/>
              </a:rPr>
              <a:t>Acceptance harness</a:t>
            </a:r>
            <a:endParaRPr lang="en-US" sz="1050" dirty="0"/>
          </a:p>
        </p:txBody>
      </p:sp>
      <p:sp>
        <p:nvSpPr>
          <p:cNvPr id="21" name="Text 19"/>
          <p:cNvSpPr txBox="1"/>
          <p:nvPr/>
        </p:nvSpPr>
        <p:spPr>
          <a:xfrm>
            <a:off x="4892040" y="1847088"/>
            <a:ext cx="1600200" cy="164592"/>
          </a:xfrm>
          <a:prstGeom prst="rect">
            <a:avLst/>
          </a:prstGeom>
          <a:noFill/>
          <a:ln/>
        </p:spPr>
        <p:txBody>
          <a:bodyPr wrap="square" lIns="0" tIns="0" rIns="0" bIns="0" rtlCol="0" anchor="t"/>
          <a:lstStyle/>
          <a:p>
            <a:pPr marL="0" indent="0">
              <a:lnSpc>
                <a:spcPct val="115000"/>
              </a:lnSpc>
              <a:buNone/>
            </a:pPr>
            <a:r>
              <a:rPr lang="en-US" sz="700" dirty="0">
                <a:solidFill>
                  <a:srgbClr val="5B6A6E"/>
                </a:solidFill>
                <a:latin typeface="Consolas" pitchFamily="34" charset="0"/>
                <a:ea typeface="Consolas" pitchFamily="34" charset="-122"/>
                <a:cs typeface="Consolas" pitchFamily="34" charset="-120"/>
              </a:rPr>
              <a:t>27 browser specs</a:t>
            </a:r>
            <a:endParaRPr lang="en-US" sz="700" dirty="0"/>
          </a:p>
        </p:txBody>
      </p:sp>
      <p:sp>
        <p:nvSpPr>
          <p:cNvPr id="22" name="Shape 20"/>
          <p:cNvSpPr/>
          <p:nvPr/>
        </p:nvSpPr>
        <p:spPr>
          <a:xfrm>
            <a:off x="2212848" y="1197864"/>
            <a:ext cx="320040" cy="0"/>
          </a:xfrm>
          <a:prstGeom prst="line">
            <a:avLst/>
          </a:prstGeom>
          <a:noFill/>
          <a:ln w="13970">
            <a:solidFill>
              <a:srgbClr val="46545A"/>
            </a:solidFill>
            <a:prstDash val="solid"/>
            <a:headEnd type="none"/>
            <a:tailEnd type="triangle"/>
          </a:ln>
        </p:spPr>
        <p:txBody>
          <a:bodyPr/>
          <a:lstStyle/>
          <a:p>
            <a:endParaRPr lang="en-AU"/>
          </a:p>
        </p:txBody>
      </p:sp>
      <p:sp>
        <p:nvSpPr>
          <p:cNvPr id="23" name="Text 21"/>
          <p:cNvSpPr txBox="1"/>
          <p:nvPr/>
        </p:nvSpPr>
        <p:spPr>
          <a:xfrm>
            <a:off x="2167128" y="1042416"/>
            <a:ext cx="411480" cy="128016"/>
          </a:xfrm>
          <a:prstGeom prst="rect">
            <a:avLst/>
          </a:prstGeom>
          <a:noFill/>
          <a:ln/>
        </p:spPr>
        <p:txBody>
          <a:bodyPr wrap="square" lIns="0" tIns="0" rIns="0" bIns="0" rtlCol="0" anchor="ctr"/>
          <a:lstStyle/>
          <a:p>
            <a:pPr marL="0" indent="0" algn="ctr">
              <a:buNone/>
            </a:pPr>
            <a:r>
              <a:rPr lang="en-US" sz="700" dirty="0">
                <a:solidFill>
                  <a:srgbClr val="46545A"/>
                </a:solidFill>
                <a:latin typeface="Consolas" pitchFamily="34" charset="0"/>
                <a:ea typeface="Consolas" pitchFamily="34" charset="-122"/>
                <a:cs typeface="Consolas" pitchFamily="34" charset="-120"/>
              </a:rPr>
              <a:t>canvas</a:t>
            </a:r>
            <a:endParaRPr lang="en-US" sz="700" dirty="0"/>
          </a:p>
        </p:txBody>
      </p:sp>
      <p:sp>
        <p:nvSpPr>
          <p:cNvPr id="24" name="Shape 22"/>
          <p:cNvSpPr/>
          <p:nvPr/>
        </p:nvSpPr>
        <p:spPr>
          <a:xfrm>
            <a:off x="4407408" y="1197864"/>
            <a:ext cx="320040" cy="0"/>
          </a:xfrm>
          <a:prstGeom prst="line">
            <a:avLst/>
          </a:prstGeom>
          <a:noFill/>
          <a:ln w="13970">
            <a:solidFill>
              <a:srgbClr val="46545A"/>
            </a:solidFill>
            <a:prstDash val="solid"/>
            <a:headEnd type="none"/>
            <a:tailEnd type="triangle"/>
          </a:ln>
        </p:spPr>
        <p:txBody>
          <a:bodyPr/>
          <a:lstStyle/>
          <a:p>
            <a:endParaRPr lang="en-AU"/>
          </a:p>
        </p:txBody>
      </p:sp>
      <p:sp>
        <p:nvSpPr>
          <p:cNvPr id="25" name="Text 23"/>
          <p:cNvSpPr txBox="1"/>
          <p:nvPr/>
        </p:nvSpPr>
        <p:spPr>
          <a:xfrm>
            <a:off x="4361688" y="1042416"/>
            <a:ext cx="411480" cy="128016"/>
          </a:xfrm>
          <a:prstGeom prst="rect">
            <a:avLst/>
          </a:prstGeom>
          <a:noFill/>
          <a:ln/>
        </p:spPr>
        <p:txBody>
          <a:bodyPr wrap="square" lIns="0" tIns="0" rIns="0" bIns="0" rtlCol="0" anchor="ctr"/>
          <a:lstStyle/>
          <a:p>
            <a:pPr marL="0" indent="0" algn="ctr">
              <a:buNone/>
            </a:pPr>
            <a:r>
              <a:rPr lang="en-US" sz="700" dirty="0">
                <a:solidFill>
                  <a:srgbClr val="46545A"/>
                </a:solidFill>
                <a:latin typeface="Consolas" pitchFamily="34" charset="0"/>
                <a:ea typeface="Consolas" pitchFamily="34" charset="-122"/>
                <a:cs typeface="Consolas" pitchFamily="34" charset="-120"/>
              </a:rPr>
              <a:t>stories</a:t>
            </a:r>
            <a:endParaRPr lang="en-US" sz="700" dirty="0"/>
          </a:p>
        </p:txBody>
      </p:sp>
      <p:sp>
        <p:nvSpPr>
          <p:cNvPr id="26" name="Shape 24"/>
          <p:cNvSpPr/>
          <p:nvPr/>
        </p:nvSpPr>
        <p:spPr>
          <a:xfrm>
            <a:off x="2926080" y="1463040"/>
            <a:ext cx="0" cy="109728"/>
          </a:xfrm>
          <a:prstGeom prst="line">
            <a:avLst/>
          </a:prstGeom>
          <a:noFill/>
          <a:ln w="13970">
            <a:solidFill>
              <a:srgbClr val="46545A"/>
            </a:solidFill>
            <a:prstDash val="solid"/>
            <a:headEnd type="none"/>
            <a:tailEnd type="triangle"/>
          </a:ln>
        </p:spPr>
        <p:txBody>
          <a:bodyPr/>
          <a:lstStyle/>
          <a:p>
            <a:endParaRPr lang="en-AU"/>
          </a:p>
        </p:txBody>
      </p:sp>
      <p:sp>
        <p:nvSpPr>
          <p:cNvPr id="27" name="Text 25"/>
          <p:cNvSpPr txBox="1"/>
          <p:nvPr/>
        </p:nvSpPr>
        <p:spPr>
          <a:xfrm>
            <a:off x="3017520" y="1453896"/>
            <a:ext cx="822960" cy="128016"/>
          </a:xfrm>
          <a:prstGeom prst="rect">
            <a:avLst/>
          </a:prstGeom>
          <a:noFill/>
          <a:ln/>
        </p:spPr>
        <p:txBody>
          <a:bodyPr wrap="square" lIns="0" tIns="0" rIns="0" bIns="0" rtlCol="0" anchor="ctr"/>
          <a:lstStyle/>
          <a:p>
            <a:pPr marL="0" indent="0">
              <a:buNone/>
            </a:pPr>
            <a:r>
              <a:rPr lang="en-US" sz="700" dirty="0">
                <a:solidFill>
                  <a:srgbClr val="46545A"/>
                </a:solidFill>
                <a:latin typeface="Consolas" pitchFamily="34" charset="0"/>
                <a:ea typeface="Consolas" pitchFamily="34" charset="-122"/>
                <a:cs typeface="Consolas" pitchFamily="34" charset="-120"/>
              </a:rPr>
              <a:t>test cases</a:t>
            </a:r>
            <a:endParaRPr lang="en-US" sz="700" dirty="0"/>
          </a:p>
        </p:txBody>
      </p:sp>
      <p:sp>
        <p:nvSpPr>
          <p:cNvPr id="28" name="Shape 26"/>
          <p:cNvSpPr/>
          <p:nvPr/>
        </p:nvSpPr>
        <p:spPr>
          <a:xfrm>
            <a:off x="4407408" y="1792224"/>
            <a:ext cx="320040" cy="0"/>
          </a:xfrm>
          <a:prstGeom prst="line">
            <a:avLst/>
          </a:prstGeom>
          <a:noFill/>
          <a:ln w="13970">
            <a:solidFill>
              <a:srgbClr val="46545A"/>
            </a:solidFill>
            <a:prstDash val="solid"/>
            <a:headEnd type="none"/>
            <a:tailEnd type="triangle"/>
          </a:ln>
        </p:spPr>
        <p:txBody>
          <a:bodyPr/>
          <a:lstStyle/>
          <a:p>
            <a:endParaRPr lang="en-AU"/>
          </a:p>
        </p:txBody>
      </p:sp>
      <p:sp>
        <p:nvSpPr>
          <p:cNvPr id="29" name="Text 27"/>
          <p:cNvSpPr txBox="1"/>
          <p:nvPr/>
        </p:nvSpPr>
        <p:spPr>
          <a:xfrm>
            <a:off x="4361688" y="1645920"/>
            <a:ext cx="411480" cy="128016"/>
          </a:xfrm>
          <a:prstGeom prst="rect">
            <a:avLst/>
          </a:prstGeom>
          <a:noFill/>
          <a:ln/>
        </p:spPr>
        <p:txBody>
          <a:bodyPr wrap="square" lIns="0" tIns="0" rIns="0" bIns="0" rtlCol="0" anchor="ctr"/>
          <a:lstStyle/>
          <a:p>
            <a:pPr marL="0" indent="0" algn="ctr">
              <a:buNone/>
            </a:pPr>
            <a:r>
              <a:rPr lang="en-US" sz="700" dirty="0">
                <a:solidFill>
                  <a:srgbClr val="46545A"/>
                </a:solidFill>
                <a:latin typeface="Consolas" pitchFamily="34" charset="0"/>
                <a:ea typeface="Consolas" pitchFamily="34" charset="-122"/>
                <a:cs typeface="Consolas" pitchFamily="34" charset="-120"/>
              </a:rPr>
              <a:t>specs</a:t>
            </a:r>
            <a:endParaRPr lang="en-US" sz="700" dirty="0"/>
          </a:p>
        </p:txBody>
      </p:sp>
      <p:sp>
        <p:nvSpPr>
          <p:cNvPr id="30" name="Shape 28"/>
          <p:cNvSpPr/>
          <p:nvPr/>
        </p:nvSpPr>
        <p:spPr>
          <a:xfrm>
            <a:off x="4407408" y="1975104"/>
            <a:ext cx="320040" cy="0"/>
          </a:xfrm>
          <a:prstGeom prst="line">
            <a:avLst/>
          </a:prstGeom>
          <a:noFill/>
          <a:ln w="13970">
            <a:solidFill>
              <a:srgbClr val="7C8A8E"/>
            </a:solidFill>
            <a:prstDash val="dash"/>
            <a:headEnd type="triangle"/>
            <a:tailEnd type="none"/>
          </a:ln>
        </p:spPr>
        <p:txBody>
          <a:bodyPr/>
          <a:lstStyle/>
          <a:p>
            <a:endParaRPr lang="en-AU"/>
          </a:p>
        </p:txBody>
      </p:sp>
      <p:sp>
        <p:nvSpPr>
          <p:cNvPr id="31" name="Text 29"/>
          <p:cNvSpPr txBox="1"/>
          <p:nvPr/>
        </p:nvSpPr>
        <p:spPr>
          <a:xfrm>
            <a:off x="4361688" y="1993392"/>
            <a:ext cx="411480" cy="128016"/>
          </a:xfrm>
          <a:prstGeom prst="rect">
            <a:avLst/>
          </a:prstGeom>
          <a:noFill/>
          <a:ln/>
        </p:spPr>
        <p:txBody>
          <a:bodyPr wrap="square" lIns="0" tIns="0" rIns="0" bIns="0" rtlCol="0" anchor="ctr"/>
          <a:lstStyle/>
          <a:p>
            <a:pPr marL="0" indent="0" algn="ctr">
              <a:buNone/>
            </a:pPr>
            <a:r>
              <a:rPr lang="en-US" sz="700" dirty="0">
                <a:solidFill>
                  <a:srgbClr val="46545A"/>
                </a:solidFill>
                <a:latin typeface="Consolas" pitchFamily="34" charset="0"/>
                <a:ea typeface="Consolas" pitchFamily="34" charset="-122"/>
                <a:cs typeface="Consolas" pitchFamily="34" charset="-120"/>
              </a:rPr>
              <a:t>results</a:t>
            </a:r>
            <a:endParaRPr lang="en-US" sz="700" dirty="0"/>
          </a:p>
        </p:txBody>
      </p:sp>
      <p:sp>
        <p:nvSpPr>
          <p:cNvPr id="32" name="Shape 30"/>
          <p:cNvSpPr/>
          <p:nvPr/>
        </p:nvSpPr>
        <p:spPr>
          <a:xfrm>
            <a:off x="6592824" y="1197864"/>
            <a:ext cx="274320" cy="0"/>
          </a:xfrm>
          <a:prstGeom prst="line">
            <a:avLst/>
          </a:prstGeom>
          <a:noFill/>
          <a:ln w="13970">
            <a:solidFill>
              <a:srgbClr val="46545A"/>
            </a:solidFill>
            <a:prstDash val="solid"/>
            <a:headEnd type="none"/>
            <a:tailEnd type="triangle"/>
          </a:ln>
        </p:spPr>
        <p:txBody>
          <a:bodyPr/>
          <a:lstStyle/>
          <a:p>
            <a:endParaRPr lang="en-AU"/>
          </a:p>
        </p:txBody>
      </p:sp>
      <p:sp>
        <p:nvSpPr>
          <p:cNvPr id="33" name="Shape 31"/>
          <p:cNvSpPr/>
          <p:nvPr/>
        </p:nvSpPr>
        <p:spPr>
          <a:xfrm>
            <a:off x="6903720" y="950976"/>
            <a:ext cx="4901184" cy="1133856"/>
          </a:xfrm>
          <a:prstGeom prst="roundRect">
            <a:avLst>
              <a:gd name="adj" fmla="val 3226"/>
            </a:avLst>
          </a:prstGeom>
          <a:solidFill>
            <a:srgbClr val="F7FAFD"/>
          </a:solidFill>
          <a:ln w="15875">
            <a:solidFill>
              <a:srgbClr val="1D5FC4"/>
            </a:solidFill>
            <a:prstDash val="dash"/>
          </a:ln>
        </p:spPr>
        <p:txBody>
          <a:bodyPr/>
          <a:lstStyle/>
          <a:p>
            <a:endParaRPr lang="en-AU"/>
          </a:p>
        </p:txBody>
      </p:sp>
      <p:sp>
        <p:nvSpPr>
          <p:cNvPr id="34" name="Text 32"/>
          <p:cNvSpPr txBox="1"/>
          <p:nvPr/>
        </p:nvSpPr>
        <p:spPr>
          <a:xfrm>
            <a:off x="6903720" y="1033272"/>
            <a:ext cx="4901184" cy="164592"/>
          </a:xfrm>
          <a:prstGeom prst="rect">
            <a:avLst/>
          </a:prstGeom>
          <a:noFill/>
          <a:ln/>
        </p:spPr>
        <p:txBody>
          <a:bodyPr wrap="square" lIns="0" tIns="0" rIns="0" bIns="0" rtlCol="0" anchor="ctr"/>
          <a:lstStyle/>
          <a:p>
            <a:pPr marL="0" indent="0" algn="ctr">
              <a:buNone/>
            </a:pPr>
            <a:r>
              <a:rPr lang="en-US" sz="850" b="1" kern="0" spc="80" dirty="0">
                <a:solidFill>
                  <a:srgbClr val="1D5FC4"/>
                </a:solidFill>
                <a:latin typeface="Calibri" pitchFamily="34" charset="0"/>
                <a:ea typeface="Calibri" pitchFamily="34" charset="-122"/>
                <a:cs typeface="Calibri" pitchFamily="34" charset="-120"/>
              </a:rPr>
              <a:t>ENVIRONMENTS</a:t>
            </a:r>
            <a:endParaRPr lang="en-US" sz="850" dirty="0"/>
          </a:p>
        </p:txBody>
      </p:sp>
      <p:sp>
        <p:nvSpPr>
          <p:cNvPr id="35" name="Shape 33"/>
          <p:cNvSpPr/>
          <p:nvPr/>
        </p:nvSpPr>
        <p:spPr>
          <a:xfrm>
            <a:off x="7059168" y="1261872"/>
            <a:ext cx="1444752" cy="438912"/>
          </a:xfrm>
          <a:prstGeom prst="roundRect">
            <a:avLst>
              <a:gd name="adj" fmla="val 8333"/>
            </a:avLst>
          </a:prstGeom>
          <a:solidFill>
            <a:srgbClr val="FFFFFF"/>
          </a:solidFill>
          <a:ln w="15875">
            <a:solidFill>
              <a:srgbClr val="D5DCDD"/>
            </a:solidFill>
            <a:prstDash val="solid"/>
          </a:ln>
        </p:spPr>
        <p:txBody>
          <a:bodyPr/>
          <a:lstStyle/>
          <a:p>
            <a:endParaRPr lang="en-AU"/>
          </a:p>
        </p:txBody>
      </p:sp>
      <p:sp>
        <p:nvSpPr>
          <p:cNvPr id="36" name="Text 34"/>
          <p:cNvSpPr txBox="1"/>
          <p:nvPr/>
        </p:nvSpPr>
        <p:spPr>
          <a:xfrm>
            <a:off x="7059168" y="1325880"/>
            <a:ext cx="1444752" cy="164592"/>
          </a:xfrm>
          <a:prstGeom prst="rect">
            <a:avLst/>
          </a:prstGeom>
          <a:noFill/>
          <a:ln/>
        </p:spPr>
        <p:txBody>
          <a:bodyPr wrap="square" lIns="0" tIns="0" rIns="0" bIns="0" rtlCol="0" anchor="ctr"/>
          <a:lstStyle/>
          <a:p>
            <a:pPr marL="0" indent="0" algn="ctr">
              <a:buNone/>
            </a:pPr>
            <a:r>
              <a:rPr lang="en-US" sz="950" b="1" dirty="0">
                <a:solidFill>
                  <a:srgbClr val="0F1518"/>
                </a:solidFill>
                <a:latin typeface="Calibri" pitchFamily="34" charset="0"/>
                <a:ea typeface="Calibri" pitchFamily="34" charset="-122"/>
                <a:cs typeface="Calibri" pitchFamily="34" charset="-120"/>
              </a:rPr>
              <a:t>pull request</a:t>
            </a:r>
            <a:endParaRPr lang="en-US" sz="950" dirty="0"/>
          </a:p>
        </p:txBody>
      </p:sp>
      <p:sp>
        <p:nvSpPr>
          <p:cNvPr id="37" name="Text 35"/>
          <p:cNvSpPr txBox="1"/>
          <p:nvPr/>
        </p:nvSpPr>
        <p:spPr>
          <a:xfrm>
            <a:off x="7059168" y="1499616"/>
            <a:ext cx="1444752" cy="146304"/>
          </a:xfrm>
          <a:prstGeom prst="rect">
            <a:avLst/>
          </a:prstGeom>
          <a:noFill/>
          <a:ln/>
        </p:spPr>
        <p:txBody>
          <a:bodyPr wrap="square" lIns="0" tIns="0" rIns="0" bIns="0" rtlCol="0" anchor="ctr"/>
          <a:lstStyle/>
          <a:p>
            <a:pPr marL="0" indent="0" algn="ctr">
              <a:buNone/>
            </a:pPr>
            <a:r>
              <a:rPr lang="en-US" sz="700" dirty="0">
                <a:solidFill>
                  <a:srgbClr val="5B6A6E"/>
                </a:solidFill>
                <a:latin typeface="Consolas" pitchFamily="34" charset="0"/>
                <a:ea typeface="Consolas" pitchFamily="34" charset="-122"/>
                <a:cs typeface="Consolas" pitchFamily="34" charset="-120"/>
              </a:rPr>
              <a:t>preview</a:t>
            </a:r>
            <a:endParaRPr lang="en-US" sz="700" dirty="0"/>
          </a:p>
        </p:txBody>
      </p:sp>
      <p:sp>
        <p:nvSpPr>
          <p:cNvPr id="38" name="Shape 36"/>
          <p:cNvSpPr/>
          <p:nvPr/>
        </p:nvSpPr>
        <p:spPr>
          <a:xfrm>
            <a:off x="8631936" y="1261872"/>
            <a:ext cx="1444752" cy="438912"/>
          </a:xfrm>
          <a:prstGeom prst="roundRect">
            <a:avLst>
              <a:gd name="adj" fmla="val 8333"/>
            </a:avLst>
          </a:prstGeom>
          <a:solidFill>
            <a:srgbClr val="FFFFFF"/>
          </a:solidFill>
          <a:ln w="15875">
            <a:solidFill>
              <a:srgbClr val="D5DCDD"/>
            </a:solidFill>
            <a:prstDash val="solid"/>
          </a:ln>
        </p:spPr>
        <p:txBody>
          <a:bodyPr/>
          <a:lstStyle/>
          <a:p>
            <a:endParaRPr lang="en-AU"/>
          </a:p>
        </p:txBody>
      </p:sp>
      <p:sp>
        <p:nvSpPr>
          <p:cNvPr id="39" name="Text 37"/>
          <p:cNvSpPr txBox="1"/>
          <p:nvPr/>
        </p:nvSpPr>
        <p:spPr>
          <a:xfrm>
            <a:off x="8631936" y="1325880"/>
            <a:ext cx="1444752" cy="164592"/>
          </a:xfrm>
          <a:prstGeom prst="rect">
            <a:avLst/>
          </a:prstGeom>
          <a:noFill/>
          <a:ln/>
        </p:spPr>
        <p:txBody>
          <a:bodyPr wrap="square" lIns="0" tIns="0" rIns="0" bIns="0" rtlCol="0" anchor="ctr"/>
          <a:lstStyle/>
          <a:p>
            <a:pPr marL="0" indent="0" algn="ctr">
              <a:buNone/>
            </a:pPr>
            <a:r>
              <a:rPr lang="en-US" sz="950" b="1" dirty="0">
                <a:solidFill>
                  <a:srgbClr val="0F1518"/>
                </a:solidFill>
                <a:latin typeface="Calibri" pitchFamily="34" charset="0"/>
                <a:ea typeface="Calibri" pitchFamily="34" charset="-122"/>
                <a:cs typeface="Calibri" pitchFamily="34" charset="-120"/>
              </a:rPr>
              <a:t>release branch</a:t>
            </a:r>
            <a:endParaRPr lang="en-US" sz="950" dirty="0"/>
          </a:p>
        </p:txBody>
      </p:sp>
      <p:sp>
        <p:nvSpPr>
          <p:cNvPr id="40" name="Text 38"/>
          <p:cNvSpPr txBox="1"/>
          <p:nvPr/>
        </p:nvSpPr>
        <p:spPr>
          <a:xfrm>
            <a:off x="8631936" y="1499616"/>
            <a:ext cx="1444752" cy="146304"/>
          </a:xfrm>
          <a:prstGeom prst="rect">
            <a:avLst/>
          </a:prstGeom>
          <a:noFill/>
          <a:ln/>
        </p:spPr>
        <p:txBody>
          <a:bodyPr wrap="square" lIns="0" tIns="0" rIns="0" bIns="0" rtlCol="0" anchor="ctr"/>
          <a:lstStyle/>
          <a:p>
            <a:pPr marL="0" indent="0" algn="ctr">
              <a:buNone/>
            </a:pPr>
            <a:r>
              <a:rPr lang="en-US" sz="700" dirty="0">
                <a:solidFill>
                  <a:srgbClr val="5B6A6E"/>
                </a:solidFill>
                <a:latin typeface="Consolas" pitchFamily="34" charset="0"/>
                <a:ea typeface="Consolas" pitchFamily="34" charset="-122"/>
                <a:cs typeface="Consolas" pitchFamily="34" charset="-120"/>
              </a:rPr>
              <a:t>pre-production</a:t>
            </a:r>
            <a:endParaRPr lang="en-US" sz="700" dirty="0"/>
          </a:p>
        </p:txBody>
      </p:sp>
      <p:sp>
        <p:nvSpPr>
          <p:cNvPr id="41" name="Shape 39"/>
          <p:cNvSpPr/>
          <p:nvPr/>
        </p:nvSpPr>
        <p:spPr>
          <a:xfrm>
            <a:off x="10204704" y="1261872"/>
            <a:ext cx="1444752" cy="438912"/>
          </a:xfrm>
          <a:prstGeom prst="roundRect">
            <a:avLst>
              <a:gd name="adj" fmla="val 8333"/>
            </a:avLst>
          </a:prstGeom>
          <a:solidFill>
            <a:srgbClr val="FFFFFF"/>
          </a:solidFill>
          <a:ln w="15875">
            <a:solidFill>
              <a:srgbClr val="D5DCDD"/>
            </a:solidFill>
            <a:prstDash val="solid"/>
          </a:ln>
        </p:spPr>
        <p:txBody>
          <a:bodyPr/>
          <a:lstStyle/>
          <a:p>
            <a:endParaRPr lang="en-AU"/>
          </a:p>
        </p:txBody>
      </p:sp>
      <p:sp>
        <p:nvSpPr>
          <p:cNvPr id="42" name="Text 40"/>
          <p:cNvSpPr txBox="1"/>
          <p:nvPr/>
        </p:nvSpPr>
        <p:spPr>
          <a:xfrm>
            <a:off x="10204704" y="1325880"/>
            <a:ext cx="1444752" cy="164592"/>
          </a:xfrm>
          <a:prstGeom prst="rect">
            <a:avLst/>
          </a:prstGeom>
          <a:noFill/>
          <a:ln/>
        </p:spPr>
        <p:txBody>
          <a:bodyPr wrap="square" lIns="0" tIns="0" rIns="0" bIns="0" rtlCol="0" anchor="ctr"/>
          <a:lstStyle/>
          <a:p>
            <a:pPr marL="0" indent="0" algn="ctr">
              <a:buNone/>
            </a:pPr>
            <a:r>
              <a:rPr lang="en-US" sz="950" b="1" dirty="0">
                <a:solidFill>
                  <a:srgbClr val="0F1518"/>
                </a:solidFill>
                <a:latin typeface="Calibri" pitchFamily="34" charset="0"/>
                <a:ea typeface="Calibri" pitchFamily="34" charset="-122"/>
                <a:cs typeface="Calibri" pitchFamily="34" charset="-120"/>
              </a:rPr>
              <a:t>default</a:t>
            </a:r>
            <a:endParaRPr lang="en-US" sz="950" dirty="0"/>
          </a:p>
        </p:txBody>
      </p:sp>
      <p:sp>
        <p:nvSpPr>
          <p:cNvPr id="43" name="Text 41"/>
          <p:cNvSpPr txBox="1"/>
          <p:nvPr/>
        </p:nvSpPr>
        <p:spPr>
          <a:xfrm>
            <a:off x="10204704" y="1499616"/>
            <a:ext cx="1444752" cy="146304"/>
          </a:xfrm>
          <a:prstGeom prst="rect">
            <a:avLst/>
          </a:prstGeom>
          <a:noFill/>
          <a:ln/>
        </p:spPr>
        <p:txBody>
          <a:bodyPr wrap="square" lIns="0" tIns="0" rIns="0" bIns="0" rtlCol="0" anchor="ctr"/>
          <a:lstStyle/>
          <a:p>
            <a:pPr marL="0" indent="0" algn="ctr">
              <a:buNone/>
            </a:pPr>
            <a:r>
              <a:rPr lang="en-US" sz="700" dirty="0">
                <a:solidFill>
                  <a:srgbClr val="5B6A6E"/>
                </a:solidFill>
                <a:latin typeface="Consolas" pitchFamily="34" charset="0"/>
                <a:ea typeface="Consolas" pitchFamily="34" charset="-122"/>
                <a:cs typeface="Consolas" pitchFamily="34" charset="-120"/>
              </a:rPr>
              <a:t>production</a:t>
            </a:r>
            <a:endParaRPr lang="en-US" sz="700" dirty="0"/>
          </a:p>
        </p:txBody>
      </p:sp>
      <p:sp>
        <p:nvSpPr>
          <p:cNvPr id="44" name="Text 42"/>
          <p:cNvSpPr txBox="1"/>
          <p:nvPr/>
        </p:nvSpPr>
        <p:spPr>
          <a:xfrm>
            <a:off x="6903720" y="1792224"/>
            <a:ext cx="4901184" cy="146304"/>
          </a:xfrm>
          <a:prstGeom prst="rect">
            <a:avLst/>
          </a:prstGeom>
          <a:noFill/>
          <a:ln/>
        </p:spPr>
        <p:txBody>
          <a:bodyPr wrap="square" lIns="0" tIns="0" rIns="0" bIns="0" rtlCol="0" anchor="ctr"/>
          <a:lstStyle/>
          <a:p>
            <a:pPr marL="0" indent="0" algn="ctr">
              <a:buNone/>
            </a:pPr>
            <a:r>
              <a:rPr lang="en-US" sz="750" dirty="0">
                <a:solidFill>
                  <a:srgbClr val="5B6A6E"/>
                </a:solidFill>
                <a:latin typeface="Consolas" pitchFamily="34" charset="0"/>
                <a:ea typeface="Consolas" pitchFamily="34" charset="-122"/>
                <a:cs typeface="Consolas" pitchFamily="34" charset="-120"/>
              </a:rPr>
              <a:t>exercised on the release branch, then promoted to production</a:t>
            </a:r>
            <a:endParaRPr lang="en-US" sz="750" dirty="0"/>
          </a:p>
        </p:txBody>
      </p:sp>
      <p:sp>
        <p:nvSpPr>
          <p:cNvPr id="45" name="Shape 43"/>
          <p:cNvSpPr/>
          <p:nvPr/>
        </p:nvSpPr>
        <p:spPr>
          <a:xfrm>
            <a:off x="384048" y="2267712"/>
            <a:ext cx="6400800" cy="2761488"/>
          </a:xfrm>
          <a:prstGeom prst="roundRect">
            <a:avLst>
              <a:gd name="adj" fmla="val 993"/>
            </a:avLst>
          </a:prstGeom>
          <a:solidFill>
            <a:srgbClr val="FFFFFF"/>
          </a:solidFill>
          <a:ln w="15875">
            <a:solidFill>
              <a:srgbClr val="9AA7AB"/>
            </a:solidFill>
            <a:prstDash val="dash"/>
          </a:ln>
        </p:spPr>
        <p:txBody>
          <a:bodyPr/>
          <a:lstStyle/>
          <a:p>
            <a:endParaRPr lang="en-AU"/>
          </a:p>
        </p:txBody>
      </p:sp>
      <p:sp>
        <p:nvSpPr>
          <p:cNvPr id="46" name="Text 44"/>
          <p:cNvSpPr txBox="1"/>
          <p:nvPr/>
        </p:nvSpPr>
        <p:spPr>
          <a:xfrm>
            <a:off x="384048" y="2340864"/>
            <a:ext cx="6400800" cy="219456"/>
          </a:xfrm>
          <a:prstGeom prst="rect">
            <a:avLst/>
          </a:prstGeom>
          <a:noFill/>
          <a:ln/>
        </p:spPr>
        <p:txBody>
          <a:bodyPr wrap="square" lIns="0" tIns="0" rIns="0" bIns="0" rtlCol="0" anchor="ctr"/>
          <a:lstStyle/>
          <a:p>
            <a:pPr marL="0" indent="0" algn="ctr">
              <a:buNone/>
            </a:pPr>
            <a:r>
              <a:rPr lang="en-US" sz="1300" b="1" dirty="0">
                <a:solidFill>
                  <a:srgbClr val="0F1518"/>
                </a:solidFill>
                <a:latin typeface="Calibri" pitchFamily="34" charset="0"/>
                <a:ea typeface="Calibri" pitchFamily="34" charset="-122"/>
                <a:cs typeface="Calibri" pitchFamily="34" charset="-120"/>
              </a:rPr>
              <a:t>The Platform</a:t>
            </a:r>
            <a:endParaRPr lang="en-US" sz="1300" dirty="0"/>
          </a:p>
        </p:txBody>
      </p:sp>
      <p:sp>
        <p:nvSpPr>
          <p:cNvPr id="47" name="Shape 45"/>
          <p:cNvSpPr/>
          <p:nvPr/>
        </p:nvSpPr>
        <p:spPr>
          <a:xfrm>
            <a:off x="530352" y="2615184"/>
            <a:ext cx="1755648" cy="2267712"/>
          </a:xfrm>
          <a:prstGeom prst="roundRect">
            <a:avLst>
              <a:gd name="adj" fmla="val 2083"/>
            </a:avLst>
          </a:prstGeom>
          <a:solidFill>
            <a:srgbClr val="FAF8FD"/>
          </a:solidFill>
          <a:ln w="15875">
            <a:solidFill>
              <a:srgbClr val="6F4BB0"/>
            </a:solidFill>
            <a:prstDash val="solid"/>
          </a:ln>
        </p:spPr>
        <p:txBody>
          <a:bodyPr/>
          <a:lstStyle/>
          <a:p>
            <a:endParaRPr lang="en-AU"/>
          </a:p>
        </p:txBody>
      </p:sp>
      <p:sp>
        <p:nvSpPr>
          <p:cNvPr id="48" name="Text 46"/>
          <p:cNvSpPr txBox="1"/>
          <p:nvPr/>
        </p:nvSpPr>
        <p:spPr>
          <a:xfrm>
            <a:off x="640080" y="2688336"/>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Authenticated roles</a:t>
            </a:r>
            <a:endParaRPr lang="en-US" sz="1000" dirty="0"/>
          </a:p>
        </p:txBody>
      </p:sp>
      <p:sp>
        <p:nvSpPr>
          <p:cNvPr id="49" name="Text 47"/>
          <p:cNvSpPr txBox="1"/>
          <p:nvPr/>
        </p:nvSpPr>
        <p:spPr>
          <a:xfrm>
            <a:off x="640080" y="2852928"/>
            <a:ext cx="1554480" cy="164592"/>
          </a:xfrm>
          <a:prstGeom prst="rect">
            <a:avLst/>
          </a:prstGeom>
          <a:noFill/>
          <a:ln/>
        </p:spPr>
        <p:txBody>
          <a:bodyPr wrap="square" lIns="0" tIns="0" rIns="0" bIns="0" rtlCol="0" anchor="t"/>
          <a:lstStyle/>
          <a:p>
            <a:pPr marL="0" indent="0">
              <a:lnSpc>
                <a:spcPct val="115000"/>
              </a:lnSpc>
              <a:buNone/>
            </a:pPr>
            <a:r>
              <a:rPr lang="en-US" sz="700" dirty="0">
                <a:solidFill>
                  <a:srgbClr val="5B6A6E"/>
                </a:solidFill>
                <a:latin typeface="Consolas" pitchFamily="34" charset="0"/>
                <a:ea typeface="Consolas" pitchFamily="34" charset="-122"/>
                <a:cs typeface="Consolas" pitchFamily="34" charset="-120"/>
              </a:rPr>
              <a:t>invitation only — no signup</a:t>
            </a:r>
            <a:endParaRPr lang="en-US" sz="700" dirty="0"/>
          </a:p>
        </p:txBody>
      </p:sp>
      <p:sp>
        <p:nvSpPr>
          <p:cNvPr id="50" name="Text 48"/>
          <p:cNvSpPr txBox="1"/>
          <p:nvPr/>
        </p:nvSpPr>
        <p:spPr>
          <a:xfrm>
            <a:off x="640080" y="3054096"/>
            <a:ext cx="1554480" cy="1481328"/>
          </a:xfrm>
          <a:prstGeom prst="rect">
            <a:avLst/>
          </a:prstGeom>
          <a:noFill/>
          <a:ln/>
        </p:spPr>
        <p:txBody>
          <a:bodyPr wrap="square" lIns="0" tIns="0" rIns="0" bIns="0" rtlCol="0" anchor="t"/>
          <a:lstStyle/>
          <a:p>
            <a:pPr marL="0" indent="0">
              <a:lnSpc>
                <a:spcPct val="115000"/>
              </a:lnSpc>
              <a:buNone/>
            </a:pPr>
            <a:r>
              <a:rPr lang="en-US" sz="800" dirty="0">
                <a:solidFill>
                  <a:srgbClr val="5B6A6E"/>
                </a:solidFill>
                <a:latin typeface="Consolas" pitchFamily="34" charset="0"/>
                <a:ea typeface="Consolas" pitchFamily="34" charset="-122"/>
                <a:cs typeface="Consolas" pitchFamily="34" charset="-120"/>
              </a:rPr>
              <a:t>Platform owner</a:t>
            </a:r>
            <a:endParaRPr lang="en-US" sz="800" dirty="0"/>
          </a:p>
          <a:p>
            <a:pPr marL="0" indent="0">
              <a:lnSpc>
                <a:spcPct val="115000"/>
              </a:lnSpc>
              <a:buNone/>
            </a:pPr>
            <a:r>
              <a:rPr lang="en-US" sz="800" dirty="0">
                <a:solidFill>
                  <a:srgbClr val="5B6A6E"/>
                </a:solidFill>
                <a:latin typeface="Consolas" pitchFamily="34" charset="0"/>
                <a:ea typeface="Consolas" pitchFamily="34" charset="-122"/>
                <a:cs typeface="Consolas" pitchFamily="34" charset="-120"/>
              </a:rPr>
              <a:t>Administrators</a:t>
            </a:r>
            <a:endParaRPr lang="en-US" sz="800" dirty="0"/>
          </a:p>
          <a:p>
            <a:pPr marL="0" indent="0">
              <a:lnSpc>
                <a:spcPct val="115000"/>
              </a:lnSpc>
              <a:buNone/>
            </a:pPr>
            <a:r>
              <a:rPr lang="en-US" sz="800" dirty="0">
                <a:solidFill>
                  <a:srgbClr val="5B6A6E"/>
                </a:solidFill>
                <a:latin typeface="Consolas" pitchFamily="34" charset="0"/>
                <a:ea typeface="Consolas" pitchFamily="34" charset="-122"/>
                <a:cs typeface="Consolas" pitchFamily="34" charset="-120"/>
              </a:rPr>
              <a:t>Coordinators</a:t>
            </a:r>
            <a:endParaRPr lang="en-US" sz="800" dirty="0"/>
          </a:p>
          <a:p>
            <a:pPr marL="0" indent="0">
              <a:lnSpc>
                <a:spcPct val="115000"/>
              </a:lnSpc>
              <a:buNone/>
            </a:pPr>
            <a:r>
              <a:rPr lang="en-US" sz="800" dirty="0">
                <a:solidFill>
                  <a:srgbClr val="5B6A6E"/>
                </a:solidFill>
                <a:latin typeface="Consolas" pitchFamily="34" charset="0"/>
                <a:ea typeface="Consolas" pitchFamily="34" charset="-122"/>
                <a:cs typeface="Consolas" pitchFamily="34" charset="-120"/>
              </a:rPr>
              <a:t>Referrers</a:t>
            </a:r>
            <a:endParaRPr lang="en-US" sz="800" dirty="0"/>
          </a:p>
          <a:p>
            <a:pPr marL="0" indent="0">
              <a:lnSpc>
                <a:spcPct val="115000"/>
              </a:lnSpc>
              <a:buNone/>
            </a:pPr>
            <a:r>
              <a:rPr lang="en-US" sz="800" dirty="0">
                <a:solidFill>
                  <a:srgbClr val="5B6A6E"/>
                </a:solidFill>
                <a:latin typeface="Consolas" pitchFamily="34" charset="0"/>
                <a:ea typeface="Consolas" pitchFamily="34" charset="-122"/>
                <a:cs typeface="Consolas" pitchFamily="34" charset="-120"/>
              </a:rPr>
              <a:t>Members</a:t>
            </a:r>
            <a:endParaRPr lang="en-US" sz="800" dirty="0"/>
          </a:p>
          <a:p>
            <a:pPr marL="0" indent="0">
              <a:lnSpc>
                <a:spcPct val="115000"/>
              </a:lnSpc>
              <a:buNone/>
            </a:pPr>
            <a:r>
              <a:rPr lang="en-US" sz="800" dirty="0">
                <a:solidFill>
                  <a:srgbClr val="5B6A6E"/>
                </a:solidFill>
                <a:latin typeface="Consolas" pitchFamily="34" charset="0"/>
                <a:ea typeface="Consolas" pitchFamily="34" charset="-122"/>
                <a:cs typeface="Consolas" pitchFamily="34" charset="-120"/>
              </a:rPr>
              <a:t>Domain validators</a:t>
            </a:r>
            <a:endParaRPr lang="en-US" sz="800" dirty="0"/>
          </a:p>
          <a:p>
            <a:pPr marL="0" indent="0">
              <a:lnSpc>
                <a:spcPct val="115000"/>
              </a:lnSpc>
              <a:buNone/>
            </a:pPr>
            <a:r>
              <a:rPr lang="en-US" sz="800" dirty="0">
                <a:solidFill>
                  <a:srgbClr val="5B6A6E"/>
                </a:solidFill>
                <a:latin typeface="Consolas" pitchFamily="34" charset="0"/>
                <a:ea typeface="Consolas" pitchFamily="34" charset="-122"/>
                <a:cs typeface="Consolas" pitchFamily="34" charset="-120"/>
              </a:rPr>
              <a:t>Learners</a:t>
            </a:r>
            <a:endParaRPr lang="en-US" sz="800" dirty="0"/>
          </a:p>
          <a:p>
            <a:pPr marL="0" indent="0">
              <a:lnSpc>
                <a:spcPct val="115000"/>
              </a:lnSpc>
              <a:buNone/>
            </a:pPr>
            <a:r>
              <a:rPr lang="en-US" sz="800" dirty="0">
                <a:solidFill>
                  <a:srgbClr val="5B6A6E"/>
                </a:solidFill>
                <a:latin typeface="Consolas" pitchFamily="34" charset="0"/>
                <a:ea typeface="Consolas" pitchFamily="34" charset="-122"/>
                <a:cs typeface="Consolas" pitchFamily="34" charset="-120"/>
              </a:rPr>
              <a:t>Mentors</a:t>
            </a:r>
            <a:endParaRPr lang="en-US" sz="800" dirty="0"/>
          </a:p>
          <a:p>
            <a:pPr marL="0" indent="0">
              <a:lnSpc>
                <a:spcPct val="115000"/>
              </a:lnSpc>
              <a:buNone/>
            </a:pPr>
            <a:r>
              <a:rPr lang="en-US" sz="800" dirty="0">
                <a:solidFill>
                  <a:srgbClr val="5B6A6E"/>
                </a:solidFill>
                <a:latin typeface="Consolas" pitchFamily="34" charset="0"/>
                <a:ea typeface="Consolas" pitchFamily="34" charset="-122"/>
                <a:cs typeface="Consolas" pitchFamily="34" charset="-120"/>
              </a:rPr>
              <a:t>Budget sponsors</a:t>
            </a:r>
            <a:endParaRPr lang="en-US" sz="800" dirty="0"/>
          </a:p>
        </p:txBody>
      </p:sp>
      <p:sp>
        <p:nvSpPr>
          <p:cNvPr id="51" name="Text 49"/>
          <p:cNvSpPr txBox="1"/>
          <p:nvPr/>
        </p:nvSpPr>
        <p:spPr>
          <a:xfrm>
            <a:off x="640080" y="4462272"/>
            <a:ext cx="1554480" cy="493776"/>
          </a:xfrm>
          <a:prstGeom prst="rect">
            <a:avLst/>
          </a:prstGeom>
          <a:noFill/>
          <a:ln/>
        </p:spPr>
        <p:txBody>
          <a:bodyPr wrap="square" lIns="0" tIns="0" rIns="0" bIns="0" rtlCol="0" anchor="t"/>
          <a:lstStyle/>
          <a:p>
            <a:pPr marL="0" indent="0">
              <a:lnSpc>
                <a:spcPct val="115000"/>
              </a:lnSpc>
              <a:buNone/>
            </a:pPr>
            <a:r>
              <a:rPr lang="en-US" sz="700" dirty="0">
                <a:solidFill>
                  <a:srgbClr val="5B6A6E"/>
                </a:solidFill>
                <a:latin typeface="Consolas" pitchFamily="34" charset="0"/>
                <a:ea typeface="Consolas" pitchFamily="34" charset="-122"/>
                <a:cs typeface="Consolas" pitchFamily="34" charset="-120"/>
              </a:rPr>
              <a:t>the sponsor is the only</a:t>
            </a:r>
            <a:endParaRPr lang="en-US" sz="700" dirty="0"/>
          </a:p>
          <a:p>
            <a:pPr marL="0" indent="0">
              <a:lnSpc>
                <a:spcPct val="115000"/>
              </a:lnSpc>
              <a:buNone/>
            </a:pPr>
            <a:r>
              <a:rPr lang="en-US" sz="700" dirty="0">
                <a:solidFill>
                  <a:srgbClr val="5B6A6E"/>
                </a:solidFill>
                <a:latin typeface="Consolas" pitchFamily="34" charset="0"/>
                <a:ea typeface="Consolas" pitchFamily="34" charset="-122"/>
                <a:cs typeface="Consolas" pitchFamily="34" charset="-120"/>
              </a:rPr>
              <a:t>client login; the buyer</a:t>
            </a:r>
            <a:endParaRPr lang="en-US" sz="700" dirty="0"/>
          </a:p>
          <a:p>
            <a:pPr marL="0" indent="0">
              <a:lnSpc>
                <a:spcPct val="115000"/>
              </a:lnSpc>
              <a:buNone/>
            </a:pPr>
            <a:r>
              <a:rPr lang="en-US" sz="700" dirty="0">
                <a:solidFill>
                  <a:srgbClr val="5B6A6E"/>
                </a:solidFill>
                <a:latin typeface="Consolas" pitchFamily="34" charset="0"/>
                <a:ea typeface="Consolas" pitchFamily="34" charset="-122"/>
                <a:cs typeface="Consolas" pitchFamily="34" charset="-120"/>
              </a:rPr>
              <a:t>never signs in at all</a:t>
            </a:r>
            <a:endParaRPr lang="en-US" sz="700" dirty="0"/>
          </a:p>
        </p:txBody>
      </p:sp>
      <p:sp>
        <p:nvSpPr>
          <p:cNvPr id="52" name="Shape 50"/>
          <p:cNvSpPr/>
          <p:nvPr/>
        </p:nvSpPr>
        <p:spPr>
          <a:xfrm>
            <a:off x="2395728" y="2615184"/>
            <a:ext cx="2011680" cy="969264"/>
          </a:xfrm>
          <a:prstGeom prst="roundRect">
            <a:avLst>
              <a:gd name="adj" fmla="val 3774"/>
            </a:avLst>
          </a:prstGeom>
          <a:solidFill>
            <a:srgbClr val="F7FDFA"/>
          </a:solidFill>
          <a:ln w="15875">
            <a:solidFill>
              <a:srgbClr val="17855C"/>
            </a:solidFill>
            <a:prstDash val="solid"/>
          </a:ln>
        </p:spPr>
        <p:txBody>
          <a:bodyPr/>
          <a:lstStyle/>
          <a:p>
            <a:endParaRPr lang="en-AU"/>
          </a:p>
        </p:txBody>
      </p:sp>
      <p:sp>
        <p:nvSpPr>
          <p:cNvPr id="53" name="Text 51"/>
          <p:cNvSpPr txBox="1"/>
          <p:nvPr/>
        </p:nvSpPr>
        <p:spPr>
          <a:xfrm>
            <a:off x="2505456" y="2688336"/>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Runtime — web application</a:t>
            </a:r>
            <a:endParaRPr lang="en-US" sz="1000" dirty="0"/>
          </a:p>
        </p:txBody>
      </p:sp>
      <p:sp>
        <p:nvSpPr>
          <p:cNvPr id="54" name="Text 52"/>
          <p:cNvSpPr txBox="1"/>
          <p:nvPr/>
        </p:nvSpPr>
        <p:spPr>
          <a:xfrm>
            <a:off x="2505456" y="2871216"/>
            <a:ext cx="1883664" cy="658368"/>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server-rendered, one region</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managed hosting, from git</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two pillars, one identity</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migrations applied by hand</a:t>
            </a:r>
            <a:endParaRPr lang="en-US" sz="750" dirty="0"/>
          </a:p>
        </p:txBody>
      </p:sp>
      <p:sp>
        <p:nvSpPr>
          <p:cNvPr id="55" name="Shape 53"/>
          <p:cNvSpPr/>
          <p:nvPr/>
        </p:nvSpPr>
        <p:spPr>
          <a:xfrm>
            <a:off x="4617720" y="2615184"/>
            <a:ext cx="2057400" cy="969264"/>
          </a:xfrm>
          <a:prstGeom prst="roundRect">
            <a:avLst>
              <a:gd name="adj" fmla="val 3774"/>
            </a:avLst>
          </a:prstGeom>
          <a:solidFill>
            <a:srgbClr val="FAF8FF"/>
          </a:solidFill>
          <a:ln w="15875">
            <a:solidFill>
              <a:srgbClr val="6C47FF"/>
            </a:solidFill>
            <a:prstDash val="solid"/>
          </a:ln>
        </p:spPr>
        <p:txBody>
          <a:bodyPr/>
          <a:lstStyle/>
          <a:p>
            <a:endParaRPr lang="en-AU"/>
          </a:p>
        </p:txBody>
      </p:sp>
      <p:sp>
        <p:nvSpPr>
          <p:cNvPr id="56" name="Text 54"/>
          <p:cNvSpPr txBox="1"/>
          <p:nvPr/>
        </p:nvSpPr>
        <p:spPr>
          <a:xfrm>
            <a:off x="4727448" y="2688336"/>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Identity provider</a:t>
            </a:r>
            <a:endParaRPr lang="en-US" sz="1000" dirty="0"/>
          </a:p>
        </p:txBody>
      </p:sp>
      <p:sp>
        <p:nvSpPr>
          <p:cNvPr id="57" name="Text 55"/>
          <p:cNvSpPr txBox="1"/>
          <p:nvPr/>
        </p:nvSpPr>
        <p:spPr>
          <a:xfrm>
            <a:off x="4727448" y="2871216"/>
            <a:ext cx="1828800" cy="658368"/>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credentials + sessions only</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one instance per environment</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resolved per request</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no authorisation logic here</a:t>
            </a:r>
            <a:endParaRPr lang="en-US" sz="750" dirty="0"/>
          </a:p>
        </p:txBody>
      </p:sp>
      <p:sp>
        <p:nvSpPr>
          <p:cNvPr id="58" name="Shape 56"/>
          <p:cNvSpPr/>
          <p:nvPr/>
        </p:nvSpPr>
        <p:spPr>
          <a:xfrm>
            <a:off x="2304288" y="3090672"/>
            <a:ext cx="64008" cy="0"/>
          </a:xfrm>
          <a:prstGeom prst="line">
            <a:avLst/>
          </a:prstGeom>
          <a:noFill/>
          <a:ln w="13970">
            <a:solidFill>
              <a:srgbClr val="46545A"/>
            </a:solidFill>
            <a:prstDash val="solid"/>
            <a:headEnd type="none"/>
            <a:tailEnd type="triangle"/>
          </a:ln>
        </p:spPr>
        <p:txBody>
          <a:bodyPr/>
          <a:lstStyle/>
          <a:p>
            <a:endParaRPr lang="en-AU"/>
          </a:p>
        </p:txBody>
      </p:sp>
      <p:sp>
        <p:nvSpPr>
          <p:cNvPr id="59" name="Shape 57"/>
          <p:cNvSpPr/>
          <p:nvPr/>
        </p:nvSpPr>
        <p:spPr>
          <a:xfrm>
            <a:off x="4443984" y="3035808"/>
            <a:ext cx="155448" cy="0"/>
          </a:xfrm>
          <a:prstGeom prst="line">
            <a:avLst/>
          </a:prstGeom>
          <a:noFill/>
          <a:ln w="13970">
            <a:solidFill>
              <a:srgbClr val="46545A"/>
            </a:solidFill>
            <a:prstDash val="solid"/>
            <a:headEnd type="triangle"/>
            <a:tailEnd type="triangle"/>
          </a:ln>
        </p:spPr>
        <p:txBody>
          <a:bodyPr/>
          <a:lstStyle/>
          <a:p>
            <a:endParaRPr lang="en-AU"/>
          </a:p>
        </p:txBody>
      </p:sp>
      <p:sp>
        <p:nvSpPr>
          <p:cNvPr id="60" name="Shape 58"/>
          <p:cNvSpPr/>
          <p:nvPr/>
        </p:nvSpPr>
        <p:spPr>
          <a:xfrm>
            <a:off x="3291840" y="3621024"/>
            <a:ext cx="0" cy="73152"/>
          </a:xfrm>
          <a:prstGeom prst="line">
            <a:avLst/>
          </a:prstGeom>
          <a:noFill/>
          <a:ln w="13970">
            <a:solidFill>
              <a:srgbClr val="46545A"/>
            </a:solidFill>
            <a:prstDash val="solid"/>
            <a:headEnd type="none"/>
            <a:tailEnd type="triangle"/>
          </a:ln>
        </p:spPr>
        <p:txBody>
          <a:bodyPr/>
          <a:lstStyle/>
          <a:p>
            <a:endParaRPr lang="en-AU"/>
          </a:p>
        </p:txBody>
      </p:sp>
      <p:sp>
        <p:nvSpPr>
          <p:cNvPr id="61" name="Shape 59"/>
          <p:cNvSpPr/>
          <p:nvPr/>
        </p:nvSpPr>
        <p:spPr>
          <a:xfrm>
            <a:off x="2395728" y="3730752"/>
            <a:ext cx="4279392" cy="1152144"/>
          </a:xfrm>
          <a:prstGeom prst="roundRect">
            <a:avLst>
              <a:gd name="adj" fmla="val 3175"/>
            </a:avLst>
          </a:prstGeom>
          <a:solidFill>
            <a:srgbClr val="F1FAF5"/>
          </a:solidFill>
          <a:ln w="15875">
            <a:solidFill>
              <a:srgbClr val="17855C"/>
            </a:solidFill>
            <a:prstDash val="solid"/>
          </a:ln>
        </p:spPr>
        <p:txBody>
          <a:bodyPr/>
          <a:lstStyle/>
          <a:p>
            <a:endParaRPr lang="en-AU"/>
          </a:p>
        </p:txBody>
      </p:sp>
      <p:sp>
        <p:nvSpPr>
          <p:cNvPr id="62" name="Text 60"/>
          <p:cNvSpPr txBox="1"/>
          <p:nvPr/>
        </p:nvSpPr>
        <p:spPr>
          <a:xfrm>
            <a:off x="2505456" y="3803904"/>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Server logic / privileged actions</a:t>
            </a:r>
            <a:endParaRPr lang="en-US" sz="1000" dirty="0"/>
          </a:p>
        </p:txBody>
      </p:sp>
      <p:sp>
        <p:nvSpPr>
          <p:cNvPr id="63" name="Text 61"/>
          <p:cNvSpPr txBox="1"/>
          <p:nvPr/>
        </p:nvSpPr>
        <p:spPr>
          <a:xfrm>
            <a:off x="2505456" y="4005072"/>
            <a:ext cx="4059936" cy="822960"/>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authorisation: one permission matrix over the role set</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every sensitive write and its audit row in one transaction</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every outbound call to a third party originates here</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documents and email bodies rendered in-process</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the edge check verifies the session and nothing else</a:t>
            </a:r>
            <a:endParaRPr lang="en-US" sz="750" dirty="0"/>
          </a:p>
        </p:txBody>
      </p:sp>
      <p:sp>
        <p:nvSpPr>
          <p:cNvPr id="64" name="Text 62"/>
          <p:cNvSpPr txBox="1"/>
          <p:nvPr/>
        </p:nvSpPr>
        <p:spPr>
          <a:xfrm>
            <a:off x="6967728" y="2286000"/>
            <a:ext cx="7315200" cy="164592"/>
          </a:xfrm>
          <a:prstGeom prst="rect">
            <a:avLst/>
          </a:prstGeom>
          <a:noFill/>
          <a:ln/>
        </p:spPr>
        <p:txBody>
          <a:bodyPr wrap="square" lIns="0" tIns="0" rIns="0" bIns="0" rtlCol="0" anchor="ctr"/>
          <a:lstStyle/>
          <a:p>
            <a:pPr marL="0" indent="0">
              <a:buNone/>
            </a:pPr>
            <a:r>
              <a:rPr lang="en-US" sz="850" b="1" kern="0" spc="80" dirty="0">
                <a:solidFill>
                  <a:srgbClr val="5B6A6E"/>
                </a:solidFill>
                <a:latin typeface="Calibri" pitchFamily="34" charset="0"/>
                <a:ea typeface="Calibri" pitchFamily="34" charset="-122"/>
                <a:cs typeface="Calibri" pitchFamily="34" charset="-120"/>
              </a:rPr>
              <a:t>OUTBOUND SERVICES</a:t>
            </a:r>
            <a:endParaRPr lang="en-US" sz="850" dirty="0"/>
          </a:p>
        </p:txBody>
      </p:sp>
      <p:sp>
        <p:nvSpPr>
          <p:cNvPr id="65" name="Shape 63"/>
          <p:cNvSpPr/>
          <p:nvPr/>
        </p:nvSpPr>
        <p:spPr>
          <a:xfrm>
            <a:off x="6967728" y="2450592"/>
            <a:ext cx="2331720" cy="786384"/>
          </a:xfrm>
          <a:prstGeom prst="roundRect">
            <a:avLst>
              <a:gd name="adj" fmla="val 4651"/>
            </a:avLst>
          </a:prstGeom>
          <a:solidFill>
            <a:srgbClr val="FFFFFF"/>
          </a:solidFill>
          <a:ln w="15875">
            <a:solidFill>
              <a:srgbClr val="1F6FB8"/>
            </a:solidFill>
            <a:prstDash val="solid"/>
          </a:ln>
        </p:spPr>
        <p:txBody>
          <a:bodyPr/>
          <a:lstStyle/>
          <a:p>
            <a:endParaRPr lang="en-AU"/>
          </a:p>
        </p:txBody>
      </p:sp>
      <p:sp>
        <p:nvSpPr>
          <p:cNvPr id="66" name="Text 64"/>
          <p:cNvSpPr txBox="1"/>
          <p:nvPr/>
        </p:nvSpPr>
        <p:spPr>
          <a:xfrm>
            <a:off x="7086600" y="2542032"/>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Relational store</a:t>
            </a:r>
            <a:endParaRPr lang="en-US" sz="1000" dirty="0"/>
          </a:p>
        </p:txBody>
      </p:sp>
      <p:sp>
        <p:nvSpPr>
          <p:cNvPr id="67" name="Text 65"/>
          <p:cNvSpPr txBox="1"/>
          <p:nvPr/>
        </p:nvSpPr>
        <p:spPr>
          <a:xfrm>
            <a:off x="7086600" y="2761488"/>
            <a:ext cx="21031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single region for residency</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append-only audit table</a:t>
            </a:r>
            <a:endParaRPr lang="en-US" sz="750" dirty="0"/>
          </a:p>
        </p:txBody>
      </p:sp>
      <p:sp>
        <p:nvSpPr>
          <p:cNvPr id="68" name="Shape 66"/>
          <p:cNvSpPr/>
          <p:nvPr/>
        </p:nvSpPr>
        <p:spPr>
          <a:xfrm>
            <a:off x="9436608" y="2450592"/>
            <a:ext cx="2331720" cy="786384"/>
          </a:xfrm>
          <a:prstGeom prst="roundRect">
            <a:avLst>
              <a:gd name="adj" fmla="val 4651"/>
            </a:avLst>
          </a:prstGeom>
          <a:solidFill>
            <a:srgbClr val="FFFFFF"/>
          </a:solidFill>
          <a:ln w="15875">
            <a:solidFill>
              <a:srgbClr val="1F6FB8"/>
            </a:solidFill>
            <a:prstDash val="solid"/>
          </a:ln>
        </p:spPr>
        <p:txBody>
          <a:bodyPr/>
          <a:lstStyle/>
          <a:p>
            <a:endParaRPr lang="en-AU"/>
          </a:p>
        </p:txBody>
      </p:sp>
      <p:sp>
        <p:nvSpPr>
          <p:cNvPr id="69" name="Text 67"/>
          <p:cNvSpPr txBox="1"/>
          <p:nvPr/>
        </p:nvSpPr>
        <p:spPr>
          <a:xfrm>
            <a:off x="9555480" y="2542032"/>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Object store</a:t>
            </a:r>
            <a:endParaRPr lang="en-US" sz="1000" dirty="0"/>
          </a:p>
        </p:txBody>
      </p:sp>
      <p:sp>
        <p:nvSpPr>
          <p:cNvPr id="70" name="Text 68"/>
          <p:cNvSpPr txBox="1"/>
          <p:nvPr/>
        </p:nvSpPr>
        <p:spPr>
          <a:xfrm>
            <a:off x="9555480" y="2761488"/>
            <a:ext cx="21031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private, same region</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no fetchable public URL</a:t>
            </a:r>
            <a:endParaRPr lang="en-US" sz="750" dirty="0"/>
          </a:p>
        </p:txBody>
      </p:sp>
      <p:sp>
        <p:nvSpPr>
          <p:cNvPr id="71" name="Shape 69"/>
          <p:cNvSpPr/>
          <p:nvPr/>
        </p:nvSpPr>
        <p:spPr>
          <a:xfrm>
            <a:off x="6967728" y="3346704"/>
            <a:ext cx="2331720" cy="786384"/>
          </a:xfrm>
          <a:prstGeom prst="roundRect">
            <a:avLst>
              <a:gd name="adj" fmla="val 4651"/>
            </a:avLst>
          </a:prstGeom>
          <a:solidFill>
            <a:srgbClr val="FFFFFF"/>
          </a:solidFill>
          <a:ln w="15875">
            <a:solidFill>
              <a:srgbClr val="0E8A8F"/>
            </a:solidFill>
            <a:prstDash val="solid"/>
          </a:ln>
        </p:spPr>
        <p:txBody>
          <a:bodyPr/>
          <a:lstStyle/>
          <a:p>
            <a:endParaRPr lang="en-AU"/>
          </a:p>
        </p:txBody>
      </p:sp>
      <p:sp>
        <p:nvSpPr>
          <p:cNvPr id="72" name="Text 70"/>
          <p:cNvSpPr txBox="1"/>
          <p:nvPr/>
        </p:nvSpPr>
        <p:spPr>
          <a:xfrm>
            <a:off x="7086600" y="3438144"/>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Email</a:t>
            </a:r>
            <a:endParaRPr lang="en-US" sz="1000" dirty="0"/>
          </a:p>
        </p:txBody>
      </p:sp>
      <p:sp>
        <p:nvSpPr>
          <p:cNvPr id="73" name="Text 71"/>
          <p:cNvSpPr txBox="1"/>
          <p:nvPr/>
        </p:nvSpPr>
        <p:spPr>
          <a:xfrm>
            <a:off x="7086600" y="3657600"/>
            <a:ext cx="21031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carries the client document</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must report failures back</a:t>
            </a:r>
            <a:endParaRPr lang="en-US" sz="750" dirty="0"/>
          </a:p>
        </p:txBody>
      </p:sp>
      <p:sp>
        <p:nvSpPr>
          <p:cNvPr id="74" name="Shape 72"/>
          <p:cNvSpPr/>
          <p:nvPr/>
        </p:nvSpPr>
        <p:spPr>
          <a:xfrm>
            <a:off x="9436608" y="3346704"/>
            <a:ext cx="2331720" cy="786384"/>
          </a:xfrm>
          <a:prstGeom prst="roundRect">
            <a:avLst>
              <a:gd name="adj" fmla="val 4651"/>
            </a:avLst>
          </a:prstGeom>
          <a:solidFill>
            <a:srgbClr val="FFFFFF"/>
          </a:solidFill>
          <a:ln w="15875">
            <a:solidFill>
              <a:srgbClr val="A56A12"/>
            </a:solidFill>
            <a:prstDash val="dash"/>
          </a:ln>
        </p:spPr>
        <p:txBody>
          <a:bodyPr/>
          <a:lstStyle/>
          <a:p>
            <a:endParaRPr lang="en-AU"/>
          </a:p>
        </p:txBody>
      </p:sp>
      <p:sp>
        <p:nvSpPr>
          <p:cNvPr id="75" name="Text 73"/>
          <p:cNvSpPr txBox="1"/>
          <p:nvPr/>
        </p:nvSpPr>
        <p:spPr>
          <a:xfrm>
            <a:off x="9555480" y="3438144"/>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SMS gateway</a:t>
            </a:r>
            <a:endParaRPr lang="en-US" sz="1000" dirty="0"/>
          </a:p>
        </p:txBody>
      </p:sp>
      <p:sp>
        <p:nvSpPr>
          <p:cNvPr id="76" name="Text 74"/>
          <p:cNvSpPr txBox="1"/>
          <p:nvPr/>
        </p:nvSpPr>
        <p:spPr>
          <a:xfrm>
            <a:off x="9555480" y="3657600"/>
            <a:ext cx="21031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in-region provider</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no credentials set</a:t>
            </a:r>
            <a:endParaRPr lang="en-US" sz="750" dirty="0"/>
          </a:p>
        </p:txBody>
      </p:sp>
      <p:sp>
        <p:nvSpPr>
          <p:cNvPr id="77" name="Shape 75"/>
          <p:cNvSpPr/>
          <p:nvPr/>
        </p:nvSpPr>
        <p:spPr>
          <a:xfrm>
            <a:off x="6967728" y="4242816"/>
            <a:ext cx="2331720" cy="786384"/>
          </a:xfrm>
          <a:prstGeom prst="roundRect">
            <a:avLst>
              <a:gd name="adj" fmla="val 4651"/>
            </a:avLst>
          </a:prstGeom>
          <a:solidFill>
            <a:srgbClr val="FFFFFF"/>
          </a:solidFill>
          <a:ln w="15875">
            <a:solidFill>
              <a:srgbClr val="A56A12"/>
            </a:solidFill>
            <a:prstDash val="dash"/>
          </a:ln>
        </p:spPr>
        <p:txBody>
          <a:bodyPr/>
          <a:lstStyle/>
          <a:p>
            <a:endParaRPr lang="en-AU"/>
          </a:p>
        </p:txBody>
      </p:sp>
      <p:sp>
        <p:nvSpPr>
          <p:cNvPr id="78" name="Text 76"/>
          <p:cNvSpPr txBox="1"/>
          <p:nvPr/>
        </p:nvSpPr>
        <p:spPr>
          <a:xfrm>
            <a:off x="7086600" y="4334256"/>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LLM provider</a:t>
            </a:r>
            <a:endParaRPr lang="en-US" sz="1000" dirty="0"/>
          </a:p>
        </p:txBody>
      </p:sp>
      <p:sp>
        <p:nvSpPr>
          <p:cNvPr id="79" name="Text 77"/>
          <p:cNvSpPr txBox="1"/>
          <p:nvPr/>
        </p:nvSpPr>
        <p:spPr>
          <a:xfrm>
            <a:off x="7086600" y="4553712"/>
            <a:ext cx="21031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extraction and drafting</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held pending a review</a:t>
            </a:r>
            <a:endParaRPr lang="en-US" sz="750" dirty="0"/>
          </a:p>
        </p:txBody>
      </p:sp>
      <p:sp>
        <p:nvSpPr>
          <p:cNvPr id="80" name="Shape 78"/>
          <p:cNvSpPr/>
          <p:nvPr/>
        </p:nvSpPr>
        <p:spPr>
          <a:xfrm>
            <a:off x="9436608" y="4242816"/>
            <a:ext cx="2331720" cy="786384"/>
          </a:xfrm>
          <a:prstGeom prst="roundRect">
            <a:avLst>
              <a:gd name="adj" fmla="val 4651"/>
            </a:avLst>
          </a:prstGeom>
          <a:solidFill>
            <a:srgbClr val="FFFFFF"/>
          </a:solidFill>
          <a:ln w="15875">
            <a:solidFill>
              <a:srgbClr val="A56A12"/>
            </a:solidFill>
            <a:prstDash val="dash"/>
          </a:ln>
        </p:spPr>
        <p:txBody>
          <a:bodyPr/>
          <a:lstStyle/>
          <a:p>
            <a:endParaRPr lang="en-AU"/>
          </a:p>
        </p:txBody>
      </p:sp>
      <p:sp>
        <p:nvSpPr>
          <p:cNvPr id="81" name="Text 79"/>
          <p:cNvSpPr txBox="1"/>
          <p:nvPr/>
        </p:nvSpPr>
        <p:spPr>
          <a:xfrm>
            <a:off x="9555480" y="4334256"/>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Payments and payouts</a:t>
            </a:r>
            <a:endParaRPr lang="en-US" sz="1000" dirty="0"/>
          </a:p>
        </p:txBody>
      </p:sp>
      <p:sp>
        <p:nvSpPr>
          <p:cNvPr id="82" name="Text 80"/>
          <p:cNvSpPr txBox="1"/>
          <p:nvPr/>
        </p:nvSpPr>
        <p:spPr>
          <a:xfrm>
            <a:off x="9555480" y="4553712"/>
            <a:ext cx="21031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funds held until delivery</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absent from status page</a:t>
            </a:r>
            <a:endParaRPr lang="en-US" sz="750" dirty="0"/>
          </a:p>
        </p:txBody>
      </p:sp>
      <p:sp>
        <p:nvSpPr>
          <p:cNvPr id="83" name="Shape 81"/>
          <p:cNvSpPr/>
          <p:nvPr/>
        </p:nvSpPr>
        <p:spPr>
          <a:xfrm>
            <a:off x="6803136" y="3703320"/>
            <a:ext cx="118872" cy="0"/>
          </a:xfrm>
          <a:prstGeom prst="line">
            <a:avLst/>
          </a:prstGeom>
          <a:noFill/>
          <a:ln w="13970">
            <a:solidFill>
              <a:srgbClr val="46545A"/>
            </a:solidFill>
            <a:prstDash val="solid"/>
            <a:headEnd type="triangle"/>
            <a:tailEnd type="triangle"/>
          </a:ln>
        </p:spPr>
        <p:txBody>
          <a:bodyPr/>
          <a:lstStyle/>
          <a:p>
            <a:endParaRPr lang="en-AU"/>
          </a:p>
        </p:txBody>
      </p:sp>
      <p:sp>
        <p:nvSpPr>
          <p:cNvPr id="84" name="Text 82"/>
          <p:cNvSpPr txBox="1"/>
          <p:nvPr/>
        </p:nvSpPr>
        <p:spPr>
          <a:xfrm>
            <a:off x="384048" y="5138928"/>
            <a:ext cx="7315200" cy="164592"/>
          </a:xfrm>
          <a:prstGeom prst="rect">
            <a:avLst/>
          </a:prstGeom>
          <a:noFill/>
          <a:ln/>
        </p:spPr>
        <p:txBody>
          <a:bodyPr wrap="square" lIns="0" tIns="0" rIns="0" bIns="0" rtlCol="0" anchor="ctr"/>
          <a:lstStyle/>
          <a:p>
            <a:pPr marL="0" indent="0">
              <a:buNone/>
            </a:pPr>
            <a:r>
              <a:rPr lang="en-US" sz="850" b="1" kern="0" spc="80" dirty="0">
                <a:solidFill>
                  <a:srgbClr val="B4651A"/>
                </a:solidFill>
                <a:latin typeface="Calibri" pitchFamily="34" charset="0"/>
                <a:ea typeface="Calibri" pitchFamily="34" charset="-122"/>
                <a:cs typeface="Calibri" pitchFamily="34" charset="-120"/>
              </a:rPr>
              <a:t>AUDIT &amp; OBSERVABILITY — ALL OF IT IN THE RELATIONAL STORE, NOT A THIRD-PARTY TOOL</a:t>
            </a:r>
            <a:endParaRPr lang="en-US" sz="850" dirty="0"/>
          </a:p>
        </p:txBody>
      </p:sp>
      <p:sp>
        <p:nvSpPr>
          <p:cNvPr id="85" name="Shape 83"/>
          <p:cNvSpPr/>
          <p:nvPr/>
        </p:nvSpPr>
        <p:spPr>
          <a:xfrm>
            <a:off x="384048" y="5303520"/>
            <a:ext cx="2788920" cy="640080"/>
          </a:xfrm>
          <a:prstGeom prst="roundRect">
            <a:avLst>
              <a:gd name="adj" fmla="val 5714"/>
            </a:avLst>
          </a:prstGeom>
          <a:solidFill>
            <a:srgbClr val="FDF8F3"/>
          </a:solidFill>
          <a:ln w="15875">
            <a:solidFill>
              <a:srgbClr val="B4651A"/>
            </a:solidFill>
            <a:prstDash val="solid"/>
          </a:ln>
        </p:spPr>
        <p:txBody>
          <a:bodyPr/>
          <a:lstStyle/>
          <a:p>
            <a:endParaRPr lang="en-AU"/>
          </a:p>
        </p:txBody>
      </p:sp>
      <p:sp>
        <p:nvSpPr>
          <p:cNvPr id="86" name="Text 84"/>
          <p:cNvSpPr txBox="1"/>
          <p:nvPr/>
        </p:nvSpPr>
        <p:spPr>
          <a:xfrm>
            <a:off x="502920" y="5376672"/>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Audit register</a:t>
            </a:r>
            <a:endParaRPr lang="en-US" sz="1000" dirty="0"/>
          </a:p>
        </p:txBody>
      </p:sp>
      <p:sp>
        <p:nvSpPr>
          <p:cNvPr id="87" name="Text 85"/>
          <p:cNvSpPr txBox="1"/>
          <p:nvPr/>
        </p:nvSpPr>
        <p:spPr>
          <a:xfrm>
            <a:off x="502920" y="5559552"/>
            <a:ext cx="25603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append-only, written in the same</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transaction as the action it records</a:t>
            </a:r>
            <a:endParaRPr lang="en-US" sz="750" dirty="0"/>
          </a:p>
        </p:txBody>
      </p:sp>
      <p:sp>
        <p:nvSpPr>
          <p:cNvPr id="88" name="Shape 86"/>
          <p:cNvSpPr/>
          <p:nvPr/>
        </p:nvSpPr>
        <p:spPr>
          <a:xfrm>
            <a:off x="3291840" y="5303520"/>
            <a:ext cx="2788920" cy="640080"/>
          </a:xfrm>
          <a:prstGeom prst="roundRect">
            <a:avLst>
              <a:gd name="adj" fmla="val 5714"/>
            </a:avLst>
          </a:prstGeom>
          <a:solidFill>
            <a:srgbClr val="FDF8F3"/>
          </a:solidFill>
          <a:ln w="15875">
            <a:solidFill>
              <a:srgbClr val="B4651A"/>
            </a:solidFill>
            <a:prstDash val="solid"/>
          </a:ln>
        </p:spPr>
        <p:txBody>
          <a:bodyPr/>
          <a:lstStyle/>
          <a:p>
            <a:endParaRPr lang="en-AU"/>
          </a:p>
        </p:txBody>
      </p:sp>
      <p:sp>
        <p:nvSpPr>
          <p:cNvPr id="89" name="Text 87"/>
          <p:cNvSpPr txBox="1"/>
          <p:nvPr/>
        </p:nvSpPr>
        <p:spPr>
          <a:xfrm>
            <a:off x="3410712" y="5376672"/>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Notification ledger</a:t>
            </a:r>
            <a:endParaRPr lang="en-US" sz="1000" dirty="0"/>
          </a:p>
        </p:txBody>
      </p:sp>
      <p:sp>
        <p:nvSpPr>
          <p:cNvPr id="90" name="Text 88"/>
          <p:cNvSpPr txBox="1"/>
          <p:nvPr/>
        </p:nvSpPr>
        <p:spPr>
          <a:xfrm>
            <a:off x="3410712" y="5559552"/>
            <a:ext cx="25603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a row is written before the send, so</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a send with no record cannot happen</a:t>
            </a:r>
            <a:endParaRPr lang="en-US" sz="750" dirty="0"/>
          </a:p>
        </p:txBody>
      </p:sp>
      <p:sp>
        <p:nvSpPr>
          <p:cNvPr id="91" name="Shape 89"/>
          <p:cNvSpPr/>
          <p:nvPr/>
        </p:nvSpPr>
        <p:spPr>
          <a:xfrm>
            <a:off x="6199632" y="5303520"/>
            <a:ext cx="2788920" cy="640080"/>
          </a:xfrm>
          <a:prstGeom prst="roundRect">
            <a:avLst>
              <a:gd name="adj" fmla="val 5714"/>
            </a:avLst>
          </a:prstGeom>
          <a:solidFill>
            <a:srgbClr val="FDF8F3"/>
          </a:solidFill>
          <a:ln w="15875">
            <a:solidFill>
              <a:srgbClr val="B4651A"/>
            </a:solidFill>
            <a:prstDash val="solid"/>
          </a:ln>
        </p:spPr>
        <p:txBody>
          <a:bodyPr/>
          <a:lstStyle/>
          <a:p>
            <a:endParaRPr lang="en-AU"/>
          </a:p>
        </p:txBody>
      </p:sp>
      <p:sp>
        <p:nvSpPr>
          <p:cNvPr id="92" name="Text 90"/>
          <p:cNvSpPr txBox="1"/>
          <p:nvPr/>
        </p:nvSpPr>
        <p:spPr>
          <a:xfrm>
            <a:off x="6318504" y="5376672"/>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Generation log</a:t>
            </a:r>
            <a:endParaRPr lang="en-US" sz="1000" dirty="0"/>
          </a:p>
        </p:txBody>
      </p:sp>
      <p:sp>
        <p:nvSpPr>
          <p:cNvPr id="93" name="Text 91"/>
          <p:cNvSpPr txBox="1"/>
          <p:nvPr/>
        </p:nvSpPr>
        <p:spPr>
          <a:xfrm>
            <a:off x="6318504" y="5559552"/>
            <a:ext cx="25603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every model call recorded; nothing it</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produces counts until a human accepts</a:t>
            </a:r>
            <a:endParaRPr lang="en-US" sz="750" dirty="0"/>
          </a:p>
        </p:txBody>
      </p:sp>
      <p:sp>
        <p:nvSpPr>
          <p:cNvPr id="94" name="Shape 92"/>
          <p:cNvSpPr/>
          <p:nvPr/>
        </p:nvSpPr>
        <p:spPr>
          <a:xfrm>
            <a:off x="9107424" y="5303520"/>
            <a:ext cx="2788920" cy="640080"/>
          </a:xfrm>
          <a:prstGeom prst="roundRect">
            <a:avLst>
              <a:gd name="adj" fmla="val 5714"/>
            </a:avLst>
          </a:prstGeom>
          <a:solidFill>
            <a:srgbClr val="FDF8F3"/>
          </a:solidFill>
          <a:ln w="15875">
            <a:solidFill>
              <a:srgbClr val="B4651A"/>
            </a:solidFill>
            <a:prstDash val="solid"/>
          </a:ln>
        </p:spPr>
        <p:txBody>
          <a:bodyPr/>
          <a:lstStyle/>
          <a:p>
            <a:endParaRPr lang="en-AU"/>
          </a:p>
        </p:txBody>
      </p:sp>
      <p:sp>
        <p:nvSpPr>
          <p:cNvPr id="95" name="Text 93"/>
          <p:cNvSpPr txBox="1"/>
          <p:nvPr/>
        </p:nvSpPr>
        <p:spPr>
          <a:xfrm>
            <a:off x="9226296" y="5376672"/>
            <a:ext cx="3657600" cy="182880"/>
          </a:xfrm>
          <a:prstGeom prst="rect">
            <a:avLst/>
          </a:prstGeom>
          <a:noFill/>
          <a:ln/>
        </p:spPr>
        <p:txBody>
          <a:bodyPr wrap="square" lIns="0" tIns="0" rIns="0" bIns="0" rtlCol="0" anchor="t"/>
          <a:lstStyle/>
          <a:p>
            <a:pPr marL="0" indent="0">
              <a:buNone/>
            </a:pPr>
            <a:r>
              <a:rPr lang="en-US" sz="1000" b="1" dirty="0">
                <a:solidFill>
                  <a:srgbClr val="0F1518"/>
                </a:solidFill>
                <a:latin typeface="Calibri" pitchFamily="34" charset="0"/>
                <a:ea typeface="Calibri" pitchFamily="34" charset="-122"/>
                <a:cs typeface="Calibri" pitchFamily="34" charset="-120"/>
              </a:rPr>
              <a:t>Provider status page</a:t>
            </a:r>
            <a:endParaRPr lang="en-US" sz="1000" dirty="0"/>
          </a:p>
        </p:txBody>
      </p:sp>
      <p:sp>
        <p:nvSpPr>
          <p:cNvPr id="96" name="Text 94"/>
          <p:cNvSpPr txBox="1"/>
          <p:nvPr/>
        </p:nvSpPr>
        <p:spPr>
          <a:xfrm>
            <a:off x="9226296" y="5559552"/>
            <a:ext cx="2560320" cy="329184"/>
          </a:xfrm>
          <a:prstGeom prst="rect">
            <a:avLst/>
          </a:prstGeom>
          <a:noFill/>
          <a:ln/>
        </p:spPr>
        <p:txBody>
          <a:bodyPr wrap="square" lIns="0" tIns="0" rIns="0" bIns="0" rtlCol="0" anchor="t"/>
          <a:lstStyle/>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names every provider and whether it</a:t>
            </a:r>
            <a:endParaRPr lang="en-US" sz="750" dirty="0"/>
          </a:p>
          <a:p>
            <a:pPr marL="0" indent="0">
              <a:lnSpc>
                <a:spcPct val="115000"/>
              </a:lnSpc>
              <a:buNone/>
            </a:pPr>
            <a:r>
              <a:rPr lang="en-US" sz="750" dirty="0">
                <a:solidFill>
                  <a:srgbClr val="5B6A6E"/>
                </a:solidFill>
                <a:latin typeface="Consolas" pitchFamily="34" charset="0"/>
                <a:ea typeface="Consolas" pitchFamily="34" charset="-122"/>
                <a:cs typeface="Consolas" pitchFamily="34" charset="-120"/>
              </a:rPr>
              <a:t>is configured — payments are missing</a:t>
            </a:r>
            <a:endParaRPr lang="en-US" sz="750" dirty="0"/>
          </a:p>
        </p:txBody>
      </p:sp>
      <p:sp>
        <p:nvSpPr>
          <p:cNvPr id="97" name="Shape 95"/>
          <p:cNvSpPr/>
          <p:nvPr/>
        </p:nvSpPr>
        <p:spPr>
          <a:xfrm>
            <a:off x="384048" y="6089904"/>
            <a:ext cx="11430000" cy="0"/>
          </a:xfrm>
          <a:prstGeom prst="line">
            <a:avLst/>
          </a:prstGeom>
          <a:noFill/>
          <a:ln w="12700">
            <a:solidFill>
              <a:srgbClr val="D5DCDD"/>
            </a:solidFill>
            <a:prstDash val="solid"/>
          </a:ln>
        </p:spPr>
        <p:txBody>
          <a:bodyPr/>
          <a:lstStyle/>
          <a:p>
            <a:endParaRPr lang="en-AU"/>
          </a:p>
        </p:txBody>
      </p:sp>
      <p:sp>
        <p:nvSpPr>
          <p:cNvPr id="101" name="Rectangle 100">
            <a:extLst>
              <a:ext uri="{FF2B5EF4-FFF2-40B4-BE49-F238E27FC236}">
                <a16:creationId xmlns:a16="http://schemas.microsoft.com/office/drawing/2014/main" id="{C646B9AF-E8CE-2182-43E5-25A6283A53E4}"/>
              </a:ext>
            </a:extLst>
          </p:cNvPr>
          <p:cNvSpPr/>
          <p:nvPr/>
        </p:nvSpPr>
        <p:spPr>
          <a:xfrm>
            <a:off x="0" y="0"/>
            <a:ext cx="164592" cy="6858000"/>
          </a:xfrm>
          <a:prstGeom prst="rect">
            <a:avLst/>
          </a:prstGeom>
          <a:solidFill>
            <a:srgbClr val="4FB8B8"/>
          </a:solidFill>
          <a:ln>
            <a:noFill/>
          </a:ln>
          <a:effectLst/>
        </p:spPr>
        <p:txBody>
          <a:bodyPr rtlCol="0" anchor="ctr"/>
          <a:lstStyle/>
          <a:p>
            <a:endParaRPr/>
          </a:p>
        </p:txBody>
      </p:sp>
      <p:sp>
        <p:nvSpPr>
          <p:cNvPr id="103" name="TextBox 102">
            <a:extLst>
              <a:ext uri="{FF2B5EF4-FFF2-40B4-BE49-F238E27FC236}">
                <a16:creationId xmlns:a16="http://schemas.microsoft.com/office/drawing/2014/main" id="{393B7C86-0E67-C3B3-2805-9CABB33A321B}"/>
              </a:ext>
            </a:extLst>
          </p:cNvPr>
          <p:cNvSpPr txBox="1"/>
          <p:nvPr/>
        </p:nvSpPr>
        <p:spPr>
          <a:xfrm>
            <a:off x="10545775" y="274320"/>
            <a:ext cx="822960" cy="121315"/>
          </a:xfrm>
          <a:prstGeom prst="rect">
            <a:avLst/>
          </a:prstGeom>
          <a:noFill/>
        </p:spPr>
        <p:txBody>
          <a:bodyPr wrap="square" lIns="0" tIns="0" rIns="0" bIns="0" anchor="t">
            <a:spAutoFit/>
          </a:bodyPr>
          <a:lstStyle/>
          <a:p>
            <a:pPr algn="r">
              <a:lnSpc>
                <a:spcPct val="115000"/>
              </a:lnSpc>
              <a:spcAft>
                <a:spcPts val="0"/>
              </a:spcAft>
            </a:pPr>
            <a:r>
              <a:rPr lang="en-US" sz="750" b="1" spc="100" dirty="0">
                <a:solidFill>
                  <a:srgbClr val="2A6F8E"/>
                </a:solidFill>
                <a:latin typeface="Segoe UI"/>
              </a:rPr>
              <a:t>3</a:t>
            </a:r>
            <a:r>
              <a:rPr sz="750" b="1" spc="100" dirty="0">
                <a:solidFill>
                  <a:srgbClr val="2A6F8E"/>
                </a:solidFill>
                <a:latin typeface="Segoe UI"/>
              </a:rPr>
              <a:t> / 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endParaRPr/>
          </a:p>
        </p:txBody>
      </p:sp>
      <p:sp>
        <p:nvSpPr>
          <p:cNvPr id="3" name="Rectangle 2"/>
          <p:cNvSpPr/>
          <p:nvPr/>
        </p:nvSpPr>
        <p:spPr>
          <a:xfrm>
            <a:off x="0" y="0"/>
            <a:ext cx="164592" cy="6858000"/>
          </a:xfrm>
          <a:prstGeom prst="rect">
            <a:avLst/>
          </a:prstGeom>
          <a:solidFill>
            <a:srgbClr val="4FB8B8"/>
          </a:solidFill>
          <a:ln>
            <a:noFill/>
          </a:ln>
          <a:effectLst/>
        </p:spPr>
        <p:txBody>
          <a:bodyPr rtlCol="0" anchor="ctr"/>
          <a:lstStyle/>
          <a:p>
            <a:endParaRPr/>
          </a:p>
        </p:txBody>
      </p:sp>
      <p:sp>
        <p:nvSpPr>
          <p:cNvPr id="4" name="TextBox 3"/>
          <p:cNvSpPr txBox="1"/>
          <p:nvPr/>
        </p:nvSpPr>
        <p:spPr>
          <a:xfrm>
            <a:off x="822960" y="274320"/>
            <a:ext cx="9722815" cy="201168"/>
          </a:xfrm>
          <a:prstGeom prst="rect">
            <a:avLst/>
          </a:prstGeom>
          <a:noFill/>
        </p:spPr>
        <p:txBody>
          <a:bodyPr wrap="square" lIns="0" tIns="0" rIns="0" bIns="0" anchor="t">
            <a:spAutoFit/>
          </a:bodyPr>
          <a:lstStyle/>
          <a:p>
            <a:pPr algn="l">
              <a:lnSpc>
                <a:spcPct val="115000"/>
              </a:lnSpc>
              <a:spcAft>
                <a:spcPts val="0"/>
              </a:spcAft>
            </a:pPr>
            <a:r>
              <a:rPr sz="750" b="1" spc="160">
                <a:solidFill>
                  <a:srgbClr val="6E7C8C"/>
                </a:solidFill>
                <a:latin typeface="Segoe UI"/>
              </a:rPr>
              <a:t>BUSINESS ANALYST SERVICES  ·  CLAUDE DEMONSTRATION  ·  PRACTICAL AI FOR END-TO-END BUSINESS ANALYSIS</a:t>
            </a:r>
          </a:p>
        </p:txBody>
      </p:sp>
      <p:sp>
        <p:nvSpPr>
          <p:cNvPr id="5" name="TextBox 4"/>
          <p:cNvSpPr txBox="1"/>
          <p:nvPr/>
        </p:nvSpPr>
        <p:spPr>
          <a:xfrm>
            <a:off x="10545775" y="274320"/>
            <a:ext cx="822960" cy="201168"/>
          </a:xfrm>
          <a:prstGeom prst="rect">
            <a:avLst/>
          </a:prstGeom>
          <a:noFill/>
        </p:spPr>
        <p:txBody>
          <a:bodyPr wrap="square" lIns="0" tIns="0" rIns="0" bIns="0" anchor="t">
            <a:spAutoFit/>
          </a:bodyPr>
          <a:lstStyle/>
          <a:p>
            <a:pPr algn="r">
              <a:lnSpc>
                <a:spcPct val="115000"/>
              </a:lnSpc>
              <a:spcAft>
                <a:spcPts val="0"/>
              </a:spcAft>
            </a:pPr>
            <a:r>
              <a:rPr sz="750" b="1" spc="100">
                <a:solidFill>
                  <a:srgbClr val="2A6F8E"/>
                </a:solidFill>
                <a:latin typeface="Segoe UI"/>
              </a:rPr>
              <a:t>4 / 7</a:t>
            </a:r>
          </a:p>
        </p:txBody>
      </p:sp>
      <p:sp>
        <p:nvSpPr>
          <p:cNvPr id="6" name="Rectangle 5"/>
          <p:cNvSpPr/>
          <p:nvPr/>
        </p:nvSpPr>
        <p:spPr>
          <a:xfrm>
            <a:off x="822960" y="566928"/>
            <a:ext cx="10545775" cy="10972"/>
          </a:xfrm>
          <a:prstGeom prst="rect">
            <a:avLst/>
          </a:prstGeom>
          <a:solidFill>
            <a:srgbClr val="E2EAF3"/>
          </a:solidFill>
          <a:ln>
            <a:noFill/>
          </a:ln>
          <a:effectLst/>
        </p:spPr>
        <p:txBody>
          <a:bodyPr rtlCol="0" anchor="ctr"/>
          <a:lstStyle/>
          <a:p>
            <a:endParaRPr/>
          </a:p>
        </p:txBody>
      </p:sp>
      <p:sp>
        <p:nvSpPr>
          <p:cNvPr id="7" name="TextBox 6"/>
          <p:cNvSpPr txBox="1"/>
          <p:nvPr/>
        </p:nvSpPr>
        <p:spPr>
          <a:xfrm>
            <a:off x="822960" y="786384"/>
            <a:ext cx="10545775" cy="201168"/>
          </a:xfrm>
          <a:prstGeom prst="rect">
            <a:avLst/>
          </a:prstGeom>
          <a:noFill/>
        </p:spPr>
        <p:txBody>
          <a:bodyPr wrap="square" lIns="0" tIns="0" rIns="0" bIns="0" anchor="t">
            <a:spAutoFit/>
          </a:bodyPr>
          <a:lstStyle/>
          <a:p>
            <a:pPr algn="l">
              <a:lnSpc>
                <a:spcPct val="115000"/>
              </a:lnSpc>
              <a:spcAft>
                <a:spcPts val="0"/>
              </a:spcAft>
            </a:pPr>
            <a:r>
              <a:rPr sz="850" b="1" spc="180">
                <a:solidFill>
                  <a:srgbClr val="2A6F8E"/>
                </a:solidFill>
                <a:latin typeface="Segoe UI"/>
              </a:rPr>
              <a:t>THE CHAIN</a:t>
            </a:r>
          </a:p>
        </p:txBody>
      </p:sp>
      <p:sp>
        <p:nvSpPr>
          <p:cNvPr id="8" name="TextBox 7"/>
          <p:cNvSpPr txBox="1"/>
          <p:nvPr/>
        </p:nvSpPr>
        <p:spPr>
          <a:xfrm>
            <a:off x="822960" y="1024128"/>
            <a:ext cx="10545775" cy="457200"/>
          </a:xfrm>
          <a:prstGeom prst="rect">
            <a:avLst/>
          </a:prstGeom>
          <a:noFill/>
        </p:spPr>
        <p:txBody>
          <a:bodyPr wrap="square" lIns="0" tIns="0" rIns="0" bIns="0" anchor="t">
            <a:spAutoFit/>
          </a:bodyPr>
          <a:lstStyle/>
          <a:p>
            <a:pPr algn="l">
              <a:lnSpc>
                <a:spcPct val="105000"/>
              </a:lnSpc>
              <a:spcAft>
                <a:spcPts val="0"/>
              </a:spcAft>
            </a:pPr>
            <a:r>
              <a:rPr sz="2600" b="1">
                <a:solidFill>
                  <a:srgbClr val="1E3A5F"/>
                </a:solidFill>
                <a:latin typeface="Segoe UI"/>
              </a:rPr>
              <a:t>Every box has an ordinary vendor behind it</a:t>
            </a:r>
          </a:p>
        </p:txBody>
      </p:sp>
      <p:sp>
        <p:nvSpPr>
          <p:cNvPr id="9" name="TextBox 8"/>
          <p:cNvSpPr txBox="1"/>
          <p:nvPr/>
        </p:nvSpPr>
        <p:spPr>
          <a:xfrm>
            <a:off x="822960" y="1649770"/>
            <a:ext cx="9265615" cy="457200"/>
          </a:xfrm>
          <a:prstGeom prst="rect">
            <a:avLst/>
          </a:prstGeom>
          <a:noFill/>
        </p:spPr>
        <p:txBody>
          <a:bodyPr wrap="square" lIns="0" tIns="0" rIns="0" bIns="0" anchor="t">
            <a:spAutoFit/>
          </a:bodyPr>
          <a:lstStyle/>
          <a:p>
            <a:pPr algn="l">
              <a:lnSpc>
                <a:spcPct val="135000"/>
              </a:lnSpc>
              <a:spcAft>
                <a:spcPts val="0"/>
              </a:spcAft>
            </a:pPr>
            <a:r>
              <a:rPr sz="1100" b="0">
                <a:solidFill>
                  <a:srgbClr val="6E7C8C"/>
                </a:solidFill>
                <a:latin typeface="Segoe UI"/>
              </a:rPr>
              <a:t>The same system, drawn as the six hops a change actually travels — and who did what at each one.</a:t>
            </a:r>
          </a:p>
        </p:txBody>
      </p:sp>
      <p:pic>
        <p:nvPicPr>
          <p:cNvPr id="10" name="Picture 9" descr="diagA.png"/>
          <p:cNvPicPr>
            <a:picLocks noChangeAspect="1"/>
          </p:cNvPicPr>
          <p:nvPr/>
        </p:nvPicPr>
        <p:blipFill>
          <a:blip r:embed="rId3"/>
          <a:stretch>
            <a:fillRect/>
          </a:stretch>
        </p:blipFill>
        <p:spPr>
          <a:xfrm>
            <a:off x="822960" y="2025178"/>
            <a:ext cx="10545775" cy="3630602"/>
          </a:xfrm>
          <a:prstGeom prst="rect">
            <a:avLst/>
          </a:prstGeom>
        </p:spPr>
      </p:pic>
      <p:sp>
        <p:nvSpPr>
          <p:cNvPr id="11" name="Rectangle 10"/>
          <p:cNvSpPr/>
          <p:nvPr/>
        </p:nvSpPr>
        <p:spPr>
          <a:xfrm>
            <a:off x="822960" y="5925312"/>
            <a:ext cx="10545775" cy="548640"/>
          </a:xfrm>
          <a:prstGeom prst="rect">
            <a:avLst/>
          </a:prstGeom>
          <a:solidFill>
            <a:srgbClr val="1E3A5F"/>
          </a:solidFill>
          <a:ln>
            <a:noFill/>
          </a:ln>
          <a:effectLst/>
        </p:spPr>
        <p:txBody>
          <a:bodyPr rtlCol="0" anchor="ctr"/>
          <a:lstStyle/>
          <a:p>
            <a:endParaRPr/>
          </a:p>
        </p:txBody>
      </p:sp>
      <p:sp>
        <p:nvSpPr>
          <p:cNvPr id="12" name="TextBox 11"/>
          <p:cNvSpPr txBox="1"/>
          <p:nvPr/>
        </p:nvSpPr>
        <p:spPr>
          <a:xfrm>
            <a:off x="1097280" y="6062472"/>
            <a:ext cx="9997135" cy="292608"/>
          </a:xfrm>
          <a:prstGeom prst="rect">
            <a:avLst/>
          </a:prstGeom>
          <a:noFill/>
        </p:spPr>
        <p:txBody>
          <a:bodyPr wrap="square" lIns="0" tIns="0" rIns="0" bIns="0" anchor="t">
            <a:spAutoFit/>
          </a:bodyPr>
          <a:lstStyle/>
          <a:p>
            <a:pPr algn="l">
              <a:lnSpc>
                <a:spcPct val="130000"/>
              </a:lnSpc>
              <a:spcAft>
                <a:spcPts val="0"/>
              </a:spcAft>
            </a:pPr>
            <a:r>
              <a:rPr sz="1000" b="1">
                <a:solidFill>
                  <a:srgbClr val="4FB8B8"/>
                </a:solidFill>
                <a:latin typeface="Segoe UI"/>
              </a:rPr>
              <a:t>This row, left to right, is the demonstration. </a:t>
            </a:r>
            <a:r>
              <a:rPr sz="1000" b="0">
                <a:solidFill>
                  <a:srgbClr val="FFFFFF"/>
                </a:solidFill>
                <a:latin typeface="Segoe UI"/>
              </a:rPr>
              <a:t>Ten minutes is enough because there is nothing between the hops — no export, no restatement, no second copy of the truth.</a:t>
            </a:r>
          </a:p>
        </p:txBody>
      </p:sp>
      <p:pic>
        <p:nvPicPr>
          <p:cNvPr id="16" name="Picture 15">
            <a:extLst>
              <a:ext uri="{FF2B5EF4-FFF2-40B4-BE49-F238E27FC236}">
                <a16:creationId xmlns:a16="http://schemas.microsoft.com/office/drawing/2014/main" id="{BADF7C31-CD93-B468-A40C-2639705159E1}"/>
              </a:ext>
            </a:extLst>
          </p:cNvPr>
          <p:cNvPicPr>
            <a:picLocks noChangeAspect="1"/>
          </p:cNvPicPr>
          <p:nvPr/>
        </p:nvPicPr>
        <p:blipFill>
          <a:blip r:embed="rId4"/>
          <a:stretch>
            <a:fillRect/>
          </a:stretch>
        </p:blipFill>
        <p:spPr>
          <a:xfrm>
            <a:off x="10322918" y="512506"/>
            <a:ext cx="1407734" cy="14077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endParaRPr/>
          </a:p>
        </p:txBody>
      </p:sp>
      <p:sp>
        <p:nvSpPr>
          <p:cNvPr id="3" name="Rectangle 2"/>
          <p:cNvSpPr/>
          <p:nvPr/>
        </p:nvSpPr>
        <p:spPr>
          <a:xfrm>
            <a:off x="0" y="0"/>
            <a:ext cx="164592" cy="6858000"/>
          </a:xfrm>
          <a:prstGeom prst="rect">
            <a:avLst/>
          </a:prstGeom>
          <a:solidFill>
            <a:srgbClr val="4FB8B8"/>
          </a:solidFill>
          <a:ln>
            <a:noFill/>
          </a:ln>
          <a:effectLst/>
        </p:spPr>
        <p:txBody>
          <a:bodyPr rtlCol="0" anchor="ctr"/>
          <a:lstStyle/>
          <a:p>
            <a:endParaRPr/>
          </a:p>
        </p:txBody>
      </p:sp>
      <p:sp>
        <p:nvSpPr>
          <p:cNvPr id="4" name="TextBox 3"/>
          <p:cNvSpPr txBox="1"/>
          <p:nvPr/>
        </p:nvSpPr>
        <p:spPr>
          <a:xfrm>
            <a:off x="822960" y="274320"/>
            <a:ext cx="9722815" cy="201168"/>
          </a:xfrm>
          <a:prstGeom prst="rect">
            <a:avLst/>
          </a:prstGeom>
          <a:noFill/>
        </p:spPr>
        <p:txBody>
          <a:bodyPr wrap="square" lIns="0" tIns="0" rIns="0" bIns="0" anchor="t">
            <a:spAutoFit/>
          </a:bodyPr>
          <a:lstStyle/>
          <a:p>
            <a:pPr algn="l">
              <a:lnSpc>
                <a:spcPct val="115000"/>
              </a:lnSpc>
              <a:spcAft>
                <a:spcPts val="0"/>
              </a:spcAft>
            </a:pPr>
            <a:r>
              <a:rPr sz="750" b="1" spc="160">
                <a:solidFill>
                  <a:srgbClr val="6E7C8C"/>
                </a:solidFill>
                <a:latin typeface="Segoe UI"/>
              </a:rPr>
              <a:t>BUSINESS ANALYST SERVICES  ·  CLAUDE DEMONSTRATION  ·  PRACTICAL AI FOR END-TO-END BUSINESS ANALYSIS</a:t>
            </a:r>
          </a:p>
        </p:txBody>
      </p:sp>
      <p:sp>
        <p:nvSpPr>
          <p:cNvPr id="5" name="TextBox 4"/>
          <p:cNvSpPr txBox="1"/>
          <p:nvPr/>
        </p:nvSpPr>
        <p:spPr>
          <a:xfrm>
            <a:off x="10545775" y="274320"/>
            <a:ext cx="822960" cy="201168"/>
          </a:xfrm>
          <a:prstGeom prst="rect">
            <a:avLst/>
          </a:prstGeom>
          <a:noFill/>
        </p:spPr>
        <p:txBody>
          <a:bodyPr wrap="square" lIns="0" tIns="0" rIns="0" bIns="0" anchor="t">
            <a:spAutoFit/>
          </a:bodyPr>
          <a:lstStyle/>
          <a:p>
            <a:pPr algn="r">
              <a:lnSpc>
                <a:spcPct val="115000"/>
              </a:lnSpc>
              <a:spcAft>
                <a:spcPts val="0"/>
              </a:spcAft>
            </a:pPr>
            <a:r>
              <a:rPr sz="750" b="1" spc="100">
                <a:solidFill>
                  <a:srgbClr val="2A6F8E"/>
                </a:solidFill>
                <a:latin typeface="Segoe UI"/>
              </a:rPr>
              <a:t>5 / 7</a:t>
            </a:r>
          </a:p>
        </p:txBody>
      </p:sp>
      <p:sp>
        <p:nvSpPr>
          <p:cNvPr id="6" name="Rectangle 5"/>
          <p:cNvSpPr/>
          <p:nvPr/>
        </p:nvSpPr>
        <p:spPr>
          <a:xfrm>
            <a:off x="822960" y="566928"/>
            <a:ext cx="10545775" cy="10972"/>
          </a:xfrm>
          <a:prstGeom prst="rect">
            <a:avLst/>
          </a:prstGeom>
          <a:solidFill>
            <a:srgbClr val="E2EAF3"/>
          </a:solidFill>
          <a:ln>
            <a:noFill/>
          </a:ln>
          <a:effectLst/>
        </p:spPr>
        <p:txBody>
          <a:bodyPr rtlCol="0" anchor="ctr"/>
          <a:lstStyle/>
          <a:p>
            <a:endParaRPr/>
          </a:p>
        </p:txBody>
      </p:sp>
      <p:sp>
        <p:nvSpPr>
          <p:cNvPr id="7" name="TextBox 6"/>
          <p:cNvSpPr txBox="1"/>
          <p:nvPr/>
        </p:nvSpPr>
        <p:spPr>
          <a:xfrm>
            <a:off x="822960" y="786384"/>
            <a:ext cx="10545775" cy="201168"/>
          </a:xfrm>
          <a:prstGeom prst="rect">
            <a:avLst/>
          </a:prstGeom>
          <a:noFill/>
        </p:spPr>
        <p:txBody>
          <a:bodyPr wrap="square" lIns="0" tIns="0" rIns="0" bIns="0" anchor="t">
            <a:spAutoFit/>
          </a:bodyPr>
          <a:lstStyle/>
          <a:p>
            <a:pPr algn="l">
              <a:lnSpc>
                <a:spcPct val="115000"/>
              </a:lnSpc>
              <a:spcAft>
                <a:spcPts val="0"/>
              </a:spcAft>
            </a:pPr>
            <a:r>
              <a:rPr sz="850" b="1" spc="180">
                <a:solidFill>
                  <a:srgbClr val="2A6F8E"/>
                </a:solidFill>
                <a:latin typeface="Segoe UI"/>
              </a:rPr>
              <a:t>SCALING IT</a:t>
            </a:r>
          </a:p>
        </p:txBody>
      </p:sp>
      <p:sp>
        <p:nvSpPr>
          <p:cNvPr id="8" name="TextBox 7"/>
          <p:cNvSpPr txBox="1"/>
          <p:nvPr/>
        </p:nvSpPr>
        <p:spPr>
          <a:xfrm>
            <a:off x="822960" y="1024128"/>
            <a:ext cx="10545775" cy="457200"/>
          </a:xfrm>
          <a:prstGeom prst="rect">
            <a:avLst/>
          </a:prstGeom>
          <a:noFill/>
        </p:spPr>
        <p:txBody>
          <a:bodyPr wrap="square" lIns="0" tIns="0" rIns="0" bIns="0" anchor="t">
            <a:spAutoFit/>
          </a:bodyPr>
          <a:lstStyle/>
          <a:p>
            <a:pPr algn="l">
              <a:lnSpc>
                <a:spcPct val="105000"/>
              </a:lnSpc>
              <a:spcAft>
                <a:spcPts val="0"/>
              </a:spcAft>
            </a:pPr>
            <a:r>
              <a:rPr sz="2600" b="1">
                <a:solidFill>
                  <a:srgbClr val="1E3A5F"/>
                </a:solidFill>
                <a:latin typeface="Segoe UI"/>
              </a:rPr>
              <a:t>Swap the vendors. Keep the contract.</a:t>
            </a:r>
          </a:p>
        </p:txBody>
      </p:sp>
      <p:sp>
        <p:nvSpPr>
          <p:cNvPr id="9" name="TextBox 8"/>
          <p:cNvSpPr txBox="1"/>
          <p:nvPr/>
        </p:nvSpPr>
        <p:spPr>
          <a:xfrm>
            <a:off x="822960" y="1649770"/>
            <a:ext cx="9265615" cy="457200"/>
          </a:xfrm>
          <a:prstGeom prst="rect">
            <a:avLst/>
          </a:prstGeom>
          <a:noFill/>
        </p:spPr>
        <p:txBody>
          <a:bodyPr wrap="square" lIns="0" tIns="0" rIns="0" bIns="0" anchor="t">
            <a:spAutoFit/>
          </a:bodyPr>
          <a:lstStyle/>
          <a:p>
            <a:pPr algn="l">
              <a:lnSpc>
                <a:spcPct val="135000"/>
              </a:lnSpc>
              <a:spcAft>
                <a:spcPts val="0"/>
              </a:spcAft>
            </a:pPr>
            <a:r>
              <a:rPr sz="1100" b="0">
                <a:solidFill>
                  <a:srgbClr val="6E7C8C"/>
                </a:solidFill>
                <a:latin typeface="Segoe UI"/>
              </a:rPr>
              <a:t>This is the enterprise question, answered directly: nothing in the pattern depends on the specific tools on the left.</a:t>
            </a:r>
          </a:p>
        </p:txBody>
      </p:sp>
      <p:pic>
        <p:nvPicPr>
          <p:cNvPr id="10" name="Picture 9" descr="diagB.png"/>
          <p:cNvPicPr>
            <a:picLocks noChangeAspect="1"/>
          </p:cNvPicPr>
          <p:nvPr/>
        </p:nvPicPr>
        <p:blipFill>
          <a:blip r:embed="rId3"/>
          <a:stretch>
            <a:fillRect/>
          </a:stretch>
        </p:blipFill>
        <p:spPr>
          <a:xfrm>
            <a:off x="822960" y="1978619"/>
            <a:ext cx="10545775" cy="4308937"/>
          </a:xfrm>
          <a:prstGeom prst="rect">
            <a:avLst/>
          </a:prstGeom>
        </p:spPr>
      </p:pic>
      <p:sp>
        <p:nvSpPr>
          <p:cNvPr id="11" name="TextBox 10"/>
          <p:cNvSpPr txBox="1"/>
          <p:nvPr/>
        </p:nvSpPr>
        <p:spPr>
          <a:xfrm>
            <a:off x="822960" y="6419088"/>
            <a:ext cx="10545775" cy="274320"/>
          </a:xfrm>
          <a:prstGeom prst="rect">
            <a:avLst/>
          </a:prstGeom>
          <a:noFill/>
        </p:spPr>
        <p:txBody>
          <a:bodyPr wrap="square" lIns="0" tIns="0" rIns="0" bIns="0" anchor="t">
            <a:spAutoFit/>
          </a:bodyPr>
          <a:lstStyle/>
          <a:p>
            <a:pPr algn="l">
              <a:lnSpc>
                <a:spcPct val="130000"/>
              </a:lnSpc>
              <a:spcAft>
                <a:spcPts val="0"/>
              </a:spcAft>
            </a:pPr>
            <a:r>
              <a:rPr sz="950" b="1">
                <a:solidFill>
                  <a:srgbClr val="1E3A5F"/>
                </a:solidFill>
                <a:latin typeface="Segoe UI"/>
              </a:rPr>
              <a:t>The left column is business analysis. </a:t>
            </a:r>
            <a:r>
              <a:rPr sz="950" b="0">
                <a:solidFill>
                  <a:srgbClr val="33475C"/>
                </a:solidFill>
                <a:latin typeface="Segoe UI"/>
              </a:rPr>
              <a:t>The right column is procurement. Confusing the two is how AI pilots become vendor trials and then quietly stop.</a:t>
            </a:r>
          </a:p>
        </p:txBody>
      </p:sp>
      <p:pic>
        <p:nvPicPr>
          <p:cNvPr id="13" name="Picture 12">
            <a:extLst>
              <a:ext uri="{FF2B5EF4-FFF2-40B4-BE49-F238E27FC236}">
                <a16:creationId xmlns:a16="http://schemas.microsoft.com/office/drawing/2014/main" id="{22E89386-7087-C44B-F500-66882C691CD1}"/>
              </a:ext>
            </a:extLst>
          </p:cNvPr>
          <p:cNvPicPr>
            <a:picLocks noChangeAspect="1"/>
          </p:cNvPicPr>
          <p:nvPr/>
        </p:nvPicPr>
        <p:blipFill>
          <a:blip r:embed="rId4"/>
          <a:stretch>
            <a:fillRect/>
          </a:stretch>
        </p:blipFill>
        <p:spPr>
          <a:xfrm>
            <a:off x="10322918" y="512506"/>
            <a:ext cx="1407734" cy="14077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endParaRPr/>
          </a:p>
        </p:txBody>
      </p:sp>
      <p:sp>
        <p:nvSpPr>
          <p:cNvPr id="3" name="Rectangle 2"/>
          <p:cNvSpPr/>
          <p:nvPr/>
        </p:nvSpPr>
        <p:spPr>
          <a:xfrm>
            <a:off x="0" y="0"/>
            <a:ext cx="164592" cy="6858000"/>
          </a:xfrm>
          <a:prstGeom prst="rect">
            <a:avLst/>
          </a:prstGeom>
          <a:solidFill>
            <a:srgbClr val="4FB8B8"/>
          </a:solidFill>
          <a:ln>
            <a:noFill/>
          </a:ln>
          <a:effectLst/>
        </p:spPr>
        <p:txBody>
          <a:bodyPr rtlCol="0" anchor="ctr"/>
          <a:lstStyle/>
          <a:p>
            <a:endParaRPr/>
          </a:p>
        </p:txBody>
      </p:sp>
      <p:sp>
        <p:nvSpPr>
          <p:cNvPr id="4" name="TextBox 3"/>
          <p:cNvSpPr txBox="1"/>
          <p:nvPr/>
        </p:nvSpPr>
        <p:spPr>
          <a:xfrm>
            <a:off x="822960" y="274320"/>
            <a:ext cx="9722815" cy="201168"/>
          </a:xfrm>
          <a:prstGeom prst="rect">
            <a:avLst/>
          </a:prstGeom>
          <a:noFill/>
        </p:spPr>
        <p:txBody>
          <a:bodyPr wrap="square" lIns="0" tIns="0" rIns="0" bIns="0" anchor="t">
            <a:spAutoFit/>
          </a:bodyPr>
          <a:lstStyle/>
          <a:p>
            <a:pPr algn="l">
              <a:lnSpc>
                <a:spcPct val="115000"/>
              </a:lnSpc>
              <a:spcAft>
                <a:spcPts val="0"/>
              </a:spcAft>
            </a:pPr>
            <a:r>
              <a:rPr sz="750" b="1" spc="160">
                <a:solidFill>
                  <a:srgbClr val="6E7C8C"/>
                </a:solidFill>
                <a:latin typeface="Segoe UI"/>
              </a:rPr>
              <a:t>BUSINESS ANALYST SERVICES  ·  CLAUDE DEMONSTRATION  ·  PRACTICAL AI FOR END-TO-END BUSINESS ANALYSIS</a:t>
            </a:r>
          </a:p>
        </p:txBody>
      </p:sp>
      <p:sp>
        <p:nvSpPr>
          <p:cNvPr id="5" name="TextBox 4"/>
          <p:cNvSpPr txBox="1"/>
          <p:nvPr/>
        </p:nvSpPr>
        <p:spPr>
          <a:xfrm>
            <a:off x="10545775" y="274320"/>
            <a:ext cx="822960" cy="201168"/>
          </a:xfrm>
          <a:prstGeom prst="rect">
            <a:avLst/>
          </a:prstGeom>
          <a:noFill/>
        </p:spPr>
        <p:txBody>
          <a:bodyPr wrap="square" lIns="0" tIns="0" rIns="0" bIns="0" anchor="t">
            <a:spAutoFit/>
          </a:bodyPr>
          <a:lstStyle/>
          <a:p>
            <a:pPr algn="r">
              <a:lnSpc>
                <a:spcPct val="115000"/>
              </a:lnSpc>
              <a:spcAft>
                <a:spcPts val="0"/>
              </a:spcAft>
            </a:pPr>
            <a:r>
              <a:rPr sz="750" b="1" spc="100">
                <a:solidFill>
                  <a:srgbClr val="2A6F8E"/>
                </a:solidFill>
                <a:latin typeface="Segoe UI"/>
              </a:rPr>
              <a:t>6 / 7</a:t>
            </a:r>
          </a:p>
        </p:txBody>
      </p:sp>
      <p:sp>
        <p:nvSpPr>
          <p:cNvPr id="6" name="Rectangle 5"/>
          <p:cNvSpPr/>
          <p:nvPr/>
        </p:nvSpPr>
        <p:spPr>
          <a:xfrm>
            <a:off x="822960" y="566928"/>
            <a:ext cx="10545775" cy="10972"/>
          </a:xfrm>
          <a:prstGeom prst="rect">
            <a:avLst/>
          </a:prstGeom>
          <a:solidFill>
            <a:srgbClr val="E2EAF3"/>
          </a:solidFill>
          <a:ln>
            <a:noFill/>
          </a:ln>
          <a:effectLst/>
        </p:spPr>
        <p:txBody>
          <a:bodyPr rtlCol="0" anchor="ctr"/>
          <a:lstStyle/>
          <a:p>
            <a:endParaRPr/>
          </a:p>
        </p:txBody>
      </p:sp>
      <p:sp>
        <p:nvSpPr>
          <p:cNvPr id="7" name="TextBox 6"/>
          <p:cNvSpPr txBox="1"/>
          <p:nvPr/>
        </p:nvSpPr>
        <p:spPr>
          <a:xfrm>
            <a:off x="822960" y="786384"/>
            <a:ext cx="10545775" cy="201168"/>
          </a:xfrm>
          <a:prstGeom prst="rect">
            <a:avLst/>
          </a:prstGeom>
          <a:noFill/>
        </p:spPr>
        <p:txBody>
          <a:bodyPr wrap="square" lIns="0" tIns="0" rIns="0" bIns="0" anchor="t">
            <a:spAutoFit/>
          </a:bodyPr>
          <a:lstStyle/>
          <a:p>
            <a:pPr algn="l">
              <a:lnSpc>
                <a:spcPct val="115000"/>
              </a:lnSpc>
              <a:spcAft>
                <a:spcPts val="0"/>
              </a:spcAft>
            </a:pPr>
            <a:r>
              <a:rPr sz="850" b="1" spc="180">
                <a:solidFill>
                  <a:srgbClr val="2A6F8E"/>
                </a:solidFill>
                <a:latin typeface="Segoe UI"/>
              </a:rPr>
              <a:t>WHAT MAKES IT SAFE</a:t>
            </a:r>
          </a:p>
        </p:txBody>
      </p:sp>
      <p:sp>
        <p:nvSpPr>
          <p:cNvPr id="8" name="TextBox 7"/>
          <p:cNvSpPr txBox="1"/>
          <p:nvPr/>
        </p:nvSpPr>
        <p:spPr>
          <a:xfrm>
            <a:off x="822960" y="1024128"/>
            <a:ext cx="10545775" cy="457200"/>
          </a:xfrm>
          <a:prstGeom prst="rect">
            <a:avLst/>
          </a:prstGeom>
          <a:noFill/>
        </p:spPr>
        <p:txBody>
          <a:bodyPr wrap="square" lIns="0" tIns="0" rIns="0" bIns="0" anchor="t">
            <a:spAutoFit/>
          </a:bodyPr>
          <a:lstStyle/>
          <a:p>
            <a:pPr algn="l">
              <a:lnSpc>
                <a:spcPct val="105000"/>
              </a:lnSpc>
              <a:spcAft>
                <a:spcPts val="0"/>
              </a:spcAft>
            </a:pPr>
            <a:r>
              <a:rPr sz="2600" b="1">
                <a:solidFill>
                  <a:srgbClr val="1E3A5F"/>
                </a:solidFill>
                <a:latin typeface="Segoe UI"/>
              </a:rPr>
              <a:t>Four decisions someone had to write down</a:t>
            </a:r>
          </a:p>
        </p:txBody>
      </p:sp>
      <p:sp>
        <p:nvSpPr>
          <p:cNvPr id="9" name="TextBox 8"/>
          <p:cNvSpPr txBox="1"/>
          <p:nvPr/>
        </p:nvSpPr>
        <p:spPr>
          <a:xfrm>
            <a:off x="822960" y="1649770"/>
            <a:ext cx="9265615" cy="457200"/>
          </a:xfrm>
          <a:prstGeom prst="rect">
            <a:avLst/>
          </a:prstGeom>
          <a:noFill/>
        </p:spPr>
        <p:txBody>
          <a:bodyPr wrap="square" lIns="0" tIns="0" rIns="0" bIns="0" anchor="t">
            <a:spAutoFit/>
          </a:bodyPr>
          <a:lstStyle/>
          <a:p>
            <a:pPr algn="l">
              <a:lnSpc>
                <a:spcPct val="135000"/>
              </a:lnSpc>
              <a:spcAft>
                <a:spcPts val="0"/>
              </a:spcAft>
            </a:pPr>
            <a:r>
              <a:rPr sz="1100" b="0">
                <a:solidFill>
                  <a:srgbClr val="6E7C8C"/>
                </a:solidFill>
                <a:latin typeface="Segoe UI"/>
              </a:rPr>
              <a:t>These are the parts an enterprise cannot buy, inherit or generate. They are BA work, and they are what the course is actually about.</a:t>
            </a:r>
          </a:p>
        </p:txBody>
      </p:sp>
      <p:sp>
        <p:nvSpPr>
          <p:cNvPr id="10" name="Rectangle 9"/>
          <p:cNvSpPr/>
          <p:nvPr/>
        </p:nvSpPr>
        <p:spPr>
          <a:xfrm>
            <a:off x="822960" y="2231136"/>
            <a:ext cx="2464993" cy="2761488"/>
          </a:xfrm>
          <a:prstGeom prst="rect">
            <a:avLst/>
          </a:prstGeom>
          <a:solidFill>
            <a:srgbClr val="F4F7FB"/>
          </a:solidFill>
          <a:ln>
            <a:noFill/>
          </a:ln>
          <a:effectLst/>
        </p:spPr>
        <p:txBody>
          <a:bodyPr rtlCol="0" anchor="ctr"/>
          <a:lstStyle/>
          <a:p>
            <a:endParaRPr/>
          </a:p>
        </p:txBody>
      </p:sp>
      <p:sp>
        <p:nvSpPr>
          <p:cNvPr id="11" name="Rectangle 10"/>
          <p:cNvSpPr/>
          <p:nvPr/>
        </p:nvSpPr>
        <p:spPr>
          <a:xfrm>
            <a:off x="822960" y="2231136"/>
            <a:ext cx="2464993" cy="41148"/>
          </a:xfrm>
          <a:prstGeom prst="rect">
            <a:avLst/>
          </a:prstGeom>
          <a:solidFill>
            <a:srgbClr val="2A6F8E"/>
          </a:solidFill>
          <a:ln>
            <a:noFill/>
          </a:ln>
          <a:effectLst/>
        </p:spPr>
        <p:txBody>
          <a:bodyPr rtlCol="0" anchor="ctr"/>
          <a:lstStyle/>
          <a:p>
            <a:endParaRPr/>
          </a:p>
        </p:txBody>
      </p:sp>
      <p:sp>
        <p:nvSpPr>
          <p:cNvPr id="12" name="TextBox 11"/>
          <p:cNvSpPr txBox="1"/>
          <p:nvPr/>
        </p:nvSpPr>
        <p:spPr>
          <a:xfrm>
            <a:off x="1060704" y="2450592"/>
            <a:ext cx="2007793" cy="274320"/>
          </a:xfrm>
          <a:prstGeom prst="rect">
            <a:avLst/>
          </a:prstGeom>
          <a:noFill/>
        </p:spPr>
        <p:txBody>
          <a:bodyPr wrap="square" lIns="0" tIns="0" rIns="0" bIns="0" anchor="t">
            <a:spAutoFit/>
          </a:bodyPr>
          <a:lstStyle/>
          <a:p>
            <a:pPr algn="l">
              <a:lnSpc>
                <a:spcPct val="115000"/>
              </a:lnSpc>
              <a:spcAft>
                <a:spcPts val="0"/>
              </a:spcAft>
            </a:pPr>
            <a:r>
              <a:rPr sz="1500" b="1">
                <a:solidFill>
                  <a:srgbClr val="2A6F8E"/>
                </a:solidFill>
                <a:latin typeface="Segoe UI"/>
              </a:rPr>
              <a:t>01</a:t>
            </a:r>
          </a:p>
        </p:txBody>
      </p:sp>
      <p:sp>
        <p:nvSpPr>
          <p:cNvPr id="13" name="TextBox 12"/>
          <p:cNvSpPr txBox="1"/>
          <p:nvPr/>
        </p:nvSpPr>
        <p:spPr>
          <a:xfrm>
            <a:off x="1060704" y="2798064"/>
            <a:ext cx="2007793" cy="457200"/>
          </a:xfrm>
          <a:prstGeom prst="rect">
            <a:avLst/>
          </a:prstGeom>
          <a:noFill/>
        </p:spPr>
        <p:txBody>
          <a:bodyPr wrap="square" lIns="0" tIns="0" rIns="0" bIns="0" anchor="t">
            <a:spAutoFit/>
          </a:bodyPr>
          <a:lstStyle/>
          <a:p>
            <a:pPr algn="l">
              <a:lnSpc>
                <a:spcPct val="112000"/>
              </a:lnSpc>
              <a:spcAft>
                <a:spcPts val="0"/>
              </a:spcAft>
            </a:pPr>
            <a:r>
              <a:rPr sz="1250" b="1">
                <a:solidFill>
                  <a:srgbClr val="1E3A5F"/>
                </a:solidFill>
                <a:latin typeface="Segoe UI"/>
              </a:rPr>
              <a:t>One permission matrix</a:t>
            </a:r>
          </a:p>
        </p:txBody>
      </p:sp>
      <p:sp>
        <p:nvSpPr>
          <p:cNvPr id="14" name="TextBox 13"/>
          <p:cNvSpPr txBox="1"/>
          <p:nvPr/>
        </p:nvSpPr>
        <p:spPr>
          <a:xfrm>
            <a:off x="1060704" y="3401568"/>
            <a:ext cx="2007793" cy="1280160"/>
          </a:xfrm>
          <a:prstGeom prst="rect">
            <a:avLst/>
          </a:prstGeom>
          <a:noFill/>
        </p:spPr>
        <p:txBody>
          <a:bodyPr wrap="square" lIns="0" tIns="0" rIns="0" bIns="0" anchor="t">
            <a:spAutoFit/>
          </a:bodyPr>
          <a:lstStyle/>
          <a:p>
            <a:pPr algn="l">
              <a:lnSpc>
                <a:spcPct val="140000"/>
              </a:lnSpc>
              <a:spcAft>
                <a:spcPts val="0"/>
              </a:spcAft>
            </a:pPr>
            <a:r>
              <a:rPr sz="950" b="0">
                <a:solidFill>
                  <a:srgbClr val="33475C"/>
                </a:solidFill>
                <a:latin typeface="Segoe UI"/>
              </a:rPr>
              <a:t>Authorisation lives in server logic over the whole role set — nine roles, one matrix. The identity provider does credentials and sessions and nothing else, so an IdP swap is never an authorisation change.</a:t>
            </a:r>
          </a:p>
        </p:txBody>
      </p:sp>
      <p:sp>
        <p:nvSpPr>
          <p:cNvPr id="15" name="Rectangle 14"/>
          <p:cNvSpPr/>
          <p:nvPr/>
        </p:nvSpPr>
        <p:spPr>
          <a:xfrm>
            <a:off x="3516553" y="2231136"/>
            <a:ext cx="2464993" cy="2761488"/>
          </a:xfrm>
          <a:prstGeom prst="rect">
            <a:avLst/>
          </a:prstGeom>
          <a:solidFill>
            <a:srgbClr val="F4F7FB"/>
          </a:solidFill>
          <a:ln>
            <a:noFill/>
          </a:ln>
          <a:effectLst/>
        </p:spPr>
        <p:txBody>
          <a:bodyPr rtlCol="0" anchor="ctr"/>
          <a:lstStyle/>
          <a:p>
            <a:endParaRPr/>
          </a:p>
        </p:txBody>
      </p:sp>
      <p:sp>
        <p:nvSpPr>
          <p:cNvPr id="16" name="Rectangle 15"/>
          <p:cNvSpPr/>
          <p:nvPr/>
        </p:nvSpPr>
        <p:spPr>
          <a:xfrm>
            <a:off x="3516553" y="2231136"/>
            <a:ext cx="2464993" cy="41148"/>
          </a:xfrm>
          <a:prstGeom prst="rect">
            <a:avLst/>
          </a:prstGeom>
          <a:solidFill>
            <a:srgbClr val="2A8E87"/>
          </a:solidFill>
          <a:ln>
            <a:noFill/>
          </a:ln>
          <a:effectLst/>
        </p:spPr>
        <p:txBody>
          <a:bodyPr rtlCol="0" anchor="ctr"/>
          <a:lstStyle/>
          <a:p>
            <a:endParaRPr/>
          </a:p>
        </p:txBody>
      </p:sp>
      <p:sp>
        <p:nvSpPr>
          <p:cNvPr id="17" name="TextBox 16"/>
          <p:cNvSpPr txBox="1"/>
          <p:nvPr/>
        </p:nvSpPr>
        <p:spPr>
          <a:xfrm>
            <a:off x="3754297" y="2450592"/>
            <a:ext cx="2007793" cy="274320"/>
          </a:xfrm>
          <a:prstGeom prst="rect">
            <a:avLst/>
          </a:prstGeom>
          <a:noFill/>
        </p:spPr>
        <p:txBody>
          <a:bodyPr wrap="square" lIns="0" tIns="0" rIns="0" bIns="0" anchor="t">
            <a:spAutoFit/>
          </a:bodyPr>
          <a:lstStyle/>
          <a:p>
            <a:pPr algn="l">
              <a:lnSpc>
                <a:spcPct val="115000"/>
              </a:lnSpc>
              <a:spcAft>
                <a:spcPts val="0"/>
              </a:spcAft>
            </a:pPr>
            <a:r>
              <a:rPr sz="1500" b="1">
                <a:solidFill>
                  <a:srgbClr val="2A8E87"/>
                </a:solidFill>
                <a:latin typeface="Segoe UI"/>
              </a:rPr>
              <a:t>02</a:t>
            </a:r>
          </a:p>
        </p:txBody>
      </p:sp>
      <p:sp>
        <p:nvSpPr>
          <p:cNvPr id="18" name="TextBox 17"/>
          <p:cNvSpPr txBox="1"/>
          <p:nvPr/>
        </p:nvSpPr>
        <p:spPr>
          <a:xfrm>
            <a:off x="3754297" y="2798064"/>
            <a:ext cx="2007793" cy="457200"/>
          </a:xfrm>
          <a:prstGeom prst="rect">
            <a:avLst/>
          </a:prstGeom>
          <a:noFill/>
        </p:spPr>
        <p:txBody>
          <a:bodyPr wrap="square" lIns="0" tIns="0" rIns="0" bIns="0" anchor="t">
            <a:spAutoFit/>
          </a:bodyPr>
          <a:lstStyle/>
          <a:p>
            <a:pPr algn="l">
              <a:lnSpc>
                <a:spcPct val="112000"/>
              </a:lnSpc>
              <a:spcAft>
                <a:spcPts val="0"/>
              </a:spcAft>
            </a:pPr>
            <a:r>
              <a:rPr sz="1250" b="1">
                <a:solidFill>
                  <a:srgbClr val="1E3A5F"/>
                </a:solidFill>
                <a:latin typeface="Segoe UI"/>
              </a:rPr>
              <a:t>The audit row is not optional</a:t>
            </a:r>
          </a:p>
        </p:txBody>
      </p:sp>
      <p:sp>
        <p:nvSpPr>
          <p:cNvPr id="19" name="TextBox 18"/>
          <p:cNvSpPr txBox="1"/>
          <p:nvPr/>
        </p:nvSpPr>
        <p:spPr>
          <a:xfrm>
            <a:off x="3754297" y="3401568"/>
            <a:ext cx="2007793" cy="1280160"/>
          </a:xfrm>
          <a:prstGeom prst="rect">
            <a:avLst/>
          </a:prstGeom>
          <a:noFill/>
        </p:spPr>
        <p:txBody>
          <a:bodyPr wrap="square" lIns="0" tIns="0" rIns="0" bIns="0" anchor="t">
            <a:spAutoFit/>
          </a:bodyPr>
          <a:lstStyle/>
          <a:p>
            <a:pPr algn="l">
              <a:lnSpc>
                <a:spcPct val="140000"/>
              </a:lnSpc>
              <a:spcAft>
                <a:spcPts val="0"/>
              </a:spcAft>
            </a:pPr>
            <a:r>
              <a:rPr sz="950" b="0">
                <a:solidFill>
                  <a:srgbClr val="33475C"/>
                </a:solidFill>
                <a:latin typeface="Segoe UI"/>
              </a:rPr>
              <a:t>Every sensitive write and its audit row commit in a single transaction. A notification row is written before the send, so a send with no record cannot happen. Append-only, in the relational store.</a:t>
            </a:r>
          </a:p>
        </p:txBody>
      </p:sp>
      <p:sp>
        <p:nvSpPr>
          <p:cNvPr id="20" name="Rectangle 19"/>
          <p:cNvSpPr/>
          <p:nvPr/>
        </p:nvSpPr>
        <p:spPr>
          <a:xfrm>
            <a:off x="6210147" y="2231136"/>
            <a:ext cx="2464993" cy="2761488"/>
          </a:xfrm>
          <a:prstGeom prst="rect">
            <a:avLst/>
          </a:prstGeom>
          <a:solidFill>
            <a:srgbClr val="F4F7FB"/>
          </a:solidFill>
          <a:ln>
            <a:noFill/>
          </a:ln>
          <a:effectLst/>
        </p:spPr>
        <p:txBody>
          <a:bodyPr rtlCol="0" anchor="ctr"/>
          <a:lstStyle/>
          <a:p>
            <a:endParaRPr/>
          </a:p>
        </p:txBody>
      </p:sp>
      <p:sp>
        <p:nvSpPr>
          <p:cNvPr id="21" name="Rectangle 20"/>
          <p:cNvSpPr/>
          <p:nvPr/>
        </p:nvSpPr>
        <p:spPr>
          <a:xfrm>
            <a:off x="6210147" y="2231136"/>
            <a:ext cx="2464993" cy="41148"/>
          </a:xfrm>
          <a:prstGeom prst="rect">
            <a:avLst/>
          </a:prstGeom>
          <a:solidFill>
            <a:srgbClr val="6A4FBF"/>
          </a:solidFill>
          <a:ln>
            <a:noFill/>
          </a:ln>
          <a:effectLst/>
        </p:spPr>
        <p:txBody>
          <a:bodyPr rtlCol="0" anchor="ctr"/>
          <a:lstStyle/>
          <a:p>
            <a:endParaRPr/>
          </a:p>
        </p:txBody>
      </p:sp>
      <p:sp>
        <p:nvSpPr>
          <p:cNvPr id="22" name="TextBox 21"/>
          <p:cNvSpPr txBox="1"/>
          <p:nvPr/>
        </p:nvSpPr>
        <p:spPr>
          <a:xfrm>
            <a:off x="6447891" y="2450592"/>
            <a:ext cx="2007793" cy="274320"/>
          </a:xfrm>
          <a:prstGeom prst="rect">
            <a:avLst/>
          </a:prstGeom>
          <a:noFill/>
        </p:spPr>
        <p:txBody>
          <a:bodyPr wrap="square" lIns="0" tIns="0" rIns="0" bIns="0" anchor="t">
            <a:spAutoFit/>
          </a:bodyPr>
          <a:lstStyle/>
          <a:p>
            <a:pPr algn="l">
              <a:lnSpc>
                <a:spcPct val="115000"/>
              </a:lnSpc>
              <a:spcAft>
                <a:spcPts val="0"/>
              </a:spcAft>
            </a:pPr>
            <a:r>
              <a:rPr sz="1500" b="1">
                <a:solidFill>
                  <a:srgbClr val="6A4FBF"/>
                </a:solidFill>
                <a:latin typeface="Segoe UI"/>
              </a:rPr>
              <a:t>03</a:t>
            </a:r>
          </a:p>
        </p:txBody>
      </p:sp>
      <p:sp>
        <p:nvSpPr>
          <p:cNvPr id="23" name="TextBox 22"/>
          <p:cNvSpPr txBox="1"/>
          <p:nvPr/>
        </p:nvSpPr>
        <p:spPr>
          <a:xfrm>
            <a:off x="6447891" y="2798064"/>
            <a:ext cx="2007793" cy="457200"/>
          </a:xfrm>
          <a:prstGeom prst="rect">
            <a:avLst/>
          </a:prstGeom>
          <a:noFill/>
        </p:spPr>
        <p:txBody>
          <a:bodyPr wrap="square" lIns="0" tIns="0" rIns="0" bIns="0" anchor="t">
            <a:spAutoFit/>
          </a:bodyPr>
          <a:lstStyle/>
          <a:p>
            <a:pPr algn="l">
              <a:lnSpc>
                <a:spcPct val="112000"/>
              </a:lnSpc>
              <a:spcAft>
                <a:spcPts val="0"/>
              </a:spcAft>
            </a:pPr>
            <a:r>
              <a:rPr sz="1250" b="1">
                <a:solidFill>
                  <a:srgbClr val="1E3A5F"/>
                </a:solidFill>
                <a:latin typeface="Segoe UI"/>
              </a:rPr>
              <a:t>The model never self-accepts</a:t>
            </a:r>
          </a:p>
        </p:txBody>
      </p:sp>
      <p:sp>
        <p:nvSpPr>
          <p:cNvPr id="24" name="TextBox 23"/>
          <p:cNvSpPr txBox="1"/>
          <p:nvPr/>
        </p:nvSpPr>
        <p:spPr>
          <a:xfrm>
            <a:off x="6447891" y="3401568"/>
            <a:ext cx="2007793" cy="1280160"/>
          </a:xfrm>
          <a:prstGeom prst="rect">
            <a:avLst/>
          </a:prstGeom>
          <a:noFill/>
        </p:spPr>
        <p:txBody>
          <a:bodyPr wrap="square" lIns="0" tIns="0" rIns="0" bIns="0" anchor="t">
            <a:spAutoFit/>
          </a:bodyPr>
          <a:lstStyle/>
          <a:p>
            <a:pPr algn="l">
              <a:lnSpc>
                <a:spcPct val="140000"/>
              </a:lnSpc>
              <a:spcAft>
                <a:spcPts val="0"/>
              </a:spcAft>
            </a:pPr>
            <a:r>
              <a:rPr sz="950" b="0">
                <a:solidFill>
                  <a:srgbClr val="33475C"/>
                </a:solidFill>
                <a:latin typeface="Segoe UI"/>
              </a:rPr>
              <a:t>Every model call is recorded in the generation log and produces counts, not outcomes. Nothing becomes an artefact until a named human accepts it — the gate is in the data model, not in a policy document.</a:t>
            </a:r>
          </a:p>
        </p:txBody>
      </p:sp>
      <p:sp>
        <p:nvSpPr>
          <p:cNvPr id="25" name="Rectangle 24"/>
          <p:cNvSpPr/>
          <p:nvPr/>
        </p:nvSpPr>
        <p:spPr>
          <a:xfrm>
            <a:off x="8903741" y="2231136"/>
            <a:ext cx="2464993" cy="2761488"/>
          </a:xfrm>
          <a:prstGeom prst="rect">
            <a:avLst/>
          </a:prstGeom>
          <a:solidFill>
            <a:srgbClr val="F4F7FB"/>
          </a:solidFill>
          <a:ln>
            <a:noFill/>
          </a:ln>
          <a:effectLst/>
        </p:spPr>
        <p:txBody>
          <a:bodyPr rtlCol="0" anchor="ctr"/>
          <a:lstStyle/>
          <a:p>
            <a:endParaRPr/>
          </a:p>
        </p:txBody>
      </p:sp>
      <p:sp>
        <p:nvSpPr>
          <p:cNvPr id="26" name="Rectangle 25"/>
          <p:cNvSpPr/>
          <p:nvPr/>
        </p:nvSpPr>
        <p:spPr>
          <a:xfrm>
            <a:off x="8903741" y="2231136"/>
            <a:ext cx="2464993" cy="41148"/>
          </a:xfrm>
          <a:prstGeom prst="rect">
            <a:avLst/>
          </a:prstGeom>
          <a:solidFill>
            <a:srgbClr val="C97D2D"/>
          </a:solidFill>
          <a:ln>
            <a:noFill/>
          </a:ln>
          <a:effectLst/>
        </p:spPr>
        <p:txBody>
          <a:bodyPr rtlCol="0" anchor="ctr"/>
          <a:lstStyle/>
          <a:p>
            <a:endParaRPr/>
          </a:p>
        </p:txBody>
      </p:sp>
      <p:sp>
        <p:nvSpPr>
          <p:cNvPr id="27" name="TextBox 26"/>
          <p:cNvSpPr txBox="1"/>
          <p:nvPr/>
        </p:nvSpPr>
        <p:spPr>
          <a:xfrm>
            <a:off x="9141485" y="2450592"/>
            <a:ext cx="2007793" cy="274320"/>
          </a:xfrm>
          <a:prstGeom prst="rect">
            <a:avLst/>
          </a:prstGeom>
          <a:noFill/>
        </p:spPr>
        <p:txBody>
          <a:bodyPr wrap="square" lIns="0" tIns="0" rIns="0" bIns="0" anchor="t">
            <a:spAutoFit/>
          </a:bodyPr>
          <a:lstStyle/>
          <a:p>
            <a:pPr algn="l">
              <a:lnSpc>
                <a:spcPct val="115000"/>
              </a:lnSpc>
              <a:spcAft>
                <a:spcPts val="0"/>
              </a:spcAft>
            </a:pPr>
            <a:r>
              <a:rPr sz="1500" b="1">
                <a:solidFill>
                  <a:srgbClr val="C97D2D"/>
                </a:solidFill>
                <a:latin typeface="Segoe UI"/>
              </a:rPr>
              <a:t>04</a:t>
            </a:r>
          </a:p>
        </p:txBody>
      </p:sp>
      <p:sp>
        <p:nvSpPr>
          <p:cNvPr id="28" name="TextBox 27"/>
          <p:cNvSpPr txBox="1"/>
          <p:nvPr/>
        </p:nvSpPr>
        <p:spPr>
          <a:xfrm>
            <a:off x="9141485" y="2798064"/>
            <a:ext cx="2007793" cy="457200"/>
          </a:xfrm>
          <a:prstGeom prst="rect">
            <a:avLst/>
          </a:prstGeom>
          <a:noFill/>
        </p:spPr>
        <p:txBody>
          <a:bodyPr wrap="square" lIns="0" tIns="0" rIns="0" bIns="0" anchor="t">
            <a:spAutoFit/>
          </a:bodyPr>
          <a:lstStyle/>
          <a:p>
            <a:pPr algn="l">
              <a:lnSpc>
                <a:spcPct val="112000"/>
              </a:lnSpc>
              <a:spcAft>
                <a:spcPts val="0"/>
              </a:spcAft>
            </a:pPr>
            <a:r>
              <a:rPr sz="1250" b="1">
                <a:solidFill>
                  <a:srgbClr val="1E3A5F"/>
                </a:solidFill>
                <a:latin typeface="Segoe UI"/>
              </a:rPr>
              <a:t>Residency is a design input</a:t>
            </a:r>
          </a:p>
        </p:txBody>
      </p:sp>
      <p:sp>
        <p:nvSpPr>
          <p:cNvPr id="29" name="TextBox 28"/>
          <p:cNvSpPr txBox="1"/>
          <p:nvPr/>
        </p:nvSpPr>
        <p:spPr>
          <a:xfrm>
            <a:off x="9141485" y="3401568"/>
            <a:ext cx="2007793" cy="1280160"/>
          </a:xfrm>
          <a:prstGeom prst="rect">
            <a:avLst/>
          </a:prstGeom>
          <a:noFill/>
        </p:spPr>
        <p:txBody>
          <a:bodyPr wrap="square" lIns="0" tIns="0" rIns="0" bIns="0" anchor="t">
            <a:spAutoFit/>
          </a:bodyPr>
          <a:lstStyle/>
          <a:p>
            <a:pPr algn="l">
              <a:lnSpc>
                <a:spcPct val="140000"/>
              </a:lnSpc>
              <a:spcAft>
                <a:spcPts val="0"/>
              </a:spcAft>
            </a:pPr>
            <a:r>
              <a:rPr sz="950" b="0">
                <a:solidFill>
                  <a:srgbClr val="33475C"/>
                </a:solidFill>
                <a:latin typeface="Segoe UI"/>
              </a:rPr>
              <a:t>Runtime, both stores and the SMS gateway are in-region. The single offshore dependency is built and deliberately held shut. Four architecture choices fall out of one residency requirement.</a:t>
            </a:r>
          </a:p>
        </p:txBody>
      </p:sp>
      <p:sp>
        <p:nvSpPr>
          <p:cNvPr id="30" name="Rectangle 29"/>
          <p:cNvSpPr/>
          <p:nvPr/>
        </p:nvSpPr>
        <p:spPr>
          <a:xfrm>
            <a:off x="822960" y="5285232"/>
            <a:ext cx="10545775" cy="1024128"/>
          </a:xfrm>
          <a:prstGeom prst="rect">
            <a:avLst/>
          </a:prstGeom>
          <a:solidFill>
            <a:srgbClr val="FBF3E9"/>
          </a:solidFill>
          <a:ln>
            <a:noFill/>
          </a:ln>
          <a:effectLst/>
        </p:spPr>
        <p:txBody>
          <a:bodyPr rtlCol="0" anchor="ctr"/>
          <a:lstStyle/>
          <a:p>
            <a:endParaRPr/>
          </a:p>
        </p:txBody>
      </p:sp>
      <p:sp>
        <p:nvSpPr>
          <p:cNvPr id="31" name="Rectangle 30"/>
          <p:cNvSpPr/>
          <p:nvPr/>
        </p:nvSpPr>
        <p:spPr>
          <a:xfrm>
            <a:off x="822960" y="5285232"/>
            <a:ext cx="50292" cy="1024128"/>
          </a:xfrm>
          <a:prstGeom prst="rect">
            <a:avLst/>
          </a:prstGeom>
          <a:solidFill>
            <a:srgbClr val="C97D2D"/>
          </a:solidFill>
          <a:ln>
            <a:noFill/>
          </a:ln>
          <a:effectLst/>
        </p:spPr>
        <p:txBody>
          <a:bodyPr rtlCol="0" anchor="ctr"/>
          <a:lstStyle/>
          <a:p>
            <a:endParaRPr/>
          </a:p>
        </p:txBody>
      </p:sp>
      <p:sp>
        <p:nvSpPr>
          <p:cNvPr id="32" name="TextBox 31"/>
          <p:cNvSpPr txBox="1"/>
          <p:nvPr/>
        </p:nvSpPr>
        <p:spPr>
          <a:xfrm>
            <a:off x="1097280" y="5486400"/>
            <a:ext cx="9997135" cy="182880"/>
          </a:xfrm>
          <a:prstGeom prst="rect">
            <a:avLst/>
          </a:prstGeom>
          <a:noFill/>
        </p:spPr>
        <p:txBody>
          <a:bodyPr wrap="square" lIns="0" tIns="0" rIns="0" bIns="0" anchor="t">
            <a:spAutoFit/>
          </a:bodyPr>
          <a:lstStyle/>
          <a:p>
            <a:pPr algn="l">
              <a:lnSpc>
                <a:spcPct val="115000"/>
              </a:lnSpc>
              <a:spcAft>
                <a:spcPts val="0"/>
              </a:spcAft>
            </a:pPr>
            <a:r>
              <a:rPr sz="800" b="1" spc="150">
                <a:solidFill>
                  <a:srgbClr val="A9631C"/>
                </a:solidFill>
                <a:latin typeface="Segoe UI"/>
              </a:rPr>
              <a:t>THE UNCOMFORTABLE PART</a:t>
            </a:r>
          </a:p>
        </p:txBody>
      </p:sp>
      <p:sp>
        <p:nvSpPr>
          <p:cNvPr id="33" name="TextBox 32"/>
          <p:cNvSpPr txBox="1"/>
          <p:nvPr/>
        </p:nvSpPr>
        <p:spPr>
          <a:xfrm>
            <a:off x="1097280" y="5705856"/>
            <a:ext cx="9997135" cy="457200"/>
          </a:xfrm>
          <a:prstGeom prst="rect">
            <a:avLst/>
          </a:prstGeom>
          <a:noFill/>
        </p:spPr>
        <p:txBody>
          <a:bodyPr wrap="square" lIns="0" tIns="0" rIns="0" bIns="0" anchor="t">
            <a:spAutoFit/>
          </a:bodyPr>
          <a:lstStyle/>
          <a:p>
            <a:pPr algn="l">
              <a:lnSpc>
                <a:spcPct val="134000"/>
              </a:lnSpc>
              <a:spcAft>
                <a:spcPts val="0"/>
              </a:spcAft>
            </a:pPr>
            <a:r>
              <a:rPr sz="1000" b="1">
                <a:solidFill>
                  <a:srgbClr val="16293F"/>
                </a:solidFill>
                <a:latin typeface="Segoe UI"/>
              </a:rPr>
              <a:t>No conferencing vendor, no profile API, no external telemetry. </a:t>
            </a:r>
            <a:r>
              <a:rPr sz="1000" b="0">
                <a:solidFill>
                  <a:srgbClr val="5C4526"/>
                </a:solidFill>
                <a:latin typeface="Segoe UI"/>
              </a:rPr>
              <a:t>Each one was decided against rather than skipped — and the difference between those two sentences is the entire value a business analyst adds to an AI build.</a:t>
            </a:r>
          </a:p>
        </p:txBody>
      </p:sp>
      <p:pic>
        <p:nvPicPr>
          <p:cNvPr id="35" name="Picture 34">
            <a:extLst>
              <a:ext uri="{FF2B5EF4-FFF2-40B4-BE49-F238E27FC236}">
                <a16:creationId xmlns:a16="http://schemas.microsoft.com/office/drawing/2014/main" id="{FCD960E0-FF91-82ED-0E38-B393A1B8893C}"/>
              </a:ext>
            </a:extLst>
          </p:cNvPr>
          <p:cNvPicPr>
            <a:picLocks noChangeAspect="1"/>
          </p:cNvPicPr>
          <p:nvPr/>
        </p:nvPicPr>
        <p:blipFill>
          <a:blip r:embed="rId3"/>
          <a:stretch>
            <a:fillRect/>
          </a:stretch>
        </p:blipFill>
        <p:spPr>
          <a:xfrm>
            <a:off x="10322918" y="512506"/>
            <a:ext cx="1407734" cy="14077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3A5F"/>
          </a:solidFill>
          <a:ln>
            <a:noFill/>
          </a:ln>
          <a:effectLst/>
        </p:spPr>
        <p:txBody>
          <a:bodyPr rtlCol="0" anchor="ctr"/>
          <a:lstStyle/>
          <a:p>
            <a:endParaRPr/>
          </a:p>
        </p:txBody>
      </p:sp>
      <p:sp>
        <p:nvSpPr>
          <p:cNvPr id="3" name="Rectangle 2"/>
          <p:cNvSpPr/>
          <p:nvPr/>
        </p:nvSpPr>
        <p:spPr>
          <a:xfrm>
            <a:off x="0" y="0"/>
            <a:ext cx="164592" cy="6858000"/>
          </a:xfrm>
          <a:prstGeom prst="rect">
            <a:avLst/>
          </a:prstGeom>
          <a:solidFill>
            <a:srgbClr val="4FB8B8"/>
          </a:solidFill>
          <a:ln>
            <a:noFill/>
          </a:ln>
          <a:effectLst/>
        </p:spPr>
        <p:txBody>
          <a:bodyPr rtlCol="0" anchor="ctr"/>
          <a:lstStyle/>
          <a:p>
            <a:endParaRPr/>
          </a:p>
        </p:txBody>
      </p:sp>
      <p:sp>
        <p:nvSpPr>
          <p:cNvPr id="4" name="TextBox 3"/>
          <p:cNvSpPr txBox="1"/>
          <p:nvPr/>
        </p:nvSpPr>
        <p:spPr>
          <a:xfrm>
            <a:off x="822960" y="274320"/>
            <a:ext cx="9722815" cy="201168"/>
          </a:xfrm>
          <a:prstGeom prst="rect">
            <a:avLst/>
          </a:prstGeom>
          <a:noFill/>
        </p:spPr>
        <p:txBody>
          <a:bodyPr wrap="square" lIns="0" tIns="0" rIns="0" bIns="0" anchor="t">
            <a:spAutoFit/>
          </a:bodyPr>
          <a:lstStyle/>
          <a:p>
            <a:pPr algn="l">
              <a:lnSpc>
                <a:spcPct val="115000"/>
              </a:lnSpc>
              <a:spcAft>
                <a:spcPts val="0"/>
              </a:spcAft>
            </a:pPr>
            <a:r>
              <a:rPr sz="750" b="1" spc="160">
                <a:solidFill>
                  <a:srgbClr val="8EA3B8"/>
                </a:solidFill>
                <a:latin typeface="Segoe UI"/>
              </a:rPr>
              <a:t>BUSINESS ANALYST SERVICES  ·  CLAUDE DEMONSTRATION  ·  PRACTICAL AI FOR END-TO-END BUSINESS ANALYSIS</a:t>
            </a:r>
          </a:p>
        </p:txBody>
      </p:sp>
      <p:sp>
        <p:nvSpPr>
          <p:cNvPr id="5" name="TextBox 4"/>
          <p:cNvSpPr txBox="1"/>
          <p:nvPr/>
        </p:nvSpPr>
        <p:spPr>
          <a:xfrm>
            <a:off x="10545775" y="274320"/>
            <a:ext cx="822960" cy="201168"/>
          </a:xfrm>
          <a:prstGeom prst="rect">
            <a:avLst/>
          </a:prstGeom>
          <a:noFill/>
        </p:spPr>
        <p:txBody>
          <a:bodyPr wrap="square" lIns="0" tIns="0" rIns="0" bIns="0" anchor="t">
            <a:spAutoFit/>
          </a:bodyPr>
          <a:lstStyle/>
          <a:p>
            <a:pPr algn="r">
              <a:lnSpc>
                <a:spcPct val="115000"/>
              </a:lnSpc>
              <a:spcAft>
                <a:spcPts val="0"/>
              </a:spcAft>
            </a:pPr>
            <a:r>
              <a:rPr sz="750" b="1" spc="100">
                <a:solidFill>
                  <a:srgbClr val="4FB8B8"/>
                </a:solidFill>
                <a:latin typeface="Segoe UI"/>
              </a:rPr>
              <a:t>7 / 7</a:t>
            </a:r>
          </a:p>
        </p:txBody>
      </p:sp>
      <p:sp>
        <p:nvSpPr>
          <p:cNvPr id="6" name="Rectangle 5"/>
          <p:cNvSpPr/>
          <p:nvPr/>
        </p:nvSpPr>
        <p:spPr>
          <a:xfrm>
            <a:off x="822960" y="566928"/>
            <a:ext cx="10545775" cy="10972"/>
          </a:xfrm>
          <a:prstGeom prst="rect">
            <a:avLst/>
          </a:prstGeom>
          <a:solidFill>
            <a:srgbClr val="2A4A6F"/>
          </a:solidFill>
          <a:ln>
            <a:noFill/>
          </a:ln>
          <a:effectLst/>
        </p:spPr>
        <p:txBody>
          <a:bodyPr rtlCol="0" anchor="ctr"/>
          <a:lstStyle/>
          <a:p>
            <a:endParaRPr/>
          </a:p>
        </p:txBody>
      </p:sp>
      <p:sp>
        <p:nvSpPr>
          <p:cNvPr id="7" name="TextBox 6"/>
          <p:cNvSpPr txBox="1"/>
          <p:nvPr/>
        </p:nvSpPr>
        <p:spPr>
          <a:xfrm>
            <a:off x="822960" y="786384"/>
            <a:ext cx="10545775" cy="201168"/>
          </a:xfrm>
          <a:prstGeom prst="rect">
            <a:avLst/>
          </a:prstGeom>
          <a:noFill/>
        </p:spPr>
        <p:txBody>
          <a:bodyPr wrap="square" lIns="0" tIns="0" rIns="0" bIns="0" anchor="t">
            <a:spAutoFit/>
          </a:bodyPr>
          <a:lstStyle/>
          <a:p>
            <a:pPr algn="l">
              <a:lnSpc>
                <a:spcPct val="115000"/>
              </a:lnSpc>
              <a:spcAft>
                <a:spcPts val="0"/>
              </a:spcAft>
            </a:pPr>
            <a:r>
              <a:rPr sz="850" b="1" spc="180">
                <a:solidFill>
                  <a:srgbClr val="4FB8B8"/>
                </a:solidFill>
                <a:latin typeface="Segoe UI"/>
              </a:rPr>
              <a:t>WHERE THIS IS TAUGHT</a:t>
            </a:r>
          </a:p>
        </p:txBody>
      </p:sp>
      <p:sp>
        <p:nvSpPr>
          <p:cNvPr id="8" name="TextBox 7"/>
          <p:cNvSpPr txBox="1"/>
          <p:nvPr/>
        </p:nvSpPr>
        <p:spPr>
          <a:xfrm>
            <a:off x="822960" y="1024128"/>
            <a:ext cx="7680960" cy="822960"/>
          </a:xfrm>
          <a:prstGeom prst="rect">
            <a:avLst/>
          </a:prstGeom>
          <a:noFill/>
        </p:spPr>
        <p:txBody>
          <a:bodyPr wrap="square" lIns="0" tIns="0" rIns="0" bIns="0" anchor="t">
            <a:spAutoFit/>
          </a:bodyPr>
          <a:lstStyle/>
          <a:p>
            <a:pPr algn="l">
              <a:lnSpc>
                <a:spcPct val="106000"/>
              </a:lnSpc>
              <a:spcAft>
                <a:spcPts val="0"/>
              </a:spcAft>
            </a:pPr>
            <a:r>
              <a:rPr sz="3100" b="1">
                <a:solidFill>
                  <a:srgbClr val="FFFFFF"/>
                </a:solidFill>
                <a:latin typeface="Segoe UI"/>
              </a:rPr>
              <a:t>Practical AI for</a:t>
            </a:r>
          </a:p>
          <a:p>
            <a:pPr algn="l">
              <a:lnSpc>
                <a:spcPct val="106000"/>
              </a:lnSpc>
              <a:spcAft>
                <a:spcPts val="0"/>
              </a:spcAft>
            </a:pPr>
            <a:r>
              <a:rPr sz="3100" b="1">
                <a:solidFill>
                  <a:srgbClr val="FFFFFF"/>
                </a:solidFill>
                <a:latin typeface="Segoe UI"/>
              </a:rPr>
              <a:t>End-to-End Business Analysis</a:t>
            </a:r>
          </a:p>
        </p:txBody>
      </p:sp>
      <p:sp>
        <p:nvSpPr>
          <p:cNvPr id="9" name="TextBox 8"/>
          <p:cNvSpPr txBox="1"/>
          <p:nvPr/>
        </p:nvSpPr>
        <p:spPr>
          <a:xfrm>
            <a:off x="822960" y="2359152"/>
            <a:ext cx="7680960" cy="423386"/>
          </a:xfrm>
          <a:prstGeom prst="rect">
            <a:avLst/>
          </a:prstGeom>
          <a:noFill/>
        </p:spPr>
        <p:txBody>
          <a:bodyPr wrap="square" lIns="0" tIns="0" rIns="0" bIns="0" anchor="t">
            <a:spAutoFit/>
          </a:bodyPr>
          <a:lstStyle/>
          <a:p>
            <a:pPr algn="l">
              <a:lnSpc>
                <a:spcPct val="134000"/>
              </a:lnSpc>
              <a:spcAft>
                <a:spcPts val="100"/>
              </a:spcAft>
            </a:pPr>
            <a:r>
              <a:rPr sz="1100" b="1" dirty="0">
                <a:solidFill>
                  <a:srgbClr val="4FB8B8"/>
                </a:solidFill>
                <a:latin typeface="Segoe UI"/>
              </a:rPr>
              <a:t>Thu </a:t>
            </a:r>
            <a:r>
              <a:rPr lang="en-US" sz="1100" b="1" dirty="0">
                <a:solidFill>
                  <a:srgbClr val="4FB8B8"/>
                </a:solidFill>
                <a:latin typeface="Segoe UI"/>
              </a:rPr>
              <a:t>24</a:t>
            </a:r>
            <a:r>
              <a:rPr sz="1100" b="1" dirty="0">
                <a:solidFill>
                  <a:srgbClr val="4FB8B8"/>
                </a:solidFill>
                <a:latin typeface="Segoe UI"/>
              </a:rPr>
              <a:t> Sep  →  Thu </a:t>
            </a:r>
            <a:r>
              <a:rPr lang="en-US" sz="1100" b="1" dirty="0">
                <a:solidFill>
                  <a:srgbClr val="4FB8B8"/>
                </a:solidFill>
                <a:latin typeface="Segoe UI"/>
              </a:rPr>
              <a:t>10</a:t>
            </a:r>
            <a:r>
              <a:rPr sz="1100" b="1" dirty="0">
                <a:solidFill>
                  <a:srgbClr val="4FB8B8"/>
                </a:solidFill>
                <a:latin typeface="Segoe UI"/>
              </a:rPr>
              <a:t> </a:t>
            </a:r>
            <a:r>
              <a:rPr lang="en-US" sz="1100" b="1" dirty="0">
                <a:solidFill>
                  <a:srgbClr val="4FB8B8"/>
                </a:solidFill>
                <a:latin typeface="Segoe UI"/>
              </a:rPr>
              <a:t>Dec</a:t>
            </a:r>
            <a:r>
              <a:rPr sz="1100" b="1" dirty="0">
                <a:solidFill>
                  <a:srgbClr val="4FB8B8"/>
                </a:solidFill>
                <a:latin typeface="Segoe UI"/>
              </a:rPr>
              <a:t> 2026</a:t>
            </a:r>
            <a:r>
              <a:rPr sz="1100" b="0" dirty="0">
                <a:solidFill>
                  <a:srgbClr val="AEBDCC"/>
                </a:solidFill>
                <a:latin typeface="Segoe UI"/>
              </a:rPr>
              <a:t>   ·   12 Thursdays   ·   19:00–22:00 Sydney</a:t>
            </a:r>
          </a:p>
          <a:p>
            <a:pPr algn="l">
              <a:lnSpc>
                <a:spcPct val="134000"/>
              </a:lnSpc>
              <a:spcAft>
                <a:spcPts val="100"/>
              </a:spcAft>
            </a:pPr>
            <a:r>
              <a:rPr sz="1000" b="0" dirty="0">
                <a:solidFill>
                  <a:srgbClr val="8EA3B8"/>
                </a:solidFill>
                <a:latin typeface="Segoe UI"/>
              </a:rPr>
              <a:t>One global intake   ·  all times shown are Sydney</a:t>
            </a:r>
          </a:p>
        </p:txBody>
      </p:sp>
      <p:sp>
        <p:nvSpPr>
          <p:cNvPr id="10" name="Rectangle 9"/>
          <p:cNvSpPr/>
          <p:nvPr/>
        </p:nvSpPr>
        <p:spPr>
          <a:xfrm>
            <a:off x="822960" y="2926080"/>
            <a:ext cx="7223760" cy="10972"/>
          </a:xfrm>
          <a:prstGeom prst="rect">
            <a:avLst/>
          </a:prstGeom>
          <a:solidFill>
            <a:srgbClr val="2A4A6F"/>
          </a:solidFill>
          <a:ln>
            <a:noFill/>
          </a:ln>
          <a:effectLst/>
        </p:spPr>
        <p:txBody>
          <a:bodyPr rtlCol="0" anchor="ctr"/>
          <a:lstStyle/>
          <a:p>
            <a:endParaRPr/>
          </a:p>
        </p:txBody>
      </p:sp>
      <p:sp>
        <p:nvSpPr>
          <p:cNvPr id="11" name="Rectangle 10"/>
          <p:cNvSpPr/>
          <p:nvPr/>
        </p:nvSpPr>
        <p:spPr>
          <a:xfrm>
            <a:off x="822960" y="3200400"/>
            <a:ext cx="32004" cy="548640"/>
          </a:xfrm>
          <a:prstGeom prst="rect">
            <a:avLst/>
          </a:prstGeom>
          <a:solidFill>
            <a:srgbClr val="4FB8B8"/>
          </a:solidFill>
          <a:ln>
            <a:noFill/>
          </a:ln>
          <a:effectLst/>
        </p:spPr>
        <p:txBody>
          <a:bodyPr rtlCol="0" anchor="ctr"/>
          <a:lstStyle/>
          <a:p>
            <a:endParaRPr/>
          </a:p>
        </p:txBody>
      </p:sp>
      <p:sp>
        <p:nvSpPr>
          <p:cNvPr id="12" name="TextBox 11"/>
          <p:cNvSpPr txBox="1"/>
          <p:nvPr/>
        </p:nvSpPr>
        <p:spPr>
          <a:xfrm>
            <a:off x="1042416" y="3145536"/>
            <a:ext cx="6766560" cy="237744"/>
          </a:xfrm>
          <a:prstGeom prst="rect">
            <a:avLst/>
          </a:prstGeom>
          <a:noFill/>
        </p:spPr>
        <p:txBody>
          <a:bodyPr wrap="square" lIns="0" tIns="0" rIns="0" bIns="0" anchor="t">
            <a:spAutoFit/>
          </a:bodyPr>
          <a:lstStyle/>
          <a:p>
            <a:pPr algn="l">
              <a:lnSpc>
                <a:spcPct val="115000"/>
              </a:lnSpc>
              <a:spcAft>
                <a:spcPts val="0"/>
              </a:spcAft>
            </a:pPr>
            <a:r>
              <a:rPr sz="1200" b="1">
                <a:solidFill>
                  <a:srgbClr val="FFFFFF"/>
                </a:solidFill>
                <a:latin typeface="Segoe UI"/>
              </a:rPr>
              <a:t>Specify for a machine that builds</a:t>
            </a:r>
          </a:p>
        </p:txBody>
      </p:sp>
      <p:sp>
        <p:nvSpPr>
          <p:cNvPr id="13" name="TextBox 12"/>
          <p:cNvSpPr txBox="1"/>
          <p:nvPr/>
        </p:nvSpPr>
        <p:spPr>
          <a:xfrm>
            <a:off x="1042416" y="3419856"/>
            <a:ext cx="6766560" cy="365760"/>
          </a:xfrm>
          <a:prstGeom prst="rect">
            <a:avLst/>
          </a:prstGeom>
          <a:noFill/>
        </p:spPr>
        <p:txBody>
          <a:bodyPr wrap="square" lIns="0" tIns="0" rIns="0" bIns="0" anchor="t">
            <a:spAutoFit/>
          </a:bodyPr>
          <a:lstStyle/>
          <a:p>
            <a:pPr algn="l">
              <a:lnSpc>
                <a:spcPct val="134000"/>
              </a:lnSpc>
              <a:spcAft>
                <a:spcPts val="0"/>
              </a:spcAft>
            </a:pPr>
            <a:r>
              <a:rPr sz="950" b="0">
                <a:solidFill>
                  <a:srgbClr val="AEBDCC"/>
                </a:solidFill>
                <a:latin typeface="Segoe UI"/>
              </a:rPr>
              <a:t>Stories and acceptance criteria written to be read at plan time, not filed after it.</a:t>
            </a:r>
          </a:p>
        </p:txBody>
      </p:sp>
      <p:sp>
        <p:nvSpPr>
          <p:cNvPr id="14" name="Rectangle 13"/>
          <p:cNvSpPr/>
          <p:nvPr/>
        </p:nvSpPr>
        <p:spPr>
          <a:xfrm>
            <a:off x="822960" y="4041648"/>
            <a:ext cx="32004" cy="548640"/>
          </a:xfrm>
          <a:prstGeom prst="rect">
            <a:avLst/>
          </a:prstGeom>
          <a:solidFill>
            <a:srgbClr val="4FB8B8"/>
          </a:solidFill>
          <a:ln>
            <a:noFill/>
          </a:ln>
          <a:effectLst/>
        </p:spPr>
        <p:txBody>
          <a:bodyPr rtlCol="0" anchor="ctr"/>
          <a:lstStyle/>
          <a:p>
            <a:endParaRPr/>
          </a:p>
        </p:txBody>
      </p:sp>
      <p:sp>
        <p:nvSpPr>
          <p:cNvPr id="15" name="TextBox 14"/>
          <p:cNvSpPr txBox="1"/>
          <p:nvPr/>
        </p:nvSpPr>
        <p:spPr>
          <a:xfrm>
            <a:off x="1042416" y="3986784"/>
            <a:ext cx="6766560" cy="237744"/>
          </a:xfrm>
          <a:prstGeom prst="rect">
            <a:avLst/>
          </a:prstGeom>
          <a:noFill/>
        </p:spPr>
        <p:txBody>
          <a:bodyPr wrap="square" lIns="0" tIns="0" rIns="0" bIns="0" anchor="t">
            <a:spAutoFit/>
          </a:bodyPr>
          <a:lstStyle/>
          <a:p>
            <a:pPr algn="l">
              <a:lnSpc>
                <a:spcPct val="115000"/>
              </a:lnSpc>
              <a:spcAft>
                <a:spcPts val="0"/>
              </a:spcAft>
            </a:pPr>
            <a:r>
              <a:rPr sz="1200" b="1">
                <a:solidFill>
                  <a:srgbClr val="FFFFFF"/>
                </a:solidFill>
                <a:latin typeface="Segoe UI"/>
              </a:rPr>
              <a:t>Design the controls before the build</a:t>
            </a:r>
          </a:p>
        </p:txBody>
      </p:sp>
      <p:sp>
        <p:nvSpPr>
          <p:cNvPr id="16" name="TextBox 15"/>
          <p:cNvSpPr txBox="1"/>
          <p:nvPr/>
        </p:nvSpPr>
        <p:spPr>
          <a:xfrm>
            <a:off x="1042416" y="4261104"/>
            <a:ext cx="6766560" cy="365760"/>
          </a:xfrm>
          <a:prstGeom prst="rect">
            <a:avLst/>
          </a:prstGeom>
          <a:noFill/>
        </p:spPr>
        <p:txBody>
          <a:bodyPr wrap="square" lIns="0" tIns="0" rIns="0" bIns="0" anchor="t">
            <a:spAutoFit/>
          </a:bodyPr>
          <a:lstStyle/>
          <a:p>
            <a:pPr algn="l">
              <a:lnSpc>
                <a:spcPct val="134000"/>
              </a:lnSpc>
              <a:spcAft>
                <a:spcPts val="0"/>
              </a:spcAft>
            </a:pPr>
            <a:r>
              <a:rPr sz="950" b="0">
                <a:solidFill>
                  <a:srgbClr val="AEBDCC"/>
                </a:solidFill>
                <a:latin typeface="Segoe UI"/>
              </a:rPr>
              <a:t>Permission matrices, audit transactions and accept gates — specified, defended, written down.</a:t>
            </a:r>
          </a:p>
        </p:txBody>
      </p:sp>
      <p:sp>
        <p:nvSpPr>
          <p:cNvPr id="17" name="Rectangle 16"/>
          <p:cNvSpPr/>
          <p:nvPr/>
        </p:nvSpPr>
        <p:spPr>
          <a:xfrm>
            <a:off x="822960" y="4882896"/>
            <a:ext cx="32004" cy="548640"/>
          </a:xfrm>
          <a:prstGeom prst="rect">
            <a:avLst/>
          </a:prstGeom>
          <a:solidFill>
            <a:srgbClr val="4FB8B8"/>
          </a:solidFill>
          <a:ln>
            <a:noFill/>
          </a:ln>
          <a:effectLst/>
        </p:spPr>
        <p:txBody>
          <a:bodyPr rtlCol="0" anchor="ctr"/>
          <a:lstStyle/>
          <a:p>
            <a:endParaRPr/>
          </a:p>
        </p:txBody>
      </p:sp>
      <p:sp>
        <p:nvSpPr>
          <p:cNvPr id="18" name="TextBox 17"/>
          <p:cNvSpPr txBox="1"/>
          <p:nvPr/>
        </p:nvSpPr>
        <p:spPr>
          <a:xfrm>
            <a:off x="1042416" y="4828032"/>
            <a:ext cx="6766560" cy="237744"/>
          </a:xfrm>
          <a:prstGeom prst="rect">
            <a:avLst/>
          </a:prstGeom>
          <a:noFill/>
        </p:spPr>
        <p:txBody>
          <a:bodyPr wrap="square" lIns="0" tIns="0" rIns="0" bIns="0" anchor="t">
            <a:spAutoFit/>
          </a:bodyPr>
          <a:lstStyle/>
          <a:p>
            <a:pPr algn="l">
              <a:lnSpc>
                <a:spcPct val="115000"/>
              </a:lnSpc>
              <a:spcAft>
                <a:spcPts val="0"/>
              </a:spcAft>
            </a:pPr>
            <a:r>
              <a:rPr sz="1200" b="1">
                <a:solidFill>
                  <a:srgbClr val="FFFFFF"/>
                </a:solidFill>
                <a:latin typeface="Segoe UI"/>
              </a:rPr>
              <a:t>Run the chain end to end</a:t>
            </a:r>
          </a:p>
        </p:txBody>
      </p:sp>
      <p:sp>
        <p:nvSpPr>
          <p:cNvPr id="19" name="TextBox 18"/>
          <p:cNvSpPr txBox="1"/>
          <p:nvPr/>
        </p:nvSpPr>
        <p:spPr>
          <a:xfrm>
            <a:off x="1042416" y="5102352"/>
            <a:ext cx="6766560" cy="365760"/>
          </a:xfrm>
          <a:prstGeom prst="rect">
            <a:avLst/>
          </a:prstGeom>
          <a:noFill/>
        </p:spPr>
        <p:txBody>
          <a:bodyPr wrap="square" lIns="0" tIns="0" rIns="0" bIns="0" anchor="t">
            <a:spAutoFit/>
          </a:bodyPr>
          <a:lstStyle/>
          <a:p>
            <a:pPr algn="l">
              <a:lnSpc>
                <a:spcPct val="134000"/>
              </a:lnSpc>
              <a:spcAft>
                <a:spcPts val="0"/>
              </a:spcAft>
            </a:pPr>
            <a:r>
              <a:rPr sz="950" b="0">
                <a:solidFill>
                  <a:srgbClr val="AEBDCC"/>
                </a:solidFill>
                <a:latin typeface="Segoe UI"/>
              </a:rPr>
              <a:t>Canvas to specification to source to environments to evidence, on your own tooling.</a:t>
            </a:r>
          </a:p>
        </p:txBody>
      </p:sp>
      <p:sp>
        <p:nvSpPr>
          <p:cNvPr id="20" name="Rounded Rectangle 19"/>
          <p:cNvSpPr/>
          <p:nvPr/>
        </p:nvSpPr>
        <p:spPr>
          <a:xfrm>
            <a:off x="8816188" y="2423161"/>
            <a:ext cx="2843784" cy="2843784"/>
          </a:xfrm>
          <a:prstGeom prst="roundRect">
            <a:avLst>
              <a:gd name="adj" fmla="val 5000"/>
            </a:avLst>
          </a:prstGeom>
          <a:solidFill>
            <a:srgbClr val="FFFFFF"/>
          </a:solidFill>
          <a:ln>
            <a:noFill/>
          </a:ln>
          <a:effectLst/>
        </p:spPr>
        <p:txBody>
          <a:bodyPr rtlCol="0" anchor="ctr"/>
          <a:lstStyle/>
          <a:p>
            <a:endParaRPr/>
          </a:p>
        </p:txBody>
      </p:sp>
      <p:pic>
        <p:nvPicPr>
          <p:cNvPr id="21" name="Picture 20" descr="qr_flagship.png"/>
          <p:cNvPicPr>
            <a:picLocks noChangeAspect="1"/>
          </p:cNvPicPr>
          <p:nvPr/>
        </p:nvPicPr>
        <p:blipFill>
          <a:blip r:embed="rId3"/>
          <a:stretch>
            <a:fillRect/>
          </a:stretch>
        </p:blipFill>
        <p:spPr>
          <a:xfrm>
            <a:off x="9072220" y="2679193"/>
            <a:ext cx="2331720" cy="2331720"/>
          </a:xfrm>
          <a:prstGeom prst="rect">
            <a:avLst/>
          </a:prstGeom>
        </p:spPr>
      </p:pic>
      <p:sp>
        <p:nvSpPr>
          <p:cNvPr id="22" name="TextBox 21"/>
          <p:cNvSpPr txBox="1"/>
          <p:nvPr/>
        </p:nvSpPr>
        <p:spPr>
          <a:xfrm>
            <a:off x="8358988" y="5486401"/>
            <a:ext cx="3758183" cy="475488"/>
          </a:xfrm>
          <a:prstGeom prst="rect">
            <a:avLst/>
          </a:prstGeom>
          <a:noFill/>
        </p:spPr>
        <p:txBody>
          <a:bodyPr wrap="square" lIns="0" tIns="0" rIns="0" bIns="0" anchor="t">
            <a:spAutoFit/>
          </a:bodyPr>
          <a:lstStyle/>
          <a:p>
            <a:pPr algn="ctr">
              <a:lnSpc>
                <a:spcPct val="135000"/>
              </a:lnSpc>
              <a:spcAft>
                <a:spcPts val="0"/>
              </a:spcAft>
            </a:pPr>
            <a:r>
              <a:rPr sz="950" b="1" dirty="0">
                <a:solidFill>
                  <a:srgbClr val="4FB8B8"/>
                </a:solidFill>
                <a:latin typeface="Segoe UI"/>
              </a:rPr>
              <a:t>Scan to book the cohort</a:t>
            </a:r>
          </a:p>
          <a:p>
            <a:pPr algn="ctr">
              <a:lnSpc>
                <a:spcPct val="135000"/>
              </a:lnSpc>
              <a:spcAft>
                <a:spcPts val="0"/>
              </a:spcAft>
            </a:pPr>
            <a:r>
              <a:rPr sz="950" b="1" dirty="0">
                <a:solidFill>
                  <a:srgbClr val="4FB8B8"/>
                </a:solidFill>
                <a:latin typeface="Segoe UI"/>
              </a:rPr>
              <a:t>events.humanitix.com</a:t>
            </a:r>
          </a:p>
        </p:txBody>
      </p:sp>
      <p:sp>
        <p:nvSpPr>
          <p:cNvPr id="23" name="Rectangle 22"/>
          <p:cNvSpPr/>
          <p:nvPr/>
        </p:nvSpPr>
        <p:spPr>
          <a:xfrm>
            <a:off x="822960" y="6053328"/>
            <a:ext cx="10545775" cy="10972"/>
          </a:xfrm>
          <a:prstGeom prst="rect">
            <a:avLst/>
          </a:prstGeom>
          <a:solidFill>
            <a:srgbClr val="2A4A6F"/>
          </a:solidFill>
          <a:ln>
            <a:noFill/>
          </a:ln>
          <a:effectLst/>
        </p:spPr>
        <p:txBody>
          <a:bodyPr rtlCol="0" anchor="ctr"/>
          <a:lstStyle/>
          <a:p>
            <a:endParaRPr/>
          </a:p>
        </p:txBody>
      </p:sp>
      <p:sp>
        <p:nvSpPr>
          <p:cNvPr id="24" name="TextBox 23"/>
          <p:cNvSpPr txBox="1"/>
          <p:nvPr/>
        </p:nvSpPr>
        <p:spPr>
          <a:xfrm>
            <a:off x="822960" y="6236208"/>
            <a:ext cx="7863840" cy="201168"/>
          </a:xfrm>
          <a:prstGeom prst="rect">
            <a:avLst/>
          </a:prstGeom>
          <a:noFill/>
        </p:spPr>
        <p:txBody>
          <a:bodyPr wrap="square" lIns="0" tIns="0" rIns="0" bIns="0" anchor="t">
            <a:spAutoFit/>
          </a:bodyPr>
          <a:lstStyle/>
          <a:p>
            <a:pPr algn="l">
              <a:lnSpc>
                <a:spcPct val="115000"/>
              </a:lnSpc>
              <a:spcAft>
                <a:spcPts val="0"/>
              </a:spcAft>
            </a:pPr>
            <a:r>
              <a:rPr sz="900" b="1" spc="60">
                <a:solidFill>
                  <a:srgbClr val="4FB8B8"/>
                </a:solidFill>
                <a:latin typeface="Segoe UI"/>
              </a:rPr>
              <a:t>Business Analyst Services   ·   gday@business-analyst.services   ·   business-analyst.services</a:t>
            </a:r>
          </a:p>
        </p:txBody>
      </p:sp>
      <p:sp>
        <p:nvSpPr>
          <p:cNvPr id="25" name="TextBox 24"/>
          <p:cNvSpPr txBox="1"/>
          <p:nvPr/>
        </p:nvSpPr>
        <p:spPr>
          <a:xfrm>
            <a:off x="7345375" y="6236208"/>
            <a:ext cx="4023360" cy="201168"/>
          </a:xfrm>
          <a:prstGeom prst="rect">
            <a:avLst/>
          </a:prstGeom>
          <a:noFill/>
        </p:spPr>
        <p:txBody>
          <a:bodyPr wrap="square" lIns="0" tIns="0" rIns="0" bIns="0" anchor="t">
            <a:spAutoFit/>
          </a:bodyPr>
          <a:lstStyle/>
          <a:p>
            <a:pPr algn="r">
              <a:lnSpc>
                <a:spcPct val="115000"/>
              </a:lnSpc>
              <a:spcAft>
                <a:spcPts val="0"/>
              </a:spcAft>
            </a:pPr>
            <a:r>
              <a:rPr sz="900" b="0">
                <a:solidFill>
                  <a:srgbClr val="8EA3B8"/>
                </a:solidFill>
                <a:latin typeface="Segoe UI"/>
              </a:rPr>
              <a:t>Nineteen runs · three regions · Sep–Nov 2026</a:t>
            </a:r>
          </a:p>
        </p:txBody>
      </p:sp>
      <p:pic>
        <p:nvPicPr>
          <p:cNvPr id="27" name="Picture 26">
            <a:extLst>
              <a:ext uri="{FF2B5EF4-FFF2-40B4-BE49-F238E27FC236}">
                <a16:creationId xmlns:a16="http://schemas.microsoft.com/office/drawing/2014/main" id="{78B75CE5-B1DD-23A5-DF59-2FE21B6AC027}"/>
              </a:ext>
            </a:extLst>
          </p:cNvPr>
          <p:cNvPicPr>
            <a:picLocks noChangeAspect="1"/>
          </p:cNvPicPr>
          <p:nvPr/>
        </p:nvPicPr>
        <p:blipFill>
          <a:blip r:embed="rId4"/>
          <a:srcRect/>
          <a:stretch>
            <a:fillRect/>
          </a:stretch>
        </p:blipFill>
        <p:spPr>
          <a:xfrm>
            <a:off x="10322918" y="512506"/>
            <a:ext cx="1407734" cy="140773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2038</Words>
  <Application>Microsoft Office PowerPoint</Application>
  <PresentationFormat>Widescreen</PresentationFormat>
  <Paragraphs>226</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Consolas</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Chale Dodge</cp:lastModifiedBy>
  <cp:revision>4</cp:revision>
  <dcterms:created xsi:type="dcterms:W3CDTF">2013-01-27T09:14:16Z</dcterms:created>
  <dcterms:modified xsi:type="dcterms:W3CDTF">2026-09-10T07:17:21Z</dcterms:modified>
  <cp:category/>
</cp:coreProperties>
</file>