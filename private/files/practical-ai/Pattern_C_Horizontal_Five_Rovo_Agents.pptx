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rial" charset="1" panose="020B0604020202020204"/>
      <p:regular r:id="rId33"/>
    </p:embeddedFont>
    <p:embeddedFont>
      <p:font typeface="Arial Bold" charset="1" panose="020B0704020202020204"/>
      <p:regular r:id="rId34"/>
    </p:embeddedFont>
    <p:embeddedFont>
      <p:font typeface="Courier New Bold" charset="1" panose="02070609020205020404"/>
      <p:regular r:id="rId41"/>
    </p:embeddedFont>
    <p:embeddedFont>
      <p:font typeface="Courier New" charset="1" panose="020703090202050204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notesSlides/notesSlide23.xml" Type="http://schemas.openxmlformats.org/officeDocument/2006/relationships/notesSlide"/><Relationship Id="rId59" Target="notesSlides/notesSlide24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Welcome. 45 minutes: ~15 min concepts, ~15 min demo, ~7 min rollout, Q&amp;A.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All AIDEL rules, live in Jira Automation. Rules marked ⚡ call a Rovo agent. All are enabled and owned by you; non-agent rules run as 'Automation for Jira'.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Inside Rule 1: the RA-Agent step. Epic → Requirements Analysis. Domain, Scenario and BA Notes go to the RA-Agent; the rule publishes its answer to Confluence, comments, and moves to Requirements Review.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Inside Rule 4: the TA-Agent step. Story → Ready for Dev. The TA-Agent designs test cases for that story; they become sub-tasks and a comment for BA review.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epic: AIDEL-57. Five stories created by the SM-Agent, all Done. Domain Healthcare → Assurance Required = Yes, so this epic passed four BA gates.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BEFORE: 400 mg/day only gives a warning. Limit for a 15 kg child is 150 mg/day. The original build shows an amber alert and lets the prescriber override with a justification.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BA records the change and reopens the story. Only the affected story is reopened – nothing else is rebuilt.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Rule 14 reopens the epic automatically. A story goes Done → In Progress. The rule moves the parent epic back to In Delivery, so the documentation step will run again.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coding step: a pull request for AIDEL-60. Branch AIDEL-60-hard-stop changes app.js and adds a test tagged [AIDEL-60][REQ-003]. Vercel builds a preview.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Tests actually run – results land on the story. GitHub Actions ran the Playwright tests, posted PASS per requirement, attached screenshots, labelled 'tests-passed' and moved the story to Build Review.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AFTER: the same order is now a HARD STOP. The BA checks the preview, clicks Approve Build (gate), and the PR is merged. Sign order stays disabled above 2× the limit.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DOC-Agent: release notes with 'Screen changes'. Rule 6 moves the epic to Documentation and Rule 5 runs the DOC-Agent. It names the new screenshot and quotes the Was/Now change for BA review.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9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0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2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lowing teal pipeline of five connected nodes on deep navy"/>
          <p:cNvSpPr/>
          <p:nvPr/>
        </p:nvSpPr>
        <p:spPr>
          <a:xfrm flipH="false" flipV="false" rot="0">
            <a:off x="10410825" y="-285750"/>
            <a:ext cx="10715625" cy="14287500"/>
          </a:xfrm>
          <a:custGeom>
            <a:avLst/>
            <a:gdLst/>
            <a:ahLst/>
            <a:cxnLst/>
            <a:rect r="r" b="b" t="t" l="l"/>
            <a:pathLst>
              <a:path h="14287500" w="10715625">
                <a:moveTo>
                  <a:pt x="0" y="0"/>
                </a:moveTo>
                <a:lnTo>
                  <a:pt x="10715625" y="0"/>
                </a:lnTo>
                <a:lnTo>
                  <a:pt x="10715625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1" r="0" b="-2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21383" y="7418070"/>
            <a:ext cx="329184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0"/>
              </a:lnSpc>
            </a:pPr>
            <a:r>
              <a:rPr lang="en-US" sz="13200">
                <a:solidFill>
                  <a:srgbClr val="3A5F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11" id="11"/>
          <p:cNvSpPr/>
          <p:nvPr/>
        </p:nvSpPr>
        <p:spPr>
          <a:xfrm rot="178500">
            <a:off x="808301" y="245935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508760" y="231267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ATLASSIAN COMMUNITY · SYDNEY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2773680"/>
            <a:ext cx="932688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Five Rovo Agents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3779520"/>
            <a:ext cx="932688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One Business Analyst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960" y="5124450"/>
            <a:ext cx="905256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Multi-agent BA delivery in Jira and Confluence.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960" y="5631942"/>
            <a:ext cx="905256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From problem statement to published docs, with a human at every gate.</a:t>
            </a:r>
          </a:p>
        </p:txBody>
      </p:sp>
      <p:sp>
        <p:nvSpPr>
          <p:cNvPr name="AutoShape 17" id="17"/>
          <p:cNvSpPr/>
          <p:nvPr/>
        </p:nvSpPr>
        <p:spPr>
          <a:xfrm rot="5400">
            <a:off x="815807" y="6647497"/>
            <a:ext cx="906685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400">
            <a:off x="815807" y="8087678"/>
            <a:ext cx="906685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22960" y="6838950"/>
            <a:ext cx="22631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960" y="7565898"/>
            <a:ext cx="22631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AGENTS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86100" y="6838950"/>
            <a:ext cx="22631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86100" y="7565898"/>
            <a:ext cx="22631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RULES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49240" y="6838950"/>
            <a:ext cx="22631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49240" y="7565898"/>
            <a:ext cx="22631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BA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12380" y="6838950"/>
            <a:ext cx="22631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12380" y="7565898"/>
            <a:ext cx="22631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SELF-APPROVALS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3435" y="8384667"/>
            <a:ext cx="4408170" cy="842010"/>
            <a:chOff x="0" y="0"/>
            <a:chExt cx="5877560" cy="1122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775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5877560">
                  <a:moveTo>
                    <a:pt x="0" y="0"/>
                  </a:moveTo>
                  <a:lnTo>
                    <a:pt x="5877560" y="0"/>
                  </a:lnTo>
                  <a:lnTo>
                    <a:pt x="5877560" y="1122680"/>
                  </a:lnTo>
                  <a:lnTo>
                    <a:pt x="0" y="11226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394192"/>
            <a:ext cx="4389120" cy="822960"/>
            <a:chOff x="0" y="0"/>
            <a:chExt cx="585216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▶   LIVE DEMO INSIDE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486400" y="8416290"/>
            <a:ext cx="493776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Chale Dodge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86400" y="8809863"/>
            <a:ext cx="4937760" cy="36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Lead BA &amp; Practice Lead, BAS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09960" y="803910"/>
            <a:ext cx="6491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WHAT YOU'LL SEE</a:t>
            </a:r>
          </a:p>
        </p:txBody>
      </p:sp>
      <p:sp>
        <p:nvSpPr>
          <p:cNvPr name="AutoShape 35" id="35"/>
          <p:cNvSpPr/>
          <p:nvPr/>
        </p:nvSpPr>
        <p:spPr>
          <a:xfrm rot="7560">
            <a:off x="11102807" y="1339406"/>
            <a:ext cx="6506089" cy="0"/>
          </a:xfrm>
          <a:prstGeom prst="line">
            <a:avLst/>
          </a:prstGeom>
          <a:ln cap="rnd" w="9525">
            <a:solidFill>
              <a:srgbClr val="4DB8B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1109960" y="1640586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64340" y="1585722"/>
            <a:ext cx="5737403" cy="8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Agents</a:t>
            </a: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&amp; the roles they play</a:t>
            </a:r>
          </a:p>
        </p:txBody>
      </p:sp>
      <p:sp>
        <p:nvSpPr>
          <p:cNvPr name="AutoShape 38" id="38"/>
          <p:cNvSpPr/>
          <p:nvPr/>
        </p:nvSpPr>
        <p:spPr>
          <a:xfrm rot="5040">
            <a:off x="11105198" y="2505266"/>
            <a:ext cx="6501317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109960" y="2628138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64340" y="2573274"/>
            <a:ext cx="5737403" cy="8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Workflow</a:t>
            </a: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&amp; BA approval gates</a:t>
            </a:r>
          </a:p>
        </p:txBody>
      </p:sp>
      <p:sp>
        <p:nvSpPr>
          <p:cNvPr name="AutoShape 41" id="41"/>
          <p:cNvSpPr/>
          <p:nvPr/>
        </p:nvSpPr>
        <p:spPr>
          <a:xfrm rot="5040">
            <a:off x="11105198" y="3492817"/>
            <a:ext cx="6501317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1109960" y="3615690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64340" y="3560826"/>
            <a:ext cx="5737403" cy="8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Automation</a:t>
            </a: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&amp; the engine room</a:t>
            </a:r>
          </a:p>
        </p:txBody>
      </p:sp>
      <p:sp>
        <p:nvSpPr>
          <p:cNvPr name="AutoShape 44" id="44"/>
          <p:cNvSpPr/>
          <p:nvPr/>
        </p:nvSpPr>
        <p:spPr>
          <a:xfrm rot="5040">
            <a:off x="11105198" y="4480370"/>
            <a:ext cx="6501317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1109960" y="4603242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64340" y="4548378"/>
            <a:ext cx="5737403" cy="8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Live demo</a:t>
            </a: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one change, end to end</a:t>
            </a:r>
          </a:p>
        </p:txBody>
      </p:sp>
      <p:sp>
        <p:nvSpPr>
          <p:cNvPr name="AutoShape 47" id="47"/>
          <p:cNvSpPr/>
          <p:nvPr/>
        </p:nvSpPr>
        <p:spPr>
          <a:xfrm rot="5040">
            <a:off x="11105198" y="5467921"/>
            <a:ext cx="6501317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1109960" y="5590794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864340" y="5535930"/>
            <a:ext cx="5737403" cy="86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Rollout</a:t>
            </a: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&amp; what to measure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 AT EVERY GATE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Agents draft. Only a Business Analyst approves.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Teal light trails over deep navy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" t="0" r="-11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9FB3C8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10" id="10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08760" y="2106930"/>
            <a:ext cx="10972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WHY THIS MATTERS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2577465"/>
            <a:ext cx="109728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BAs are drowning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3491865"/>
            <a:ext cx="10972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 handoffs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5133975"/>
            <a:ext cx="109728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Goal: speed up the drafting. Keep the BA in control.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816" y="6096476"/>
            <a:ext cx="3991928" cy="2688908"/>
            <a:chOff x="0" y="0"/>
            <a:chExt cx="5322570" cy="35852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22570" cy="3585210"/>
            </a:xfrm>
            <a:custGeom>
              <a:avLst/>
              <a:gdLst/>
              <a:ahLst/>
              <a:cxnLst/>
              <a:rect r="r" b="b" t="t" l="l"/>
              <a:pathLst>
                <a:path h="35852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3585210"/>
                  </a:lnTo>
                  <a:lnTo>
                    <a:pt x="0" y="3585210"/>
                  </a:lnTo>
                  <a:close/>
                </a:path>
              </a:pathLst>
            </a:custGeom>
            <a:solidFill>
              <a:srgbClr val="14284A"/>
            </a:solid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65860" y="6386322"/>
            <a:ext cx="1371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5860" y="6797802"/>
            <a:ext cx="336042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Lost context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5860" y="7387590"/>
            <a:ext cx="336042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Requirements, design, stories, tests and docs live in different heads and tools.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26628" y="6096476"/>
            <a:ext cx="3991928" cy="2688908"/>
            <a:chOff x="0" y="0"/>
            <a:chExt cx="5322570" cy="35852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2570" cy="3585210"/>
            </a:xfrm>
            <a:custGeom>
              <a:avLst/>
              <a:gdLst/>
              <a:ahLst/>
              <a:cxnLst/>
              <a:rect r="r" b="b" t="t" l="l"/>
              <a:pathLst>
                <a:path h="35852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3585210"/>
                  </a:lnTo>
                  <a:lnTo>
                    <a:pt x="0" y="3585210"/>
                  </a:lnTo>
                  <a:close/>
                </a:path>
              </a:pathLst>
            </a:custGeom>
            <a:solidFill>
              <a:srgbClr val="14284A"/>
            </a:solid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376672" y="6386322"/>
            <a:ext cx="1371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76672" y="6797802"/>
            <a:ext cx="336042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Broken traceability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76672" y="7387590"/>
            <a:ext cx="336042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Links between Confluence pages and Jira issues drift.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37440" y="6096476"/>
            <a:ext cx="3991928" cy="2688908"/>
            <a:chOff x="0" y="0"/>
            <a:chExt cx="5322570" cy="35852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22570" cy="3585210"/>
            </a:xfrm>
            <a:custGeom>
              <a:avLst/>
              <a:gdLst/>
              <a:ahLst/>
              <a:cxnLst/>
              <a:rect r="r" b="b" t="t" l="l"/>
              <a:pathLst>
                <a:path h="35852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3585210"/>
                  </a:lnTo>
                  <a:lnTo>
                    <a:pt x="0" y="3585210"/>
                  </a:lnTo>
                  <a:close/>
                </a:path>
              </a:pathLst>
            </a:custGeom>
            <a:solidFill>
              <a:srgbClr val="14284A"/>
            </a:solid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587484" y="6386322"/>
            <a:ext cx="1371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87484" y="6797802"/>
            <a:ext cx="336042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Late rework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87484" y="7387590"/>
            <a:ext cx="336042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Gaps surface in testing, not in analysis.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448252" y="6096476"/>
            <a:ext cx="3991928" cy="2688908"/>
            <a:chOff x="0" y="0"/>
            <a:chExt cx="5322570" cy="35852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22570" cy="3585210"/>
            </a:xfrm>
            <a:custGeom>
              <a:avLst/>
              <a:gdLst/>
              <a:ahLst/>
              <a:cxnLst/>
              <a:rect r="r" b="b" t="t" l="l"/>
              <a:pathLst>
                <a:path h="35852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3585210"/>
                  </a:lnTo>
                  <a:lnTo>
                    <a:pt x="0" y="3585210"/>
                  </a:lnTo>
                  <a:close/>
                </a:path>
              </a:pathLst>
            </a:custGeom>
            <a:solidFill>
              <a:srgbClr val="14284A"/>
            </a:solid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3798296" y="6386322"/>
            <a:ext cx="1371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98296" y="6797802"/>
            <a:ext cx="336042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Ungoverned AI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98296" y="7387590"/>
            <a:ext cx="336042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Fast drafts with no gates and no audit trail.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47063" y="7349490"/>
            <a:ext cx="3429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0"/>
              </a:lnSpc>
            </a:pPr>
            <a:r>
              <a:rPr lang="en-US" sz="13200">
                <a:solidFill>
                  <a:srgbClr val="3A5F8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THE AGENT 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Five Rovo agents,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one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0" y="3204210"/>
            <a:ext cx="75438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Each agent is triggered by a Jira status and hands back to a BA review status.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4724876"/>
            <a:ext cx="3168967" cy="4471988"/>
            <a:chOff x="0" y="0"/>
            <a:chExt cx="4225290" cy="59626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25290" cy="5962650"/>
            </a:xfrm>
            <a:custGeom>
              <a:avLst/>
              <a:gdLst/>
              <a:ahLst/>
              <a:cxnLst/>
              <a:rect r="r" b="b" t="t" l="l"/>
              <a:pathLst>
                <a:path h="59626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96265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51573" y="5129212"/>
            <a:ext cx="1057275" cy="1057275"/>
            <a:chOff x="0" y="0"/>
            <a:chExt cx="1409700" cy="1409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97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5143500"/>
            <a:ext cx="1028700" cy="1028700"/>
            <a:chOff x="0" y="0"/>
            <a:chExt cx="137160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71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880360" y="5193030"/>
            <a:ext cx="7543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b="true" sz="15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860" y="6505575"/>
            <a:ext cx="26060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RA-Agent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7017258"/>
            <a:ext cx="26060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REQUIREMENTS ANALYST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5860" y="752475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Spec with REQ IDs, gaps and open questions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217384" y="4724876"/>
            <a:ext cx="3168967" cy="4471988"/>
            <a:chOff x="0" y="0"/>
            <a:chExt cx="4225290" cy="59626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25290" cy="5962650"/>
            </a:xfrm>
            <a:custGeom>
              <a:avLst/>
              <a:gdLst/>
              <a:ahLst/>
              <a:cxnLst/>
              <a:rect r="r" b="b" t="t" l="l"/>
              <a:pathLst>
                <a:path h="59626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96265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553140" y="5129212"/>
            <a:ext cx="1057275" cy="1057275"/>
            <a:chOff x="0" y="0"/>
            <a:chExt cx="1409700" cy="1409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97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567428" y="5143500"/>
            <a:ext cx="1028700" cy="1028700"/>
            <a:chOff x="0" y="0"/>
            <a:chExt cx="13716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371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281928" y="5193030"/>
            <a:ext cx="7543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b="true" sz="15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67428" y="6505575"/>
            <a:ext cx="26060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SA-Agent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67428" y="7017258"/>
            <a:ext cx="26060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SOLUTION ARCHITECT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67428" y="752475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Options, draft ADRs, NFRs, dependency issues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618952" y="4724876"/>
            <a:ext cx="3168967" cy="4471988"/>
            <a:chOff x="0" y="0"/>
            <a:chExt cx="4225290" cy="59626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25290" cy="5962650"/>
            </a:xfrm>
            <a:custGeom>
              <a:avLst/>
              <a:gdLst/>
              <a:ahLst/>
              <a:cxnLst/>
              <a:rect r="r" b="b" t="t" l="l"/>
              <a:pathLst>
                <a:path h="59626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96265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954708" y="5129212"/>
            <a:ext cx="1057275" cy="1057275"/>
            <a:chOff x="0" y="0"/>
            <a:chExt cx="1409700" cy="1409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097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968996" y="5143500"/>
            <a:ext cx="1028700" cy="1028700"/>
            <a:chOff x="0" y="0"/>
            <a:chExt cx="137160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371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683496" y="5193030"/>
            <a:ext cx="7543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b="true" sz="15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68996" y="6505575"/>
            <a:ext cx="26060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SM-Agent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68996" y="7017258"/>
            <a:ext cx="26060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SCRUM MASTER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68996" y="752475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INVEST stories with Gherkin acceptance criteria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020520" y="4724876"/>
            <a:ext cx="3168967" cy="4471988"/>
            <a:chOff x="0" y="0"/>
            <a:chExt cx="4225290" cy="59626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25290" cy="5962650"/>
            </a:xfrm>
            <a:custGeom>
              <a:avLst/>
              <a:gdLst/>
              <a:ahLst/>
              <a:cxnLst/>
              <a:rect r="r" b="b" t="t" l="l"/>
              <a:pathLst>
                <a:path h="59626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96265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356276" y="5129212"/>
            <a:ext cx="1057275" cy="1057275"/>
            <a:chOff x="0" y="0"/>
            <a:chExt cx="1409700" cy="1409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97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370564" y="5143500"/>
            <a:ext cx="1028700" cy="1028700"/>
            <a:chOff x="0" y="0"/>
            <a:chExt cx="137160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371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085064" y="5193030"/>
            <a:ext cx="7543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b="true" sz="15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70564" y="6505575"/>
            <a:ext cx="26060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TA-Agent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70564" y="7017258"/>
            <a:ext cx="26060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TEST ANALYST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370564" y="752475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Test scenarios and a coverage matrix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4422088" y="4724876"/>
            <a:ext cx="3168967" cy="4471988"/>
            <a:chOff x="0" y="0"/>
            <a:chExt cx="4225290" cy="59626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25290" cy="5962650"/>
            </a:xfrm>
            <a:custGeom>
              <a:avLst/>
              <a:gdLst/>
              <a:ahLst/>
              <a:cxnLst/>
              <a:rect r="r" b="b" t="t" l="l"/>
              <a:pathLst>
                <a:path h="59626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96265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757845" y="5129212"/>
            <a:ext cx="1057275" cy="1057275"/>
            <a:chOff x="0" y="0"/>
            <a:chExt cx="1409700" cy="1409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097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772132" y="5143500"/>
            <a:ext cx="1028700" cy="1028700"/>
            <a:chOff x="0" y="0"/>
            <a:chExt cx="137160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371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6486632" y="5193030"/>
            <a:ext cx="7543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b="true" sz="15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772132" y="6505575"/>
            <a:ext cx="26060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DOC-Agent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772132" y="7017258"/>
            <a:ext cx="26060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DOCUMENTATION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72132" y="752475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Release notes and help page drafts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7700010" cy="9620250"/>
            <a:chOff x="0" y="0"/>
            <a:chExt cx="10266680" cy="128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668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12827000"/>
                  </a:lnTo>
                  <a:lnTo>
                    <a:pt x="0" y="1282700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78656" y="7536656"/>
            <a:ext cx="768668" cy="1934527"/>
            <a:chOff x="0" y="0"/>
            <a:chExt cx="1024890" cy="2579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890" cy="2579370"/>
            </a:xfrm>
            <a:custGeom>
              <a:avLst/>
              <a:gdLst/>
              <a:ahLst/>
              <a:cxnLst/>
              <a:rect r="r" b="b" t="t" l="l"/>
              <a:pathLst>
                <a:path h="257937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2579370"/>
                  </a:lnTo>
                  <a:lnTo>
                    <a:pt x="0" y="2579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2905" t="0" r="-272905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48504" y="6439376"/>
            <a:ext cx="768668" cy="3031808"/>
            <a:chOff x="0" y="0"/>
            <a:chExt cx="1024890" cy="40424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890" cy="4042410"/>
            </a:xfrm>
            <a:custGeom>
              <a:avLst/>
              <a:gdLst/>
              <a:ahLst/>
              <a:cxnLst/>
              <a:rect r="r" b="b" t="t" l="l"/>
              <a:pathLst>
                <a:path h="404241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4042410"/>
                  </a:lnTo>
                  <a:lnTo>
                    <a:pt x="0" y="40424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059" t="0" r="-456059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818352" y="6988016"/>
            <a:ext cx="768668" cy="2483167"/>
            <a:chOff x="0" y="0"/>
            <a:chExt cx="1024890" cy="3310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890" cy="3310890"/>
            </a:xfrm>
            <a:custGeom>
              <a:avLst/>
              <a:gdLst/>
              <a:ahLst/>
              <a:cxnLst/>
              <a:rect r="r" b="b" t="t" l="l"/>
              <a:pathLst>
                <a:path h="331089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310890"/>
                  </a:lnTo>
                  <a:lnTo>
                    <a:pt x="0" y="3310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4482" t="0" r="-364482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88200" y="5342096"/>
            <a:ext cx="768668" cy="4129088"/>
            <a:chOff x="0" y="0"/>
            <a:chExt cx="1024890" cy="5505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890" cy="5505450"/>
            </a:xfrm>
            <a:custGeom>
              <a:avLst/>
              <a:gdLst/>
              <a:ahLst/>
              <a:cxnLst/>
              <a:rect r="r" b="b" t="t" l="l"/>
              <a:pathLst>
                <a:path h="550545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5505450"/>
                  </a:lnTo>
                  <a:lnTo>
                    <a:pt x="0" y="5505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9214" t="0" r="-639214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958048" y="6027896"/>
            <a:ext cx="768668" cy="3443288"/>
            <a:chOff x="0" y="0"/>
            <a:chExt cx="1024890" cy="4591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890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4591050"/>
                  </a:lnTo>
                  <a:lnTo>
                    <a:pt x="0" y="4591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4742" t="0" r="-524742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027896" y="4519136"/>
            <a:ext cx="768668" cy="4952047"/>
            <a:chOff x="0" y="0"/>
            <a:chExt cx="1024890" cy="6602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890" cy="6602730"/>
            </a:xfrm>
            <a:custGeom>
              <a:avLst/>
              <a:gdLst/>
              <a:ahLst/>
              <a:cxnLst/>
              <a:rect r="r" b="b" t="t" l="l"/>
              <a:pathLst>
                <a:path h="660273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6602730"/>
                  </a:lnTo>
                  <a:lnTo>
                    <a:pt x="0" y="6602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6580" t="0" r="-776580" b="0"/>
              </a:stretch>
            </a:blipFill>
            <a:ln w="14288" cap="sq">
              <a:solidFill>
                <a:srgbClr val="3E618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9FB3C8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23" id="23"/>
          <p:cNvSpPr/>
          <p:nvPr/>
        </p:nvSpPr>
        <p:spPr>
          <a:xfrm rot="178500">
            <a:off x="808301" y="245935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508760" y="2312670"/>
            <a:ext cx="10972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OPERATING PRINCIPLES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2783205"/>
            <a:ext cx="65836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The rules that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3697605"/>
            <a:ext cx="658368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keep it safe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2960" y="5261610"/>
            <a:ext cx="630936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Every rule, agent and workflow condition traces back to one of these.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40480" y="7349490"/>
            <a:ext cx="3429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0"/>
              </a:lnSpc>
            </a:pPr>
            <a:r>
              <a:rPr lang="en-US" sz="13200">
                <a:solidFill>
                  <a:srgbClr val="3A5F8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03920" y="1000125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12680" y="1046607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Status is the handoff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12680" y="1576197"/>
            <a:ext cx="740664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A Jira status triggers each agent.</a:t>
            </a:r>
          </a:p>
        </p:txBody>
      </p:sp>
      <p:sp>
        <p:nvSpPr>
          <p:cNvPr name="AutoShape 32" id="32"/>
          <p:cNvSpPr/>
          <p:nvPr/>
        </p:nvSpPr>
        <p:spPr>
          <a:xfrm rot="5520">
            <a:off x="8496767" y="2368106"/>
            <a:ext cx="892969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8503920" y="2618613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12680" y="2665095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Agents never self-approve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12680" y="3194685"/>
            <a:ext cx="740664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Only a human moves work out of review.</a:t>
            </a:r>
          </a:p>
        </p:txBody>
      </p:sp>
      <p:sp>
        <p:nvSpPr>
          <p:cNvPr name="AutoShape 36" id="36"/>
          <p:cNvSpPr/>
          <p:nvPr/>
        </p:nvSpPr>
        <p:spPr>
          <a:xfrm rot="5520">
            <a:off x="8496767" y="3986594"/>
            <a:ext cx="892969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8503920" y="4237101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12680" y="4283583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Traceability is mandatory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12680" y="4813173"/>
            <a:ext cx="740664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Every item carries REQ-nnn IDs.</a:t>
            </a:r>
          </a:p>
        </p:txBody>
      </p:sp>
      <p:sp>
        <p:nvSpPr>
          <p:cNvPr name="AutoShape 40" id="40"/>
          <p:cNvSpPr/>
          <p:nvPr/>
        </p:nvSpPr>
        <p:spPr>
          <a:xfrm rot="5520">
            <a:off x="8496767" y="5605082"/>
            <a:ext cx="892969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8503920" y="5855589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12680" y="5902071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Scoped knowledge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12680" y="6431661"/>
            <a:ext cx="740664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Each agent sees only the spaces it needs.</a:t>
            </a:r>
          </a:p>
        </p:txBody>
      </p:sp>
      <p:sp>
        <p:nvSpPr>
          <p:cNvPr name="AutoShape 44" id="44"/>
          <p:cNvSpPr/>
          <p:nvPr/>
        </p:nvSpPr>
        <p:spPr>
          <a:xfrm rot="5520">
            <a:off x="8496767" y="7223570"/>
            <a:ext cx="892969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8503920" y="7474077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12680" y="7520559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Everything is auditable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12680" y="8050149"/>
            <a:ext cx="740664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Outputs labelled ai-generated; page versions show BA edits.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EPIC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Status 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the handoff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5816" y="4862036"/>
            <a:ext cx="2688908" cy="1317308"/>
            <a:chOff x="0" y="0"/>
            <a:chExt cx="3585210" cy="1756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Intake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655028" y="4862036"/>
            <a:ext cx="2688908" cy="1317308"/>
            <a:chOff x="0" y="0"/>
            <a:chExt cx="3585210" cy="17564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3867912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67912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Requirements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67912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RA-Agent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94240" y="4862036"/>
            <a:ext cx="2688908" cy="1317308"/>
            <a:chOff x="0" y="0"/>
            <a:chExt cx="3585210" cy="17564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4DB8B8"/>
            </a:solidFill>
            <a:ln w="14288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707124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07124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Requirements Review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07124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BA GATE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33452" y="4862036"/>
            <a:ext cx="2688908" cy="1317308"/>
            <a:chOff x="0" y="0"/>
            <a:chExt cx="3585210" cy="17564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546336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6336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Solution Design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6336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SA-Agent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172664" y="4862036"/>
            <a:ext cx="2688908" cy="1317308"/>
            <a:chOff x="0" y="0"/>
            <a:chExt cx="3585210" cy="17564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4DB8B8"/>
            </a:solidFill>
            <a:ln w="14288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385548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5548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Design Review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5548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BA GATE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011876" y="4862036"/>
            <a:ext cx="2688908" cy="1317308"/>
            <a:chOff x="0" y="0"/>
            <a:chExt cx="3585210" cy="17564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5224760" y="498729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224760" y="526161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Story Breakdown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24760" y="578281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SM-Agent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5816" y="6645116"/>
            <a:ext cx="2688908" cy="1317308"/>
            <a:chOff x="0" y="0"/>
            <a:chExt cx="3585210" cy="17564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4DB8B8"/>
            </a:solidFill>
            <a:ln w="14288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28700" y="677037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704469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Refinement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756589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PO GATE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3655028" y="6645116"/>
            <a:ext cx="2688908" cy="1317308"/>
            <a:chOff x="0" y="0"/>
            <a:chExt cx="3585210" cy="17564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3867912" y="677037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867912" y="704469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 Delivery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867912" y="756589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TA-Agent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494240" y="6645116"/>
            <a:ext cx="2688908" cy="1317308"/>
            <a:chOff x="0" y="0"/>
            <a:chExt cx="3585210" cy="17564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6707124" y="677037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07124" y="704469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Documentation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707124" y="756589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DOC-Agent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333452" y="6645116"/>
            <a:ext cx="2688908" cy="1317308"/>
            <a:chOff x="0" y="0"/>
            <a:chExt cx="3585210" cy="17564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4DB8B8"/>
            </a:solidFill>
            <a:ln w="14288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9546336" y="677037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46336" y="704469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Docs Review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46336" y="756589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BA GATE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72664" y="6645116"/>
            <a:ext cx="2688908" cy="1317308"/>
            <a:chOff x="0" y="0"/>
            <a:chExt cx="3585210" cy="175641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85210" cy="1756410"/>
            </a:xfrm>
            <a:custGeom>
              <a:avLst/>
              <a:gdLst/>
              <a:ahLst/>
              <a:cxnLst/>
              <a:rect r="r" b="b" t="t" l="l"/>
              <a:pathLst>
                <a:path h="1756410" w="3585210">
                  <a:moveTo>
                    <a:pt x="0" y="0"/>
                  </a:moveTo>
                  <a:lnTo>
                    <a:pt x="3585210" y="0"/>
                  </a:lnTo>
                  <a:lnTo>
                    <a:pt x="358521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2385548" y="6770370"/>
            <a:ext cx="685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85548" y="7044690"/>
            <a:ext cx="233172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Done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85548" y="7565898"/>
            <a:ext cx="23317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149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2960" y="8416290"/>
            <a:ext cx="164592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Rework </a:t>
            </a:r>
            <a:r>
              <a:rPr lang="en-US" sz="19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transition back from every review status, restricted to the ba-approvers group.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658600" y="2586990"/>
            <a:ext cx="5760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■ Agent step   ■ Human gate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BUILD THIS FIRST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foundation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0" y="3204210"/>
            <a:ext cx="75438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The agents and rules depend on these exact names.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4587716"/>
            <a:ext cx="8243888" cy="2140267"/>
            <a:chOff x="0" y="0"/>
            <a:chExt cx="10991850" cy="2853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9185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4440" y="4877562"/>
            <a:ext cx="74066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SERVICE ACCOUNT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440" y="5261610"/>
            <a:ext cx="74066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ai-delivery-bot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5878830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Runs every automation, so audit logs show agent actions clearly.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23724" y="4587716"/>
            <a:ext cx="8243888" cy="2140267"/>
            <a:chOff x="0" y="0"/>
            <a:chExt cx="10991850" cy="2853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9185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42348" y="4877562"/>
            <a:ext cx="74066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CUSTOM FIELDS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42348" y="5261610"/>
            <a:ext cx="74066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5 fields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42348" y="5878830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Requirement IDs · Requirements Page · Design Page · AI Run Count · BA Notes for Agent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6919436"/>
            <a:ext cx="8243888" cy="2140267"/>
            <a:chOff x="0" y="0"/>
            <a:chExt cx="10991850" cy="2853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185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34440" y="7209282"/>
            <a:ext cx="74066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LABELS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440" y="7593330"/>
            <a:ext cx="74066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4 labels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440" y="8210550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ai-generated · ai-rework · ba-approved · needs-human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23724" y="6919436"/>
            <a:ext cx="8243888" cy="2140267"/>
            <a:chOff x="0" y="0"/>
            <a:chExt cx="10991850" cy="2853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9185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42348" y="7209282"/>
            <a:ext cx="740664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CONFLUENCE SPACES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2348" y="7593330"/>
            <a:ext cx="74066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DPACK · DA · STD · BAKB · HELP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2348" y="8210550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Each agent is scoped to only the spaces it needs; HELP is draft-only.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45935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31267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ROVO STUDIO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783205"/>
            <a:ext cx="93268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Inside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697605"/>
            <a:ext cx="932688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Rovo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5271135"/>
            <a:ext cx="9052560" cy="165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Role, input, numbered task steps and a strict output format in markdown or JSON blocks.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Only the actions each agent needs are enabled.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7056596"/>
            <a:ext cx="4334828" cy="672656"/>
            <a:chOff x="0" y="0"/>
            <a:chExt cx="5779770" cy="896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79770" cy="896874"/>
            </a:xfrm>
            <a:custGeom>
              <a:avLst/>
              <a:gdLst/>
              <a:ahLst/>
              <a:cxnLst/>
              <a:rect r="r" b="b" t="t" l="l"/>
              <a:pathLst>
                <a:path h="896874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7063740"/>
            <a:ext cx="3977640" cy="658368"/>
            <a:chOff x="0" y="0"/>
            <a:chExt cx="5303520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3520" cy="877824"/>
            </a:xfrm>
            <a:custGeom>
              <a:avLst/>
              <a:gdLst/>
              <a:ahLst/>
              <a:cxnLst/>
              <a:rect r="r" b="b" t="t" l="l"/>
              <a:pathLst>
                <a:path h="87782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3035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  Never approve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42096" y="7056596"/>
            <a:ext cx="4334828" cy="672656"/>
            <a:chOff x="0" y="0"/>
            <a:chExt cx="5779770" cy="8968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79770" cy="896874"/>
            </a:xfrm>
            <a:custGeom>
              <a:avLst/>
              <a:gdLst/>
              <a:ahLst/>
              <a:cxnLst/>
              <a:rect r="r" b="b" t="t" l="l"/>
              <a:pathLst>
                <a:path h="896874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623560" y="7063740"/>
            <a:ext cx="3977640" cy="658368"/>
            <a:chOff x="0" y="0"/>
            <a:chExt cx="5303520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3520" cy="877824"/>
            </a:xfrm>
            <a:custGeom>
              <a:avLst/>
              <a:gdLst/>
              <a:ahLst/>
              <a:cxnLst/>
              <a:rect r="r" b="b" t="t" l="l"/>
              <a:pathLst>
                <a:path h="87782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035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  Never invent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5816" y="7879556"/>
            <a:ext cx="4334828" cy="672656"/>
            <a:chOff x="0" y="0"/>
            <a:chExt cx="5779770" cy="8968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79770" cy="896874"/>
            </a:xfrm>
            <a:custGeom>
              <a:avLst/>
              <a:gdLst/>
              <a:ahLst/>
              <a:cxnLst/>
              <a:rect r="r" b="b" t="t" l="l"/>
              <a:pathLst>
                <a:path h="896874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7886700"/>
            <a:ext cx="3977640" cy="658368"/>
            <a:chOff x="0" y="0"/>
            <a:chExt cx="530352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3520" cy="877824"/>
            </a:xfrm>
            <a:custGeom>
              <a:avLst/>
              <a:gdLst/>
              <a:ahLst/>
              <a:cxnLst/>
              <a:rect r="r" b="b" t="t" l="l"/>
              <a:pathLst>
                <a:path h="87782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3035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  Preserve REQ IDs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2096" y="7879556"/>
            <a:ext cx="4334828" cy="672656"/>
            <a:chOff x="0" y="0"/>
            <a:chExt cx="5779770" cy="8968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79770" cy="896874"/>
            </a:xfrm>
            <a:custGeom>
              <a:avLst/>
              <a:gdLst/>
              <a:ahLst/>
              <a:cxnLst/>
              <a:rect r="r" b="b" t="t" l="l"/>
              <a:pathLst>
                <a:path h="896874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623560" y="7886700"/>
            <a:ext cx="3977640" cy="658368"/>
            <a:chOff x="0" y="0"/>
            <a:chExt cx="5303520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3520" cy="877824"/>
            </a:xfrm>
            <a:custGeom>
              <a:avLst/>
              <a:gdLst/>
              <a:ahLst/>
              <a:cxnLst/>
              <a:rect r="r" b="b" t="t" l="l"/>
              <a:pathLst>
                <a:path h="87782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3035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  Read BA Notes first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140315" y="1019175"/>
            <a:ext cx="7357110" cy="8111490"/>
            <a:chOff x="0" y="0"/>
            <a:chExt cx="9809480" cy="10815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09480" cy="10815320"/>
            </a:xfrm>
            <a:custGeom>
              <a:avLst/>
              <a:gdLst/>
              <a:ahLst/>
              <a:cxnLst/>
              <a:rect r="r" b="b" t="t" l="l"/>
              <a:pathLst>
                <a:path h="10815320" w="9809480">
                  <a:moveTo>
                    <a:pt x="0" y="0"/>
                  </a:moveTo>
                  <a:lnTo>
                    <a:pt x="9809480" y="0"/>
                  </a:lnTo>
                  <a:lnTo>
                    <a:pt x="9809480" y="10815320"/>
                  </a:lnTo>
                  <a:lnTo>
                    <a:pt x="0" y="1081532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551795" y="1362075"/>
            <a:ext cx="211074" cy="211074"/>
            <a:chOff x="0" y="0"/>
            <a:chExt cx="281432" cy="2814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E0773B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894695" y="1362075"/>
            <a:ext cx="211074" cy="211074"/>
            <a:chOff x="0" y="0"/>
            <a:chExt cx="281432" cy="281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37595" y="1362075"/>
            <a:ext cx="211074" cy="211074"/>
            <a:chOff x="0" y="0"/>
            <a:chExt cx="281432" cy="281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1795760" y="1256538"/>
            <a:ext cx="4800600" cy="40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FB3C8"/>
                </a:solidFill>
                <a:latin typeface="Arial"/>
                <a:ea typeface="Arial"/>
                <a:cs typeface="Arial"/>
                <a:sym typeface="Arial"/>
              </a:rPr>
              <a:t>RA-Agent · instructions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29900" y="1988820"/>
            <a:ext cx="6515100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4DB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ROLE:</a:t>
            </a: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Requirements Analyst agent.</a:t>
            </a:r>
          </a:p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4DB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INPUT:</a:t>
            </a: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Epic, BA Notes, linked pages.</a:t>
            </a:r>
          </a:p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4DB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TASK: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1. Problem statement + objective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2. Stakeholders named in sources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3. BR-nn and REQ-nnn, testable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4. NFRs: stated / assumed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5. Assumptions, constraints, scope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6. Open questions + who to ask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7. Flag ambiguity and conflicts</a:t>
            </a:r>
          </a:p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4DB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GUARDRAILS: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- Never approve or transition out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- Never invent data or numbers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- Start: "AI-generated draft"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THE ENGINE ROOM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plus a real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0" y="3204210"/>
            <a:ext cx="75438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Every agent rule follows the same five-step pattern.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3910" y="4712970"/>
            <a:ext cx="3467100" cy="1752600"/>
            <a:chOff x="0" y="0"/>
            <a:chExt cx="4622800" cy="233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22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4622800">
                  <a:moveTo>
                    <a:pt x="0" y="0"/>
                  </a:moveTo>
                  <a:lnTo>
                    <a:pt x="3454400" y="0"/>
                  </a:lnTo>
                  <a:lnTo>
                    <a:pt x="4622800" y="1168400"/>
                  </a:lnTo>
                  <a:lnTo>
                    <a:pt x="3454400" y="2336800"/>
                  </a:lnTo>
                  <a:lnTo>
                    <a:pt x="0" y="2336800"/>
                  </a:lnTo>
                  <a:close/>
                </a:path>
              </a:pathLst>
            </a:custGeom>
            <a:solidFill>
              <a:srgbClr val="1F3A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4440" y="4946142"/>
            <a:ext cx="13716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440" y="5289042"/>
            <a:ext cx="2057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Status trigger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5741670"/>
            <a:ext cx="20574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Transition fires the rule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36898" y="4712970"/>
            <a:ext cx="3467100" cy="1752600"/>
            <a:chOff x="0" y="0"/>
            <a:chExt cx="4622800" cy="233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22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4622800">
                  <a:moveTo>
                    <a:pt x="0" y="0"/>
                  </a:moveTo>
                  <a:lnTo>
                    <a:pt x="3454400" y="0"/>
                  </a:lnTo>
                  <a:lnTo>
                    <a:pt x="4622800" y="1168400"/>
                  </a:lnTo>
                  <a:lnTo>
                    <a:pt x="3454400" y="2336800"/>
                  </a:lnTo>
                  <a:lnTo>
                    <a:pt x="0" y="2336800"/>
                  </a:lnTo>
                  <a:lnTo>
                    <a:pt x="1168400" y="1168400"/>
                  </a:lnTo>
                  <a:close/>
                </a:path>
              </a:pathLst>
            </a:custGeom>
            <a:solidFill>
              <a:srgbClr val="14284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5047488" y="4946142"/>
            <a:ext cx="13716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47488" y="5289042"/>
            <a:ext cx="2057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Loop guard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47488" y="5741670"/>
            <a:ext cx="20574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AI Run Count &lt; 3, else needs-human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69886" y="4712970"/>
            <a:ext cx="3467100" cy="1752600"/>
            <a:chOff x="0" y="0"/>
            <a:chExt cx="4622800" cy="2336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22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4622800">
                  <a:moveTo>
                    <a:pt x="0" y="0"/>
                  </a:moveTo>
                  <a:lnTo>
                    <a:pt x="3454400" y="0"/>
                  </a:lnTo>
                  <a:lnTo>
                    <a:pt x="4622800" y="1168400"/>
                  </a:lnTo>
                  <a:lnTo>
                    <a:pt x="3454400" y="2336800"/>
                  </a:lnTo>
                  <a:lnTo>
                    <a:pt x="0" y="2336800"/>
                  </a:lnTo>
                  <a:lnTo>
                    <a:pt x="1168400" y="1168400"/>
                  </a:lnTo>
                  <a:close/>
                </a:path>
              </a:pathLst>
            </a:custGeom>
            <a:solidFill>
              <a:srgbClr val="1F3A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380476" y="4946142"/>
            <a:ext cx="13716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80476" y="5289042"/>
            <a:ext cx="2057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Use Rovo agent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80476" y="5741670"/>
            <a:ext cx="20574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Issue + BA notes as prompt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802874" y="4712970"/>
            <a:ext cx="3467100" cy="1752600"/>
            <a:chOff x="0" y="0"/>
            <a:chExt cx="4622800" cy="2336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22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4622800">
                  <a:moveTo>
                    <a:pt x="0" y="0"/>
                  </a:moveTo>
                  <a:lnTo>
                    <a:pt x="3454400" y="0"/>
                  </a:lnTo>
                  <a:lnTo>
                    <a:pt x="4622800" y="1168400"/>
                  </a:lnTo>
                  <a:lnTo>
                    <a:pt x="3454400" y="2336800"/>
                  </a:lnTo>
                  <a:lnTo>
                    <a:pt x="0" y="2336800"/>
                  </a:lnTo>
                  <a:lnTo>
                    <a:pt x="1168400" y="1168400"/>
                  </a:lnTo>
                  <a:close/>
                </a:path>
              </a:pathLst>
            </a:custGeom>
            <a:solidFill>
              <a:srgbClr val="14284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713464" y="4946142"/>
            <a:ext cx="13716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13464" y="5289042"/>
            <a:ext cx="2057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Write output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13464" y="5741670"/>
            <a:ext cx="20574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agentResponse → page or issues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135862" y="4712970"/>
            <a:ext cx="3467100" cy="1752600"/>
            <a:chOff x="0" y="0"/>
            <a:chExt cx="4622800" cy="2336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22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4622800">
                  <a:moveTo>
                    <a:pt x="0" y="0"/>
                  </a:moveTo>
                  <a:lnTo>
                    <a:pt x="3454400" y="0"/>
                  </a:lnTo>
                  <a:lnTo>
                    <a:pt x="4622800" y="1168400"/>
                  </a:lnTo>
                  <a:lnTo>
                    <a:pt x="3454400" y="2336800"/>
                  </a:lnTo>
                  <a:lnTo>
                    <a:pt x="0" y="2336800"/>
                  </a:lnTo>
                  <a:lnTo>
                    <a:pt x="1168400" y="1168400"/>
                  </a:lnTo>
                  <a:close/>
                </a:path>
              </a:pathLst>
            </a:custGeom>
            <a:solidFill>
              <a:srgbClr val="4DB8B8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5046452" y="4946142"/>
            <a:ext cx="13716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46452" y="5289042"/>
            <a:ext cx="2057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Move to review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046452" y="5741670"/>
            <a:ext cx="20574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D6E4F0"/>
                </a:solidFill>
                <a:latin typeface="Arial"/>
                <a:ea typeface="Arial"/>
                <a:cs typeface="Arial"/>
                <a:sym typeface="Arial"/>
              </a:rPr>
              <a:t>The BA decides</a:t>
            </a:r>
          </a:p>
        </p:txBody>
      </p:sp>
      <p:sp>
        <p:nvSpPr>
          <p:cNvPr name="AutoShape 39" id="39"/>
          <p:cNvSpPr/>
          <p:nvPr/>
        </p:nvSpPr>
        <p:spPr>
          <a:xfrm rot="5400">
            <a:off x="815807" y="6853238"/>
            <a:ext cx="906685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400">
            <a:off x="815807" y="8293418"/>
            <a:ext cx="9066857" cy="0"/>
          </a:xfrm>
          <a:prstGeom prst="line">
            <a:avLst/>
          </a:prstGeom>
          <a:ln cap="rnd" w="9525">
            <a:solidFill>
              <a:srgbClr val="DDE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822960" y="7044690"/>
            <a:ext cx="301752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7771638"/>
            <a:ext cx="30175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JIRA RULES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40480" y="7044690"/>
            <a:ext cx="301752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&lt;3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840480" y="7771638"/>
            <a:ext cx="30175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AGENT RUNS PER EPIC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58000" y="7044690"/>
            <a:ext cx="301752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8000" y="7771638"/>
            <a:ext cx="30175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WEEKLY GOVERNANCE DIGEST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417016" y="6850856"/>
            <a:ext cx="7078028" cy="1454468"/>
            <a:chOff x="0" y="0"/>
            <a:chExt cx="9437370" cy="19392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373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9437370">
                  <a:moveTo>
                    <a:pt x="0" y="0"/>
                  </a:moveTo>
                  <a:lnTo>
                    <a:pt x="9437370" y="0"/>
                  </a:lnTo>
                  <a:lnTo>
                    <a:pt x="9437370" y="1939290"/>
                  </a:lnTo>
                  <a:lnTo>
                    <a:pt x="0" y="193929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0767060" y="7044690"/>
            <a:ext cx="4114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PIPELINE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67060" y="7415022"/>
            <a:ext cx="644652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GitHub Actions + Vercel run real tests and capture screenshots as evidence.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Teal light trails over deep navy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" t="0" r="-11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1F3A5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9FB3C8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10" id="10"/>
          <p:cNvSpPr/>
          <p:nvPr/>
        </p:nvSpPr>
        <p:spPr>
          <a:xfrm rot="178500">
            <a:off x="808301" y="252793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08760" y="2381250"/>
            <a:ext cx="10972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LIVE DEMO · AIDEL-57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2851785"/>
            <a:ext cx="123444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One requirement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3949065"/>
            <a:ext cx="123444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change, end to 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5476875"/>
            <a:ext cx="98755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Pharmacy changes REQ-003: doses over 2× the limit become a HARD STOP, not a warning.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3435" y="7328535"/>
            <a:ext cx="1733550" cy="485394"/>
            <a:chOff x="0" y="0"/>
            <a:chExt cx="2311400" cy="647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1400" cy="647192"/>
            </a:xfrm>
            <a:custGeom>
              <a:avLst/>
              <a:gdLst/>
              <a:ahLst/>
              <a:cxnLst/>
              <a:rect r="r" b="b" t="t" l="l"/>
              <a:pathLst>
                <a:path h="647192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6C5CE7"/>
            </a:solidFill>
            <a:ln w="19050" cap="sq">
              <a:solidFill>
                <a:srgbClr val="6C5CE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7338060"/>
            <a:ext cx="1714500" cy="466344"/>
            <a:chOff x="0" y="0"/>
            <a:chExt cx="22860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0" cy="621792"/>
            </a:xfrm>
            <a:custGeom>
              <a:avLst/>
              <a:gdLst/>
              <a:ahLst/>
              <a:cxnLst/>
              <a:rect r="r" b="b" t="t" l="l"/>
              <a:pathLst>
                <a:path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2860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7895082"/>
            <a:ext cx="2674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Rovo agent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350895" y="7328535"/>
            <a:ext cx="1733550" cy="485394"/>
            <a:chOff x="0" y="0"/>
            <a:chExt cx="2311400" cy="6471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11400" cy="647192"/>
            </a:xfrm>
            <a:custGeom>
              <a:avLst/>
              <a:gdLst/>
              <a:ahLst/>
              <a:cxnLst/>
              <a:rect r="r" b="b" t="t" l="l"/>
              <a:pathLst>
                <a:path h="647192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2D8CFF"/>
            </a:solidFill>
            <a:ln w="19050" cap="sq">
              <a:solidFill>
                <a:srgbClr val="2D8C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360420" y="7338060"/>
            <a:ext cx="1714500" cy="466344"/>
            <a:chOff x="0" y="0"/>
            <a:chExt cx="22860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0" cy="621792"/>
            </a:xfrm>
            <a:custGeom>
              <a:avLst/>
              <a:gdLst/>
              <a:ahLst/>
              <a:cxnLst/>
              <a:rect r="r" b="b" t="t" l="l"/>
              <a:pathLst>
                <a:path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2860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360420" y="7895082"/>
            <a:ext cx="2674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Jira automation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888355" y="7328535"/>
            <a:ext cx="1733550" cy="485394"/>
            <a:chOff x="0" y="0"/>
            <a:chExt cx="2311400" cy="6471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1400" cy="647192"/>
            </a:xfrm>
            <a:custGeom>
              <a:avLst/>
              <a:gdLst/>
              <a:ahLst/>
              <a:cxnLst/>
              <a:rect r="r" b="b" t="t" l="l"/>
              <a:pathLst>
                <a:path h="647192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2E9E6B"/>
            </a:solidFill>
            <a:ln w="19050" cap="sq">
              <a:solidFill>
                <a:srgbClr val="2E9E6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897880" y="7338060"/>
            <a:ext cx="1714500" cy="466344"/>
            <a:chOff x="0" y="0"/>
            <a:chExt cx="2286000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0" cy="621792"/>
            </a:xfrm>
            <a:custGeom>
              <a:avLst/>
              <a:gdLst/>
              <a:ahLst/>
              <a:cxnLst/>
              <a:rect r="r" b="b" t="t" l="l"/>
              <a:pathLst>
                <a:path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2860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PIPELINE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897880" y="7895082"/>
            <a:ext cx="2674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GitHub + Vercel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425815" y="7328535"/>
            <a:ext cx="1733550" cy="485394"/>
            <a:chOff x="0" y="0"/>
            <a:chExt cx="2311400" cy="6471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1400" cy="647192"/>
            </a:xfrm>
            <a:custGeom>
              <a:avLst/>
              <a:gdLst/>
              <a:ahLst/>
              <a:cxnLst/>
              <a:rect r="r" b="b" t="t" l="l"/>
              <a:pathLst>
                <a:path h="647192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435340" y="7338060"/>
            <a:ext cx="1714500" cy="466344"/>
            <a:chOff x="0" y="0"/>
            <a:chExt cx="2286000" cy="621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6000" cy="621792"/>
            </a:xfrm>
            <a:custGeom>
              <a:avLst/>
              <a:gdLst/>
              <a:ahLst/>
              <a:cxnLst/>
              <a:rect r="r" b="b" t="t" l="l"/>
              <a:pathLst>
                <a:path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2860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GATE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435340" y="7895082"/>
            <a:ext cx="2674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BA approval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963275" y="7328535"/>
            <a:ext cx="1733550" cy="485394"/>
            <a:chOff x="0" y="0"/>
            <a:chExt cx="2311400" cy="6471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11400" cy="647192"/>
            </a:xfrm>
            <a:custGeom>
              <a:avLst/>
              <a:gdLst/>
              <a:ahLst/>
              <a:cxnLst/>
              <a:rect r="r" b="b" t="t" l="l"/>
              <a:pathLst>
                <a:path h="647192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E0773B"/>
            </a:solidFill>
            <a:ln w="19050" cap="sq">
              <a:solidFill>
                <a:srgbClr val="E0773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0" y="7338060"/>
            <a:ext cx="1714500" cy="466344"/>
            <a:chOff x="0" y="0"/>
            <a:chExt cx="2286000" cy="621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86000" cy="621792"/>
            </a:xfrm>
            <a:custGeom>
              <a:avLst/>
              <a:gdLst/>
              <a:ahLst/>
              <a:cxnLst/>
              <a:rect r="r" b="b" t="t" l="l"/>
              <a:pathLst>
                <a:path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2860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972800" y="7895082"/>
            <a:ext cx="2674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Screen changed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447063" y="7349490"/>
            <a:ext cx="3429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0"/>
              </a:lnSpc>
            </a:pPr>
            <a:r>
              <a:rPr lang="en-US" sz="13200">
                <a:solidFill>
                  <a:srgbClr val="3A5F8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If Rovo lags on the day, the next eleven frames tell the story.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AUTOMATION › ALL AIDEL RULES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AUTOMATION › ALL AIDEL RULES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2D8CFF"/>
            </a:solidFill>
            <a:ln w="19050" cap="sq">
              <a:solidFill>
                <a:srgbClr val="2D8C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All AIDEL rules, live in Jira Automation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Rules marked ⚡ call a Rovo agent. All are enabled and owned by you; non-agent rules run as 'Automation for Jira'.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1/11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681553" cy="115062"/>
            <a:chOff x="0" y="0"/>
            <a:chExt cx="2242071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2058" cy="153416"/>
            </a:xfrm>
            <a:custGeom>
              <a:avLst/>
              <a:gdLst/>
              <a:ahLst/>
              <a:cxnLst/>
              <a:rect r="r" b="b" t="t" l="l"/>
              <a:pathLst>
                <a:path h="153416" w="2242058">
                  <a:moveTo>
                    <a:pt x="0" y="0"/>
                  </a:moveTo>
                  <a:lnTo>
                    <a:pt x="2242058" y="0"/>
                  </a:lnTo>
                  <a:lnTo>
                    <a:pt x="2242058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AUTOMATION › RULE 1: REQUIREMENTS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AUTOMATION › RULE 1: REQUIREMENTS ANALYSIS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6C5CE7"/>
            </a:solidFill>
            <a:ln w="19050" cap="sq">
              <a:solidFill>
                <a:srgbClr val="6C5CE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Inside Rule 1: the RA-Agent step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Epic → Requirements Analysis. Domain, Scenario and BA Notes go to the RA-Agent; the rule publishes its answer to Confluence, comments, and moves to Requirements Review.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2/11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3344056" cy="115062"/>
            <a:chOff x="0" y="0"/>
            <a:chExt cx="4458741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58716" cy="153416"/>
            </a:xfrm>
            <a:custGeom>
              <a:avLst/>
              <a:gdLst/>
              <a:ahLst/>
              <a:cxnLst/>
              <a:rect r="r" b="b" t="t" l="l"/>
              <a:pathLst>
                <a:path h="153416" w="4458716">
                  <a:moveTo>
                    <a:pt x="0" y="0"/>
                  </a:moveTo>
                  <a:lnTo>
                    <a:pt x="4458716" y="0"/>
                  </a:lnTo>
                  <a:lnTo>
                    <a:pt x="4458716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AUTOMATION › RULE 4: TEST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AUTOMATION › RULE 4: TEST DESIGN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6C5CE7"/>
            </a:solidFill>
            <a:ln w="19050" cap="sq">
              <a:solidFill>
                <a:srgbClr val="6C5CE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Inside Rule 4: the TA-Agent step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Story → Ready for Dev. The TA-Agent designs test cases for that story; they become sub-tasks and a comment for BA review.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3/11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5006559" cy="115062"/>
            <a:chOff x="0" y="0"/>
            <a:chExt cx="6675412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75374" cy="153416"/>
            </a:xfrm>
            <a:custGeom>
              <a:avLst/>
              <a:gdLst/>
              <a:ahLst/>
              <a:cxnLst/>
              <a:rect r="r" b="b" t="t" l="l"/>
              <a:pathLst>
                <a:path h="153416" w="6675374">
                  <a:moveTo>
                    <a:pt x="0" y="0"/>
                  </a:moveTo>
                  <a:lnTo>
                    <a:pt x="6675374" y="0"/>
                  </a:lnTo>
                  <a:lnTo>
                    <a:pt x="6675374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EPIC AIDEL-57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EPIC AIDEL-57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2007870" cy="457962"/>
            <a:chOff x="0" y="0"/>
            <a:chExt cx="267716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7160" cy="610616"/>
            </a:xfrm>
            <a:custGeom>
              <a:avLst/>
              <a:gdLst/>
              <a:ahLst/>
              <a:cxnLst/>
              <a:rect r="r" b="b" t="t" l="l"/>
              <a:pathLst>
                <a:path h="610616" w="2677160">
                  <a:moveTo>
                    <a:pt x="0" y="0"/>
                  </a:moveTo>
                  <a:lnTo>
                    <a:pt x="2677160" y="0"/>
                  </a:lnTo>
                  <a:lnTo>
                    <a:pt x="26771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5A6B7D"/>
            </a:solidFill>
            <a:ln w="19050" cap="sq">
              <a:solidFill>
                <a:srgbClr val="5A6B7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988820" cy="438912"/>
            <a:chOff x="0" y="0"/>
            <a:chExt cx="265176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1760" cy="585216"/>
            </a:xfrm>
            <a:custGeom>
              <a:avLst/>
              <a:gdLst/>
              <a:ahLst/>
              <a:cxnLst/>
              <a:rect r="r" b="b" t="t" l="l"/>
              <a:pathLst>
                <a:path h="58521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651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OVERVIEW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017520" y="8416290"/>
            <a:ext cx="1200150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epic: AIDEL-57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Five stories created by the SM-Agent, all Done. Domain Healthcare → Assurance Required = Yes, so this epic passed four BA gates.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4/11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6669062" cy="115062"/>
            <a:chOff x="0" y="0"/>
            <a:chExt cx="8892083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2032" cy="153416"/>
            </a:xfrm>
            <a:custGeom>
              <a:avLst/>
              <a:gdLst/>
              <a:ahLst/>
              <a:cxnLst/>
              <a:rect r="r" b="b" t="t" l="l"/>
              <a:pathLst>
                <a:path h="153416" w="8892032">
                  <a:moveTo>
                    <a:pt x="0" y="0"/>
                  </a:moveTo>
                  <a:lnTo>
                    <a:pt x="8892032" y="0"/>
                  </a:lnTo>
                  <a:lnTo>
                    <a:pt x="8892032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MEDICATION ORDER (BEFORE)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DEMO EMR · MEDICATION ORDER (BEFORE)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911858" cy="471678"/>
            <a:chOff x="0" y="0"/>
            <a:chExt cx="2549144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9144" cy="628904"/>
            </a:xfrm>
            <a:custGeom>
              <a:avLst/>
              <a:gdLst/>
              <a:ahLst/>
              <a:cxnLst/>
              <a:rect r="r" b="b" t="t" l="l"/>
              <a:pathLst>
                <a:path h="628904" w="2549144">
                  <a:moveTo>
                    <a:pt x="0" y="0"/>
                  </a:moveTo>
                  <a:lnTo>
                    <a:pt x="2549144" y="0"/>
                  </a:lnTo>
                  <a:lnTo>
                    <a:pt x="2549144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892808" cy="452628"/>
            <a:chOff x="0" y="0"/>
            <a:chExt cx="2523744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3744" cy="603504"/>
            </a:xfrm>
            <a:custGeom>
              <a:avLst/>
              <a:gdLst/>
              <a:ahLst/>
              <a:cxnLst/>
              <a:rect r="r" b="b" t="t" l="l"/>
              <a:pathLst>
                <a:path h="60350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523744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EMR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E0773B"/>
            </a:solidFill>
            <a:ln w="19050" cap="sq">
              <a:solidFill>
                <a:srgbClr val="E0773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BEFORE: 400 mg/day only gives a warning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Limit for a 15 kg child is 150 mg/day. The original build shows an amber alert and lets the prescriber override with a justification.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5/11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8331575" cy="115062"/>
            <a:chOff x="0" y="0"/>
            <a:chExt cx="11108766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08817" cy="153416"/>
            </a:xfrm>
            <a:custGeom>
              <a:avLst/>
              <a:gdLst/>
              <a:ahLst/>
              <a:cxnLst/>
              <a:rect r="r" b="b" t="t" l="l"/>
              <a:pathLst>
                <a:path h="153416" w="11108817">
                  <a:moveTo>
                    <a:pt x="0" y="0"/>
                  </a:moveTo>
                  <a:lnTo>
                    <a:pt x="11108817" y="0"/>
                  </a:lnTo>
                  <a:lnTo>
                    <a:pt x="11108817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REQ-003 ON AIDEL-60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REQUIREMENT CHANGE · REQ-003 ON AIDEL-60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3420618" cy="471678"/>
            <a:chOff x="0" y="0"/>
            <a:chExt cx="4560824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0824" cy="628904"/>
            </a:xfrm>
            <a:custGeom>
              <a:avLst/>
              <a:gdLst/>
              <a:ahLst/>
              <a:cxnLst/>
              <a:rect r="r" b="b" t="t" l="l"/>
              <a:pathLst>
                <a:path h="628904" w="4560824">
                  <a:moveTo>
                    <a:pt x="0" y="0"/>
                  </a:moveTo>
                  <a:lnTo>
                    <a:pt x="4560824" y="0"/>
                  </a:lnTo>
                  <a:lnTo>
                    <a:pt x="4560824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3401568" cy="452628"/>
            <a:chOff x="0" y="0"/>
            <a:chExt cx="4535424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35424" cy="603504"/>
            </a:xfrm>
            <a:custGeom>
              <a:avLst/>
              <a:gdLst/>
              <a:ahLst/>
              <a:cxnLst/>
              <a:rect r="r" b="b" t="t" l="l"/>
              <a:pathLst>
                <a:path h="603504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33" r="0" b="-964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535424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REQUIREMENT CHANGE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GATE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BA records the change and reopens the story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Only the affected story is reopened – nothing else is rebuilt.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6/11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9994078" cy="115062"/>
            <a:chOff x="0" y="0"/>
            <a:chExt cx="13325437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25475" cy="153416"/>
            </a:xfrm>
            <a:custGeom>
              <a:avLst/>
              <a:gdLst/>
              <a:ahLst/>
              <a:cxnLst/>
              <a:rect r="r" b="b" t="t" l="l"/>
              <a:pathLst>
                <a:path h="153416" w="13325475">
                  <a:moveTo>
                    <a:pt x="0" y="0"/>
                  </a:moveTo>
                  <a:lnTo>
                    <a:pt x="13325475" y="0"/>
                  </a:lnTo>
                  <a:lnTo>
                    <a:pt x="13325475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AUTOMATION › RULE 14: REOPEN EPIC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AUTOMATION › RULE 14: REOPEN EPIC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2D8CFF"/>
            </a:solidFill>
            <a:ln w="19050" cap="sq">
              <a:solidFill>
                <a:srgbClr val="2D8C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Rule 14 reopens the epic automatically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A story goes Done → In Progress. The rule moves the parent epic back to In Delivery, so the documentation step will run again.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7/11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1656581" cy="115062"/>
            <a:chOff x="0" y="0"/>
            <a:chExt cx="15542108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2133" cy="153416"/>
            </a:xfrm>
            <a:custGeom>
              <a:avLst/>
              <a:gdLst/>
              <a:ahLst/>
              <a:cxnLst/>
              <a:rect r="r" b="b" t="t" l="l"/>
              <a:pathLst>
                <a:path h="153416" w="15542133">
                  <a:moveTo>
                    <a:pt x="0" y="0"/>
                  </a:moveTo>
                  <a:lnTo>
                    <a:pt x="15542133" y="0"/>
                  </a:lnTo>
                  <a:lnTo>
                    <a:pt x="15542133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AIDEL-MED-ORDER › PULL REQUEST #1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GITHUB · AIDEL-MED-ORDER › PULL REQUEST #1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2007870" cy="457962"/>
            <a:chOff x="0" y="0"/>
            <a:chExt cx="267716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7160" cy="610616"/>
            </a:xfrm>
            <a:custGeom>
              <a:avLst/>
              <a:gdLst/>
              <a:ahLst/>
              <a:cxnLst/>
              <a:rect r="r" b="b" t="t" l="l"/>
              <a:pathLst>
                <a:path h="610616" w="2677160">
                  <a:moveTo>
                    <a:pt x="0" y="0"/>
                  </a:moveTo>
                  <a:lnTo>
                    <a:pt x="2677160" y="0"/>
                  </a:lnTo>
                  <a:lnTo>
                    <a:pt x="26771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2E9E6B"/>
            </a:solidFill>
            <a:ln w="19050" cap="sq">
              <a:solidFill>
                <a:srgbClr val="2E9E6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988820" cy="438912"/>
            <a:chOff x="0" y="0"/>
            <a:chExt cx="265176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1760" cy="585216"/>
            </a:xfrm>
            <a:custGeom>
              <a:avLst/>
              <a:gdLst/>
              <a:ahLst/>
              <a:cxnLst/>
              <a:rect r="r" b="b" t="t" l="l"/>
              <a:pathLst>
                <a:path h="58521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651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PIPELINE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017520" y="8416290"/>
            <a:ext cx="1200150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coding step: a pull request for AIDEL-60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Branch AIDEL-60-hard-stop changes app.js and adds a test tagged [AIDEL-60][REQ-003]. Vercel builds a preview.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8/11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3319084" cy="115062"/>
            <a:chOff x="0" y="0"/>
            <a:chExt cx="17758778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58790" cy="153416"/>
            </a:xfrm>
            <a:custGeom>
              <a:avLst/>
              <a:gdLst/>
              <a:ahLst/>
              <a:cxnLst/>
              <a:rect r="r" b="b" t="t" l="l"/>
              <a:pathLst>
                <a:path h="153416" w="17758790">
                  <a:moveTo>
                    <a:pt x="0" y="0"/>
                  </a:moveTo>
                  <a:lnTo>
                    <a:pt x="17758790" y="0"/>
                  </a:lnTo>
                  <a:lnTo>
                    <a:pt x="17758790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STORY AIDEL-60 › TEST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JIRA · STORY AIDEL-60 › TEST RESULTS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802130" cy="471678"/>
            <a:chOff x="0" y="0"/>
            <a:chExt cx="240284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2840" cy="628904"/>
            </a:xfrm>
            <a:custGeom>
              <a:avLst/>
              <a:gdLst/>
              <a:ahLst/>
              <a:cxnLst/>
              <a:rect r="r" b="b" t="t" l="l"/>
              <a:pathLst>
                <a:path h="628904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783080" cy="452628"/>
            <a:chOff x="0" y="0"/>
            <a:chExt cx="237744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774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2007870" cy="457962"/>
            <a:chOff x="0" y="0"/>
            <a:chExt cx="267716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7160" cy="610616"/>
            </a:xfrm>
            <a:custGeom>
              <a:avLst/>
              <a:gdLst/>
              <a:ahLst/>
              <a:cxnLst/>
              <a:rect r="r" b="b" t="t" l="l"/>
              <a:pathLst>
                <a:path h="610616" w="2677160">
                  <a:moveTo>
                    <a:pt x="0" y="0"/>
                  </a:moveTo>
                  <a:lnTo>
                    <a:pt x="2677160" y="0"/>
                  </a:lnTo>
                  <a:lnTo>
                    <a:pt x="26771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2E9E6B"/>
            </a:solidFill>
            <a:ln w="19050" cap="sq">
              <a:solidFill>
                <a:srgbClr val="2E9E6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988820" cy="438912"/>
            <a:chOff x="0" y="0"/>
            <a:chExt cx="265176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1760" cy="585216"/>
            </a:xfrm>
            <a:custGeom>
              <a:avLst/>
              <a:gdLst/>
              <a:ahLst/>
              <a:cxnLst/>
              <a:rect r="r" b="b" t="t" l="l"/>
              <a:pathLst>
                <a:path h="585216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651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PIPELINE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017520" y="8416290"/>
            <a:ext cx="1200150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Tests actually run – results land on the story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GitHub Actions ran the Playwright tests, posted PASS per requirement, attached screenshots, labelled 'tests-passed' and moved the story to Build Review.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9/11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4981587" cy="115062"/>
            <a:chOff x="0" y="0"/>
            <a:chExt cx="19975449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75449" cy="153416"/>
            </a:xfrm>
            <a:custGeom>
              <a:avLst/>
              <a:gdLst/>
              <a:ahLst/>
              <a:cxnLst/>
              <a:rect r="r" b="b" t="t" l="l"/>
              <a:pathLst>
                <a:path h="153416" w="19975449">
                  <a:moveTo>
                    <a:pt x="0" y="0"/>
                  </a:moveTo>
                  <a:lnTo>
                    <a:pt x="19975449" y="0"/>
                  </a:lnTo>
                  <a:lnTo>
                    <a:pt x="19975449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MEDICATION ORDER (AFTER)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DEMO EMR · MEDICATION ORDER (AFTER)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1911858" cy="471678"/>
            <a:chOff x="0" y="0"/>
            <a:chExt cx="2549144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9144" cy="628904"/>
            </a:xfrm>
            <a:custGeom>
              <a:avLst/>
              <a:gdLst/>
              <a:ahLst/>
              <a:cxnLst/>
              <a:rect r="r" b="b" t="t" l="l"/>
              <a:pathLst>
                <a:path h="628904" w="2549144">
                  <a:moveTo>
                    <a:pt x="0" y="0"/>
                  </a:moveTo>
                  <a:lnTo>
                    <a:pt x="2549144" y="0"/>
                  </a:lnTo>
                  <a:lnTo>
                    <a:pt x="2549144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1892808" cy="452628"/>
            <a:chOff x="0" y="0"/>
            <a:chExt cx="2523744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3744" cy="603504"/>
            </a:xfrm>
            <a:custGeom>
              <a:avLst/>
              <a:gdLst/>
              <a:ahLst/>
              <a:cxnLst/>
              <a:rect r="r" b="b" t="t" l="l"/>
              <a:pathLst>
                <a:path h="60350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523744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EMR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E0773B"/>
            </a:solidFill>
            <a:ln w="19050" cap="sq">
              <a:solidFill>
                <a:srgbClr val="E0773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AFTER: the same order is now a HARD STOP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The BA checks the preview, clicks Approve Build (gate), and the PR is merged. Sign order stays disabled above 2× the limit.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10/11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6644090" cy="115062"/>
            <a:chOff x="0" y="0"/>
            <a:chExt cx="22192120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92107" cy="153416"/>
            </a:xfrm>
            <a:custGeom>
              <a:avLst/>
              <a:gdLst/>
              <a:ahLst/>
              <a:cxnLst/>
              <a:rect r="r" b="b" t="t" l="l"/>
              <a:pathLst>
                <a:path h="153416" w="22192107">
                  <a:moveTo>
                    <a:pt x="0" y="0"/>
                  </a:moveTo>
                  <a:lnTo>
                    <a:pt x="22192107" y="0"/>
                  </a:lnTo>
                  <a:lnTo>
                    <a:pt x="22192107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9243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AIDEL-57 · WALKTHROUGH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0" y="392430"/>
            <a:ext cx="119740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b="true" sz="1350" spc="299">
                <a:solidFill>
                  <a:srgbClr val="5A6B7D"/>
                </a:solidFill>
                <a:latin typeface="Arial Bold"/>
                <a:ea typeface="Arial Bold"/>
                <a:cs typeface="Arial Bold"/>
                <a:sym typeface="Arial Bold"/>
              </a:rPr>
              <a:t>SCREEN  ›  AIDEL-57 RELEASE NOTES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1030" y="895731"/>
            <a:ext cx="14905482" cy="7055358"/>
            <a:chOff x="0" y="0"/>
            <a:chExt cx="19873976" cy="9407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3976" cy="9407144"/>
            </a:xfrm>
            <a:custGeom>
              <a:avLst/>
              <a:gdLst/>
              <a:ahLst/>
              <a:cxnLst/>
              <a:rect r="r" b="b" t="t" l="l"/>
              <a:pathLst>
                <a:path h="9407144" w="19873976">
                  <a:moveTo>
                    <a:pt x="0" y="0"/>
                  </a:moveTo>
                  <a:lnTo>
                    <a:pt x="19873976" y="0"/>
                  </a:lnTo>
                  <a:lnTo>
                    <a:pt x="19873976" y="9407144"/>
                  </a:lnTo>
                  <a:lnTo>
                    <a:pt x="0" y="94071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5CFD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55419" y="960120"/>
            <a:ext cx="14776704" cy="6926580"/>
            <a:chOff x="0" y="0"/>
            <a:chExt cx="19702272" cy="9235440"/>
          </a:xfrm>
        </p:grpSpPr>
        <p:sp>
          <p:nvSpPr>
            <p:cNvPr name="Freeform 7" id="7" descr="CONFLUENCE · AIDEL-57 RELEASE NOTES"/>
            <p:cNvSpPr/>
            <p:nvPr/>
          </p:nvSpPr>
          <p:spPr>
            <a:xfrm flipH="false" flipV="false" rot="0">
              <a:off x="0" y="0"/>
              <a:ext cx="19702272" cy="9235440"/>
            </a:xfrm>
            <a:custGeom>
              <a:avLst/>
              <a:gdLst/>
              <a:ahLst/>
              <a:cxnLst/>
              <a:rect r="r" b="b" t="t" l="l"/>
              <a:pathLst>
                <a:path h="9235440" w="19702272">
                  <a:moveTo>
                    <a:pt x="0" y="0"/>
                  </a:moveTo>
                  <a:lnTo>
                    <a:pt x="19702272" y="0"/>
                  </a:lnTo>
                  <a:lnTo>
                    <a:pt x="19702272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1634" y="7218807"/>
            <a:ext cx="2213610" cy="471678"/>
            <a:chOff x="0" y="0"/>
            <a:chExt cx="2951480" cy="628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51480" cy="628904"/>
            </a:xfrm>
            <a:custGeom>
              <a:avLst/>
              <a:gdLst/>
              <a:ahLst/>
              <a:cxnLst/>
              <a:rect r="r" b="b" t="t" l="l"/>
              <a:pathLst>
                <a:path h="628904" w="2951480">
                  <a:moveTo>
                    <a:pt x="0" y="0"/>
                  </a:moveTo>
                  <a:lnTo>
                    <a:pt x="2951480" y="0"/>
                  </a:lnTo>
                  <a:lnTo>
                    <a:pt x="2951480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61159" y="7228332"/>
            <a:ext cx="2194560" cy="452628"/>
            <a:chOff x="0" y="0"/>
            <a:chExt cx="2926080" cy="603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603504"/>
            </a:xfrm>
            <a:custGeom>
              <a:avLst/>
              <a:gdLst/>
              <a:ahLst/>
              <a:cxnLst/>
              <a:rect r="r" b="b" t="t" l="l"/>
              <a:pathLst>
                <a:path h="60350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92608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CONFLUENCE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525" y="8151495"/>
            <a:ext cx="18306593" cy="2145030"/>
            <a:chOff x="0" y="0"/>
            <a:chExt cx="24408790" cy="286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87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14284A"/>
            </a:solidFill>
            <a:ln w="19050" cap="sq">
              <a:solidFill>
                <a:srgbClr val="1428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8494395"/>
            <a:ext cx="1596390" cy="457962"/>
            <a:chOff x="0" y="0"/>
            <a:chExt cx="2128520" cy="610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8520" cy="610616"/>
            </a:xfrm>
            <a:custGeom>
              <a:avLst/>
              <a:gdLst/>
              <a:ahLst/>
              <a:cxnLst/>
              <a:rect r="r" b="b" t="t" l="l"/>
              <a:pathLst>
                <a:path h="610616" w="2128520">
                  <a:moveTo>
                    <a:pt x="0" y="0"/>
                  </a:moveTo>
                  <a:lnTo>
                    <a:pt x="2128520" y="0"/>
                  </a:lnTo>
                  <a:lnTo>
                    <a:pt x="212852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6C5CE7"/>
            </a:solidFill>
            <a:ln w="19050" cap="sq">
              <a:solidFill>
                <a:srgbClr val="6C5CE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8503920"/>
            <a:ext cx="1577340" cy="438912"/>
            <a:chOff x="0" y="0"/>
            <a:chExt cx="21031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24" r="0" b="-200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0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040" y="8416290"/>
            <a:ext cx="124129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DOC-Agent: release notes with 'Screen changes'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" y="9133713"/>
            <a:ext cx="1591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Rule 6 moves the epic to Documentation and Rule 5 runs the DOC-Agent. It names the new screenshot and quotes the Was/Now change for BA review.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143" y="8484870"/>
            <a:ext cx="1371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11/11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9525" y="10181463"/>
            <a:ext cx="18306593" cy="115062"/>
            <a:chOff x="0" y="0"/>
            <a:chExt cx="24408790" cy="153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08764" cy="153416"/>
            </a:xfrm>
            <a:custGeom>
              <a:avLst/>
              <a:gdLst/>
              <a:ahLst/>
              <a:cxnLst/>
              <a:rect r="r" b="b" t="t" l="l"/>
              <a:pathLst>
                <a:path h="1534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53416"/>
                  </a:lnTo>
                  <a:lnTo>
                    <a:pt x="0" y="153416"/>
                  </a:lnTo>
                  <a:close/>
                </a:path>
              </a:pathLst>
            </a:custGeom>
            <a:solidFill>
              <a:srgbClr val="F5A04A"/>
            </a:solidFill>
            <a:ln w="19050" cap="sq">
              <a:solidFill>
                <a:srgbClr val="F5A04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AUDIT TRAIL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Traceability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you can audit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5816" y="4930616"/>
            <a:ext cx="2894648" cy="1728788"/>
            <a:chOff x="0" y="0"/>
            <a:chExt cx="3859530" cy="2305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59530" cy="2305050"/>
            </a:xfrm>
            <a:custGeom>
              <a:avLst/>
              <a:gdLst/>
              <a:ahLst/>
              <a:cxnLst/>
              <a:rect r="r" b="b" t="t" l="l"/>
              <a:pathLst>
                <a:path h="2305050" w="3859530">
                  <a:moveTo>
                    <a:pt x="0" y="0"/>
                  </a:moveTo>
                  <a:lnTo>
                    <a:pt x="3859530" y="0"/>
                  </a:lnTo>
                  <a:lnTo>
                    <a:pt x="385953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97280" y="5124450"/>
            <a:ext cx="82296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280" y="5467350"/>
            <a:ext cx="24688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REQ-003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280" y="6084570"/>
            <a:ext cx="2468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03320" y="5467350"/>
            <a:ext cx="5212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217384" y="4930616"/>
            <a:ext cx="2894648" cy="1728788"/>
            <a:chOff x="0" y="0"/>
            <a:chExt cx="3859530" cy="2305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59530" cy="2305050"/>
            </a:xfrm>
            <a:custGeom>
              <a:avLst/>
              <a:gdLst/>
              <a:ahLst/>
              <a:cxnLst/>
              <a:rect r="r" b="b" t="t" l="l"/>
              <a:pathLst>
                <a:path h="2305050" w="3859530">
                  <a:moveTo>
                    <a:pt x="0" y="0"/>
                  </a:moveTo>
                  <a:lnTo>
                    <a:pt x="3859530" y="0"/>
                  </a:lnTo>
                  <a:lnTo>
                    <a:pt x="385953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4498848" y="5124450"/>
            <a:ext cx="82296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98848" y="5467350"/>
            <a:ext cx="24688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Story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98848" y="6084570"/>
            <a:ext cx="2468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Gherkin AC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04888" y="5467350"/>
            <a:ext cx="5212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18952" y="4930616"/>
            <a:ext cx="2894648" cy="1728788"/>
            <a:chOff x="0" y="0"/>
            <a:chExt cx="3859530" cy="2305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59530" cy="2305050"/>
            </a:xfrm>
            <a:custGeom>
              <a:avLst/>
              <a:gdLst/>
              <a:ahLst/>
              <a:cxnLst/>
              <a:rect r="r" b="b" t="t" l="l"/>
              <a:pathLst>
                <a:path h="2305050" w="3859530">
                  <a:moveTo>
                    <a:pt x="0" y="0"/>
                  </a:moveTo>
                  <a:lnTo>
                    <a:pt x="3859530" y="0"/>
                  </a:lnTo>
                  <a:lnTo>
                    <a:pt x="385953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900416" y="5124450"/>
            <a:ext cx="82296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00416" y="5467350"/>
            <a:ext cx="24688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Tests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0416" y="6084570"/>
            <a:ext cx="2468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TS sub-tasks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06456" y="5467350"/>
            <a:ext cx="5212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020520" y="4930616"/>
            <a:ext cx="2894648" cy="1728788"/>
            <a:chOff x="0" y="0"/>
            <a:chExt cx="3859530" cy="2305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59530" cy="2305050"/>
            </a:xfrm>
            <a:custGeom>
              <a:avLst/>
              <a:gdLst/>
              <a:ahLst/>
              <a:cxnLst/>
              <a:rect r="r" b="b" t="t" l="l"/>
              <a:pathLst>
                <a:path h="2305050" w="3859530">
                  <a:moveTo>
                    <a:pt x="0" y="0"/>
                  </a:moveTo>
                  <a:lnTo>
                    <a:pt x="3859530" y="0"/>
                  </a:lnTo>
                  <a:lnTo>
                    <a:pt x="385953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4F6F8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1301984" y="5124450"/>
            <a:ext cx="82296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01984" y="5467350"/>
            <a:ext cx="24688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Evidence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01984" y="6084570"/>
            <a:ext cx="2468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Pipeline run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08024" y="5467350"/>
            <a:ext cx="5212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422088" y="4930616"/>
            <a:ext cx="2894648" cy="1728788"/>
            <a:chOff x="0" y="0"/>
            <a:chExt cx="3859530" cy="2305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59530" cy="2305050"/>
            </a:xfrm>
            <a:custGeom>
              <a:avLst/>
              <a:gdLst/>
              <a:ahLst/>
              <a:cxnLst/>
              <a:rect r="r" b="b" t="t" l="l"/>
              <a:pathLst>
                <a:path h="2305050" w="3859530">
                  <a:moveTo>
                    <a:pt x="0" y="0"/>
                  </a:moveTo>
                  <a:lnTo>
                    <a:pt x="3859530" y="0"/>
                  </a:lnTo>
                  <a:lnTo>
                    <a:pt x="385953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1F3A5F"/>
            </a:solidFill>
            <a:ln w="14288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4703552" y="5124450"/>
            <a:ext cx="82296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03552" y="5467350"/>
            <a:ext cx="246888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Help page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03552" y="6084570"/>
            <a:ext cx="24688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Published by BA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7191375"/>
            <a:ext cx="905256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Coverage checks </a:t>
            </a:r>
            <a:r>
              <a:rPr lang="en-US" sz="21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catch any Must REQ with no story or test.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Page versions </a:t>
            </a:r>
            <a:r>
              <a:rPr lang="en-US" sz="21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show exactly what the BA changed.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DOMAIN VARIATIONS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Same pipeline,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any industry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0" y="3135630"/>
            <a:ext cx="754380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The five agents stay the same. The knowledge, the gate approvers and the heaviest agent change.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4724876"/>
            <a:ext cx="3168967" cy="4403408"/>
            <a:chOff x="0" y="0"/>
            <a:chExt cx="4225290" cy="58712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252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871210"/>
                  </a:lnTo>
                  <a:lnTo>
                    <a:pt x="0" y="5871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3435" y="4722495"/>
            <a:ext cx="3173730" cy="1184910"/>
            <a:chOff x="0" y="0"/>
            <a:chExt cx="4231640" cy="1579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16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4732020"/>
            <a:ext cx="2606040" cy="1165860"/>
            <a:chOff x="0" y="0"/>
            <a:chExt cx="347472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Healthcare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6153150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EXTRA GATE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" y="6454902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Clinical safety officer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7280" y="7140702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HEAVIEST AGENT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280" y="7442454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RA + 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8128254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DATA SENSITIVITY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7280" y="8430006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Very high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217384" y="4724876"/>
            <a:ext cx="3168967" cy="4403408"/>
            <a:chOff x="0" y="0"/>
            <a:chExt cx="4225290" cy="58712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52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871210"/>
                  </a:lnTo>
                  <a:lnTo>
                    <a:pt x="0" y="5871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215003" y="4722495"/>
            <a:ext cx="3173730" cy="1184910"/>
            <a:chOff x="0" y="0"/>
            <a:chExt cx="4231640" cy="1579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316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498848" y="4732020"/>
            <a:ext cx="2606040" cy="1165860"/>
            <a:chOff x="0" y="0"/>
            <a:chExt cx="347472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Fintech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498848" y="6153150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EXTRA GATE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98848" y="6454902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Risk &amp; compliance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98848" y="7140702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HEAVIEST AGENT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98848" y="7442454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98848" y="8128254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DATA SENSITIVITY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98848" y="8430006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Very high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618952" y="4724876"/>
            <a:ext cx="3168967" cy="4403408"/>
            <a:chOff x="0" y="0"/>
            <a:chExt cx="4225290" cy="58712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252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871210"/>
                  </a:lnTo>
                  <a:lnTo>
                    <a:pt x="0" y="5871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616571" y="4722495"/>
            <a:ext cx="3173730" cy="1184910"/>
            <a:chOff x="0" y="0"/>
            <a:chExt cx="4231640" cy="1579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316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900416" y="4732020"/>
            <a:ext cx="2606040" cy="1165860"/>
            <a:chOff x="0" y="0"/>
            <a:chExt cx="347472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Insurance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00416" y="6153150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EXTRA GATE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00416" y="6454902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Claims / underwriting lead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900416" y="7140702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HEAVIEST AGENT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00416" y="7442454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00416" y="8128254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DATA SENSITIVITY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00416" y="8430006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020520" y="4724876"/>
            <a:ext cx="3168967" cy="4403408"/>
            <a:chOff x="0" y="0"/>
            <a:chExt cx="4225290" cy="58712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252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871210"/>
                  </a:lnTo>
                  <a:lnTo>
                    <a:pt x="0" y="5871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018139" y="4722495"/>
            <a:ext cx="3173730" cy="1184910"/>
            <a:chOff x="0" y="0"/>
            <a:chExt cx="4231640" cy="1579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316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301984" y="4732020"/>
            <a:ext cx="2606040" cy="1165860"/>
            <a:chOff x="0" y="0"/>
            <a:chExt cx="3474720" cy="15544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Government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1301984" y="6153150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EXTRA GATE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301984" y="6454902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Policy owner, procurement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01984" y="7140702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HEAVIEST AGENT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01984" y="7442454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RA + DOC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01984" y="8128254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DATA SENSITIVITY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301984" y="8430006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4422088" y="4724876"/>
            <a:ext cx="3168967" cy="4403408"/>
            <a:chOff x="0" y="0"/>
            <a:chExt cx="4225290" cy="58712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252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5871210"/>
                  </a:lnTo>
                  <a:lnTo>
                    <a:pt x="0" y="5871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419707" y="4722495"/>
            <a:ext cx="3173730" cy="1184910"/>
            <a:chOff x="0" y="0"/>
            <a:chExt cx="4231640" cy="1579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316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703552" y="4732020"/>
            <a:ext cx="2606040" cy="1165860"/>
            <a:chOff x="0" y="0"/>
            <a:chExt cx="3474720" cy="1554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Logistics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4703552" y="6153150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EXTRA GATE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03552" y="6454902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Operations manager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703552" y="7140702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HEAVIEST AGENT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03552" y="7442454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703552" y="8128254"/>
            <a:ext cx="260604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3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DATA SENSITIVITY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703552" y="8430006"/>
            <a:ext cx="26060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Low–med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672" y="671512"/>
            <a:ext cx="878967" cy="878967"/>
            <a:chOff x="0" y="0"/>
            <a:chExt cx="1171956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92808" y="707898"/>
            <a:ext cx="7543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Business Analyst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808" y="1160526"/>
            <a:ext cx="75438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300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PRACTICE LEADERSHIP · TRAINING · ADVISORY</a:t>
            </a:r>
          </a:p>
        </p:txBody>
      </p:sp>
      <p:sp>
        <p:nvSpPr>
          <p:cNvPr name="AutoShape 9" id="9"/>
          <p:cNvSpPr/>
          <p:nvPr/>
        </p:nvSpPr>
        <p:spPr>
          <a:xfrm rot="178500">
            <a:off x="808301" y="2253615"/>
            <a:ext cx="55052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08760" y="2106930"/>
            <a:ext cx="85039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ROLLOUT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577465"/>
            <a:ext cx="93268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Start small,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3400425"/>
            <a:ext cx="932688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measure everything</a:t>
            </a:r>
          </a:p>
        </p:txBody>
      </p:sp>
      <p:sp>
        <p:nvSpPr>
          <p:cNvPr name="AutoShape 13" id="13"/>
          <p:cNvSpPr/>
          <p:nvPr/>
        </p:nvSpPr>
        <p:spPr>
          <a:xfrm rot="14400">
            <a:off x="1078192" y="5133975"/>
            <a:ext cx="9090736" cy="0"/>
          </a:xfrm>
          <a:prstGeom prst="line">
            <a:avLst/>
          </a:prstGeom>
          <a:ln cap="rnd" w="19050">
            <a:solidFill>
              <a:srgbClr val="4DB8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72490" y="4891278"/>
            <a:ext cx="504444" cy="504444"/>
            <a:chOff x="0" y="0"/>
            <a:chExt cx="672592" cy="672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592" cy="672592"/>
            </a:xfrm>
            <a:custGeom>
              <a:avLst/>
              <a:gdLst/>
              <a:ahLst/>
              <a:cxnLst/>
              <a:rect r="r" b="b" t="t" l="l"/>
              <a:pathLst>
                <a:path h="672592" w="672592">
                  <a:moveTo>
                    <a:pt x="0" y="336296"/>
                  </a:moveTo>
                  <a:cubicBezTo>
                    <a:pt x="0" y="150622"/>
                    <a:pt x="150622" y="0"/>
                    <a:pt x="336296" y="0"/>
                  </a:cubicBezTo>
                  <a:cubicBezTo>
                    <a:pt x="521970" y="0"/>
                    <a:pt x="672592" y="150622"/>
                    <a:pt x="672592" y="336296"/>
                  </a:cubicBezTo>
                  <a:cubicBezTo>
                    <a:pt x="672592" y="521970"/>
                    <a:pt x="521970" y="672592"/>
                    <a:pt x="336296" y="672592"/>
                  </a:cubicBezTo>
                  <a:cubicBezTo>
                    <a:pt x="150622" y="672592"/>
                    <a:pt x="0" y="521970"/>
                    <a:pt x="0" y="336296"/>
                  </a:cubicBezTo>
                  <a:close/>
                </a:path>
              </a:pathLst>
            </a:custGeom>
            <a:solidFill>
              <a:srgbClr val="4DB8B8"/>
            </a:solidFill>
            <a:ln w="38100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22960" y="5604510"/>
            <a:ext cx="30175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b="true" sz="1275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WEEKS 1–4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960" y="5974842"/>
            <a:ext cx="3017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Pilot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6633210"/>
            <a:ext cx="2948940" cy="18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One team, one BA, first three agents. The BA rewrites freely.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095750" y="4891278"/>
            <a:ext cx="504444" cy="504444"/>
            <a:chOff x="0" y="0"/>
            <a:chExt cx="672592" cy="672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2592" cy="672592"/>
            </a:xfrm>
            <a:custGeom>
              <a:avLst/>
              <a:gdLst/>
              <a:ahLst/>
              <a:cxnLst/>
              <a:rect r="r" b="b" t="t" l="l"/>
              <a:pathLst>
                <a:path h="672592" w="672592">
                  <a:moveTo>
                    <a:pt x="0" y="336296"/>
                  </a:moveTo>
                  <a:cubicBezTo>
                    <a:pt x="0" y="150622"/>
                    <a:pt x="150622" y="0"/>
                    <a:pt x="336296" y="0"/>
                  </a:cubicBezTo>
                  <a:cubicBezTo>
                    <a:pt x="521970" y="0"/>
                    <a:pt x="672592" y="150622"/>
                    <a:pt x="672592" y="336296"/>
                  </a:cubicBezTo>
                  <a:cubicBezTo>
                    <a:pt x="672592" y="521970"/>
                    <a:pt x="521970" y="672592"/>
                    <a:pt x="336296" y="672592"/>
                  </a:cubicBezTo>
                  <a:cubicBezTo>
                    <a:pt x="150622" y="672592"/>
                    <a:pt x="0" y="521970"/>
                    <a:pt x="0" y="33629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4046220" y="5604510"/>
            <a:ext cx="30175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b="true" sz="1275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WEEKS 5–8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46220" y="5974842"/>
            <a:ext cx="3017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Extend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46220" y="6633210"/>
            <a:ext cx="2948940" cy="18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Add test and documentation agents; tune from BA edit history.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319010" y="4891278"/>
            <a:ext cx="504444" cy="504444"/>
            <a:chOff x="0" y="0"/>
            <a:chExt cx="672592" cy="672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2592" cy="672592"/>
            </a:xfrm>
            <a:custGeom>
              <a:avLst/>
              <a:gdLst/>
              <a:ahLst/>
              <a:cxnLst/>
              <a:rect r="r" b="b" t="t" l="l"/>
              <a:pathLst>
                <a:path h="672592" w="672592">
                  <a:moveTo>
                    <a:pt x="0" y="336296"/>
                  </a:moveTo>
                  <a:cubicBezTo>
                    <a:pt x="0" y="150622"/>
                    <a:pt x="150622" y="0"/>
                    <a:pt x="336296" y="0"/>
                  </a:cubicBezTo>
                  <a:cubicBezTo>
                    <a:pt x="521970" y="0"/>
                    <a:pt x="672592" y="150622"/>
                    <a:pt x="672592" y="336296"/>
                  </a:cubicBezTo>
                  <a:cubicBezTo>
                    <a:pt x="672592" y="521970"/>
                    <a:pt x="521970" y="672592"/>
                    <a:pt x="336296" y="672592"/>
                  </a:cubicBezTo>
                  <a:cubicBezTo>
                    <a:pt x="150622" y="672592"/>
                    <a:pt x="0" y="521970"/>
                    <a:pt x="0" y="33629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DB8B8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7269480" y="5604510"/>
            <a:ext cx="301752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b="true" sz="1275" spc="29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THEN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69480" y="5974842"/>
            <a:ext cx="3017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Scale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69480" y="6633210"/>
            <a:ext cx="2948940" cy="18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A6B7D"/>
                </a:solidFill>
                <a:latin typeface="Arial"/>
                <a:ea typeface="Arial"/>
                <a:cs typeface="Arial"/>
                <a:sym typeface="Arial"/>
              </a:rPr>
              <a:t>Template config and agents for other teams; review guardrails quarterly.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826115" y="813435"/>
            <a:ext cx="6671310" cy="8385810"/>
            <a:chOff x="0" y="0"/>
            <a:chExt cx="8895080" cy="11181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95080" cy="11181080"/>
            </a:xfrm>
            <a:custGeom>
              <a:avLst/>
              <a:gdLst/>
              <a:ahLst/>
              <a:cxnLst/>
              <a:rect r="r" b="b" t="t" l="l"/>
              <a:pathLst>
                <a:path h="11181080" w="8895080">
                  <a:moveTo>
                    <a:pt x="0" y="0"/>
                  </a:moveTo>
                  <a:lnTo>
                    <a:pt x="8895080" y="0"/>
                  </a:lnTo>
                  <a:lnTo>
                    <a:pt x="8895080" y="11181080"/>
                  </a:lnTo>
                  <a:lnTo>
                    <a:pt x="0" y="11181080"/>
                  </a:lnTo>
                  <a:close/>
                </a:path>
              </a:pathLst>
            </a:custGeom>
            <a:solidFill>
              <a:srgbClr val="1F3A5F"/>
            </a:solidFill>
            <a:ln w="19050" cap="sq">
              <a:solidFill>
                <a:srgbClr val="1F3A5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384280" y="1283970"/>
            <a:ext cx="55549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600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MEASURES TO TRACK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384280" y="2057400"/>
            <a:ext cx="3566160" cy="548640"/>
            <a:chOff x="0" y="0"/>
            <a:chExt cx="47548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754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D6E4"/>
                  </a:solidFill>
                  <a:latin typeface="Arial"/>
                  <a:ea typeface="Arial"/>
                  <a:cs typeface="Arial"/>
                  <a:sym typeface="Arial"/>
                </a:rPr>
                <a:t>BA edit rate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1800" y="2057400"/>
            <a:ext cx="2537460" cy="548640"/>
            <a:chOff x="0" y="0"/>
            <a:chExt cx="33832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8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38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Falling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5880">
            <a:off x="11379518" y="2985326"/>
            <a:ext cx="5564515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1384280" y="3429000"/>
            <a:ext cx="3566160" cy="548640"/>
            <a:chOff x="0" y="0"/>
            <a:chExt cx="47548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754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D6E4"/>
                  </a:solidFill>
                  <a:latin typeface="Arial"/>
                  <a:ea typeface="Arial"/>
                  <a:cs typeface="Arial"/>
                  <a:sym typeface="Arial"/>
                </a:rPr>
                <a:t>Rework runs / epic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01800" y="3429000"/>
            <a:ext cx="2537460" cy="548640"/>
            <a:chOff x="0" y="0"/>
            <a:chExt cx="33832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8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38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&lt; 1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5880">
            <a:off x="11379518" y="4356926"/>
            <a:ext cx="5564515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1384280" y="4800600"/>
            <a:ext cx="3566160" cy="548640"/>
            <a:chOff x="0" y="0"/>
            <a:chExt cx="47548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754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D6E4"/>
                  </a:solidFill>
                  <a:latin typeface="Arial"/>
                  <a:ea typeface="Arial"/>
                  <a:cs typeface="Arial"/>
                  <a:sym typeface="Arial"/>
                </a:rPr>
                <a:t>Uncovered REQs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401800" y="4800600"/>
            <a:ext cx="2537460" cy="548640"/>
            <a:chOff x="0" y="0"/>
            <a:chExt cx="33832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8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38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5880">
            <a:off x="11379518" y="5728525"/>
            <a:ext cx="5564515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1384280" y="6172200"/>
            <a:ext cx="3566160" cy="548640"/>
            <a:chOff x="0" y="0"/>
            <a:chExt cx="47548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754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D6E4"/>
                  </a:solidFill>
                  <a:latin typeface="Arial"/>
                  <a:ea typeface="Arial"/>
                  <a:cs typeface="Arial"/>
                  <a:sym typeface="Arial"/>
                </a:rPr>
                <a:t>Cycle time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01800" y="6172200"/>
            <a:ext cx="2537460" cy="548640"/>
            <a:chOff x="0" y="0"/>
            <a:chExt cx="33832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8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38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 vs baseline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5880">
            <a:off x="11379518" y="7100125"/>
            <a:ext cx="5564515" cy="0"/>
          </a:xfrm>
          <a:prstGeom prst="line">
            <a:avLst/>
          </a:prstGeom>
          <a:ln cap="rnd" w="9525">
            <a:solidFill>
              <a:srgbClr val="5C7A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11384280" y="7543800"/>
            <a:ext cx="3566160" cy="548640"/>
            <a:chOff x="0" y="0"/>
            <a:chExt cx="47548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754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D6E4"/>
                  </a:solidFill>
                  <a:latin typeface="Arial"/>
                  <a:ea typeface="Arial"/>
                  <a:cs typeface="Arial"/>
                  <a:sym typeface="Arial"/>
                </a:rPr>
                <a:t>Escalations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401800" y="7543800"/>
            <a:ext cx="2537460" cy="548640"/>
            <a:chOff x="0" y="0"/>
            <a:chExt cx="338328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8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383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Stable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 · AIDEL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Five Rovo agents, one BA  ·  Atlassian Community Sydney  ·  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Teal light trails over deep navy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" t="0" r="-11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09883" y="943451"/>
            <a:ext cx="1267777" cy="1267777"/>
            <a:chOff x="0" y="0"/>
            <a:chExt cx="1690370" cy="16903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0370" cy="1690370"/>
            </a:xfrm>
            <a:custGeom>
              <a:avLst/>
              <a:gdLst/>
              <a:ahLst/>
              <a:cxnLst/>
              <a:rect r="r" b="b" t="t" l="l"/>
              <a:pathLst>
                <a:path h="1690370" w="1690370">
                  <a:moveTo>
                    <a:pt x="0" y="845185"/>
                  </a:moveTo>
                  <a:cubicBezTo>
                    <a:pt x="0" y="378460"/>
                    <a:pt x="378460" y="0"/>
                    <a:pt x="845185" y="0"/>
                  </a:cubicBezTo>
                  <a:cubicBezTo>
                    <a:pt x="1311910" y="0"/>
                    <a:pt x="1690370" y="378460"/>
                    <a:pt x="1690370" y="845185"/>
                  </a:cubicBezTo>
                  <a:cubicBezTo>
                    <a:pt x="1690370" y="1311910"/>
                    <a:pt x="1311910" y="1690370"/>
                    <a:pt x="845185" y="1690370"/>
                  </a:cubicBezTo>
                  <a:cubicBezTo>
                    <a:pt x="378460" y="1690370"/>
                    <a:pt x="0" y="1311910"/>
                    <a:pt x="0" y="845185"/>
                  </a:cubicBezTo>
                  <a:close/>
                </a:path>
              </a:pathLst>
            </a:custGeom>
            <a:solidFill>
              <a:srgbClr val="1F3A5F"/>
            </a:solidFill>
            <a:ln w="33338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526551" y="960120"/>
            <a:ext cx="1234440" cy="1234440"/>
            <a:chOff x="0" y="0"/>
            <a:chExt cx="16459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2655570"/>
            <a:ext cx="1828754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749">
                <a:solidFill>
                  <a:srgbClr val="4DB8B8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116580"/>
            <a:ext cx="18287543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4282440"/>
            <a:ext cx="18287543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Let's build it together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33946" y="6094095"/>
            <a:ext cx="4819650" cy="869442"/>
            <a:chOff x="0" y="0"/>
            <a:chExt cx="6426200" cy="1159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62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6426200">
                  <a:moveTo>
                    <a:pt x="0" y="0"/>
                  </a:moveTo>
                  <a:lnTo>
                    <a:pt x="6426200" y="0"/>
                  </a:lnTo>
                  <a:lnTo>
                    <a:pt x="6426200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743471" y="6103620"/>
            <a:ext cx="4800600" cy="850392"/>
            <a:chOff x="0" y="0"/>
            <a:chExt cx="6400800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400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▶   GET THE PLAYBOOK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7250430"/>
            <a:ext cx="1828754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business-analyst.services  ·  Chale Dodge, Lead BA &amp; Practice Lead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9525" y="9591675"/>
            <a:ext cx="18306593" cy="704850"/>
            <a:chOff x="0" y="0"/>
            <a:chExt cx="24408790" cy="93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08764" cy="939800"/>
            </a:xfrm>
            <a:custGeom>
              <a:avLst/>
              <a:gdLst/>
              <a:ahLst/>
              <a:cxnLst/>
              <a:rect r="r" b="b" t="t" l="l"/>
              <a:pathLst>
                <a:path h="9398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4DB8B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282315" y="9769983"/>
            <a:ext cx="348234" cy="348234"/>
            <a:chOff x="0" y="0"/>
            <a:chExt cx="464312" cy="4643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4312" cy="464312"/>
            </a:xfrm>
            <a:custGeom>
              <a:avLst/>
              <a:gdLst/>
              <a:ahLst/>
              <a:cxnLst/>
              <a:rect r="r" b="b" t="t" l="l"/>
              <a:pathLst>
                <a:path h="464312" w="464312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cubicBezTo>
                    <a:pt x="360426" y="0"/>
                    <a:pt x="464312" y="103886"/>
                    <a:pt x="464312" y="232156"/>
                  </a:cubicBezTo>
                  <a:cubicBezTo>
                    <a:pt x="464312" y="360426"/>
                    <a:pt x="360426" y="464312"/>
                    <a:pt x="232156" y="464312"/>
                  </a:cubicBez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4DB8B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291840" y="9779508"/>
            <a:ext cx="329184" cy="329184"/>
            <a:chOff x="0" y="0"/>
            <a:chExt cx="438912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3891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40480" y="9601200"/>
            <a:ext cx="4114800" cy="685800"/>
            <a:chOff x="0" y="0"/>
            <a:chExt cx="5486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 AT EVERY GATE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86700" y="9601200"/>
            <a:ext cx="274320" cy="685800"/>
            <a:chOff x="0" y="0"/>
            <a:chExt cx="36576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65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DEDED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0" y="9601200"/>
            <a:ext cx="9326880" cy="685800"/>
            <a:chOff x="0" y="0"/>
            <a:chExt cx="1243584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435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Agents draft. Only a Business Analyst approves.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DAHXh6hoIRU</dc:identifier>
  <dcterms:modified xsi:type="dcterms:W3CDTF">2011-08-01T06:04:30Z</dcterms:modified>
  <cp:revision>1</cp:revision>
  <dc:title>Five-Rovo-Agents-One-BA.pptx</dc:title>
</cp:coreProperties>
</file>