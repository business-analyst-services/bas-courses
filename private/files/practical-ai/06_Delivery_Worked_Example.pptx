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Sequence the Delivery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Delivery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75488" y="1645920"/>
            <a:ext cx="11240719" cy="0"/>
          </a:xfrm>
          <a:prstGeom prst="line">
            <a:avLst/>
          </a:prstGeom>
          <a:ln w="1778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M1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23631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266431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M2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971775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575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M3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219919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762719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468063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010863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M5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71620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25900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M6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5488" y="1920240"/>
            <a:ext cx="4014542" cy="70408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1993392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R1 - API ID verification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" y="2249424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New individual customers verified in real 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88576" y="2788920"/>
            <a:ext cx="4014542" cy="704088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6592" y="2862072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R2 - Risk triage + parallel provisioning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6592" y="3118103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Exceptions only; same-hour activation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01664" y="3657600"/>
            <a:ext cx="4014542" cy="704088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29680" y="3730752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R3 - Document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29680" y="3986784"/>
            <a:ext cx="379508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Auto-validated documents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Run the Change Impact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Change Impact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Compliance Reviewers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723392" cy="201168"/>
          </a:xfrm>
          <a:prstGeom prst="roundRect">
            <a:avLst/>
          </a:prstGeom>
          <a:solidFill>
            <a:srgbClr val="D965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723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Significant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Changes: From full review to exception-only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Training: 2-day exception triage course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76606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Measure: Shift from volume to exception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0682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Onboarding Ops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6986" y="1828800"/>
            <a:ext cx="570991" cy="201168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6986" y="1819656"/>
            <a:ext cx="57099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Moderate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Changes: From keying data to handling unclear cases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6986" y="2496312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Training: New tooling walkthrough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6986" y="276606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Measure: Avg handle time, rework rate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Contact Centre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3620" y="1828800"/>
            <a:ext cx="418592" cy="201168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3620" y="1819656"/>
            <a:ext cx="418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Small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Changes: New onboarding status messages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Training: FAQ + script update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3620" y="2642615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Measure: Onboarding-related call volume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Build the Change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ADKAR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475488" y="1645920"/>
            <a:ext cx="11240719" cy="0"/>
          </a:xfrm>
          <a:prstGeom prst="line">
            <a:avLst/>
          </a:prstGeom>
          <a:ln w="1778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8288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Awareness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8566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2846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Desire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584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63864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Knowledge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0602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4882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Ability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16207" y="1600200"/>
            <a:ext cx="0" cy="91440"/>
          </a:xfrm>
          <a:prstGeom prst="line">
            <a:avLst/>
          </a:prstGeom>
          <a:ln w="12700">
            <a:solidFill>
              <a:srgbClr val="D5E2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259007" y="1719072"/>
            <a:ext cx="914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5B6B75"/>
                </a:solidFill>
                <a:latin typeface="Arial"/>
              </a:rPr>
              <a:t>Reinforce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" y="1920240"/>
            <a:ext cx="2157309" cy="698601"/>
          </a:xfrm>
          <a:prstGeom prst="round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" y="1993392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" y="2249424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All-hands on the 14-&gt;5 day goal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6340" y="2783433"/>
            <a:ext cx="2157309" cy="698601"/>
          </a:xfrm>
          <a:prstGeom prst="roundRect">
            <a:avLst/>
          </a:prstGeom>
          <a:solidFill>
            <a:srgbClr val="1F3B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4356" y="2856585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Desire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74356" y="3112617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Show reviewers the rework they lose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17192" y="3646627"/>
            <a:ext cx="2157309" cy="698601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45208" y="3719779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Knowledge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45208" y="3975811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Exception triage course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88045" y="4509820"/>
            <a:ext cx="2157309" cy="698601"/>
          </a:xfrm>
          <a:prstGeom prst="roundRect">
            <a:avLst/>
          </a:prstGeom>
          <a:solidFill>
            <a:srgbClr val="0E6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16061" y="4582972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16061" y="4839004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Shadowed go-live with real applications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558897" y="5373014"/>
            <a:ext cx="2157309" cy="698601"/>
          </a:xfrm>
          <a:prstGeom prst="round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86913" y="5446166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Reinforcement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6913" y="5702198"/>
            <a:ext cx="193785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FFFFFF"/>
                </a:solidFill>
                <a:latin typeface="Arial"/>
              </a:rPr>
              <a:t>Daily queue-depth review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84047" y="292607"/>
            <a:ext cx="512064" cy="512064"/>
          </a:xfrm>
          <a:prstGeom prst="ellipse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rocke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" y="395020"/>
            <a:ext cx="307238" cy="3072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292608"/>
            <a:ext cx="86868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789A0"/>
                </a:solidFill>
                <a:latin typeface="Arial"/>
              </a:rPr>
              <a:t>PLAYBOOK 06  ·  Delivery &amp;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50292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2000" b="1">
                <a:solidFill>
                  <a:srgbClr val="14283F"/>
                </a:solidFill>
                <a:latin typeface="Arial"/>
              </a:rPr>
              <a:t>Define the Benefits Realisation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896112"/>
            <a:ext cx="10058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0E6E80"/>
                </a:solidFill>
                <a:latin typeface="Arial"/>
              </a:rPr>
              <a:t>ARTEFACT  ·  </a:t>
            </a:r>
            <a:r>
              <a:rPr sz="1000" b="1">
                <a:solidFill>
                  <a:srgbClr val="0E6E80"/>
                </a:solidFill>
                <a:latin typeface="Arial"/>
              </a:rPr>
              <a:t>Benefits Realisation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9855" y="310896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5B6B75"/>
                </a:solidFill>
                <a:latin typeface="Arial"/>
              </a:rPr>
              <a:t>FINTECH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225296"/>
            <a:ext cx="11423599" cy="27432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225296"/>
            <a:ext cx="1280160" cy="27432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84048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4048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Time-to-first-transaction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0352" y="1828800"/>
            <a:ext cx="977391" cy="20116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1819656"/>
            <a:ext cx="97739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Baseline 14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80895" y="1828800"/>
            <a:ext cx="1383791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80895" y="1819656"/>
            <a:ext cx="1383791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Target 5 days by month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Measure: Median days form-&gt;first txn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Owner: Head of Customer Ops · Monthly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40682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40682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6986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Onboarding drop-off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6986" y="1828800"/>
            <a:ext cx="774192" cy="20116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6986" y="1819656"/>
            <a:ext cx="774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Baseline 22%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4330" y="1828800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34330" y="1819656"/>
            <a:ext cx="723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Target &lt;10%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6986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Measure: % abandoning before first txn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6986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Owner: Head of CX · Monthly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7316" y="1371600"/>
            <a:ext cx="3710330" cy="26517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5E2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97316" y="1371600"/>
            <a:ext cx="3710330" cy="64008"/>
          </a:xfrm>
          <a:prstGeom prst="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43620" y="1499616"/>
            <a:ext cx="343601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4283F"/>
                </a:solidFill>
                <a:latin typeface="Arial"/>
              </a:rPr>
              <a:t>Manual review cost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3620" y="1828800"/>
            <a:ext cx="774192" cy="201168"/>
          </a:xfrm>
          <a:prstGeom prst="roundRect">
            <a:avLst/>
          </a:prstGeom>
          <a:solidFill>
            <a:srgbClr val="8896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3620" y="1819656"/>
            <a:ext cx="774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Baseline $45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0964" y="1828800"/>
            <a:ext cx="723392" cy="201168"/>
          </a:xfrm>
          <a:prstGeom prst="roundRect">
            <a:avLst/>
          </a:prstGeom>
          <a:solidFill>
            <a:srgbClr val="1F9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0964" y="1819656"/>
            <a:ext cx="7233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Arial"/>
              </a:rPr>
              <a:t>Target -55%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3620" y="2103120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Measure: Cost per application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3620" y="2372868"/>
            <a:ext cx="343601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60" b="0">
                <a:solidFill>
                  <a:srgbClr val="21313D"/>
                </a:solidFill>
                <a:latin typeface="Arial"/>
              </a:rPr>
              <a:t>Owner: Compliance Director · Monthly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1428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82296" cy="310896"/>
          </a:xfrm>
          <a:prstGeom prst="rect">
            <a:avLst/>
          </a:prstGeom>
          <a:solidFill>
            <a:srgbClr val="1789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658368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BAS  ·  PRACTICE LEADERSHIP · TRAINING · ADVISORY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76895" y="6583680"/>
            <a:ext cx="374903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0">
                <a:solidFill>
                  <a:srgbClr val="9FB6C2"/>
                </a:solidFill>
                <a:latin typeface="Arial"/>
              </a:rPr>
              <a:t>Industry Domain Pack · Fintech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088575" y="950976"/>
            <a:ext cx="1691640" cy="237744"/>
          </a:xfrm>
          <a:prstGeom prst="roundRect">
            <a:avLst/>
          </a:prstGeom>
          <a:solidFill>
            <a:srgbClr val="23A6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88575" y="960120"/>
            <a:ext cx="169164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4283F"/>
                </a:solidFill>
                <a:latin typeface="Arial"/>
              </a:rPr>
              <a:t>★ MARQUEE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