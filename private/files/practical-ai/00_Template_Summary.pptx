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10896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789A0"/>
                </a:solidFill>
                <a:latin typeface="Arial"/>
              </a:rPr>
              <a:t>TEMPLATE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>
                <a:solidFill>
                  <a:srgbClr val="14283F"/>
                </a:solidFill>
                <a:latin typeface="Arial"/>
              </a:rPr>
              <a:t>The 12 templates you walk out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704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B75"/>
                </a:solidFill>
                <a:latin typeface="Arial"/>
              </a:rPr>
              <a:t>2 per playbook × 6 playbooks = 12 — exactly as named on the workshop banner. Each playbook also produces 4 worked artefacts (24 in total, all included in this pack).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17904"/>
          <a:ext cx="11274550" cy="4754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6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1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9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164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Playbook</a:t>
                      </a:r>
                    </a:p>
                  </a:txBody>
                  <a:tcPr marL="54864" marT="18288" marB="18288">
                    <a:solidFill>
                      <a:srgbClr val="14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Template</a:t>
                      </a:r>
                    </a:p>
                  </a:txBody>
                  <a:tcPr marL="54864" marT="18288" marB="18288">
                    <a:solidFill>
                      <a:srgbClr val="14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Inputs from the playbook</a:t>
                      </a:r>
                    </a:p>
                  </a:txBody>
                  <a:tcPr marL="54864" marT="18288" marB="18288">
                    <a:solidFill>
                      <a:srgbClr val="14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Outputs you produce</a:t>
                      </a:r>
                    </a:p>
                  </a:txBody>
                  <a:tcPr marL="54864" marT="18288" marB="18288">
                    <a:solidFill>
                      <a:srgbClr val="14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01 Discovery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4283F"/>
                          </a:solidFill>
                          <a:latin typeface="Arial"/>
                        </a:rPr>
                        <a:t>Discovery Brief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Initiative brief / problem statement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Problem framed in one sentence + measurable outcome, assumptions, open questions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01 Discovery</a:t>
                      </a:r>
                    </a:p>
                  </a:txBody>
                  <a:tcPr marL="54864" marT="9144" marB="9144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4283F"/>
                          </a:solidFill>
                          <a:latin typeface="Arial"/>
                        </a:rPr>
                        <a:t>Stakeholder Map</a:t>
                      </a:r>
                    </a:p>
                  </a:txBody>
                  <a:tcPr marL="54864" marT="9144" marB="9144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Stakeholder register</a:t>
                      </a:r>
                    </a:p>
                  </a:txBody>
                  <a:tcPr marL="54864" marT="9144" marB="9144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Influence / Interest 2x2 + engagement plan + watchlist</a:t>
                      </a:r>
                    </a:p>
                  </a:txBody>
                  <a:tcPr marL="54864" marT="9144" marB="9144"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02 Process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4283F"/>
                          </a:solidFill>
                          <a:latin typeface="Arial"/>
                        </a:rPr>
                        <a:t>As-Is Process Model (Silver)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Scope statement; SME interviews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As-Is swim-lane + pain annotations + RACI + data sources (delivery-grade)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02 Process</a:t>
                      </a:r>
                    </a:p>
                  </a:txBody>
                  <a:tcPr marL="54864" marT="9144" marB="9144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4283F"/>
                          </a:solidFill>
                          <a:latin typeface="Arial"/>
                        </a:rPr>
                        <a:t>To-Be Process Model (Silver)</a:t>
                      </a:r>
                    </a:p>
                  </a:txBody>
                  <a:tcPr marL="54864" marT="9144" marB="9144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As-Is model; pain register</a:t>
                      </a:r>
                    </a:p>
                  </a:txBody>
                  <a:tcPr marL="54864" marT="9144" marB="9144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To-Be swim-lane + system interactions + controls &amp; measures + side-by-side</a:t>
                      </a:r>
                    </a:p>
                  </a:txBody>
                  <a:tcPr marL="54864" marT="9144" marB="9144"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03 Data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4283F"/>
                          </a:solidFill>
                          <a:latin typeface="Arial"/>
                        </a:rPr>
                        <a:t>KPI Tree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North Star metric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North Star -&gt; Tier-1 -&gt; Tier-2 + metric catalogue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03 Data</a:t>
                      </a:r>
                    </a:p>
                  </a:txBody>
                  <a:tcPr marL="54864" marT="9144" marB="9144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4283F"/>
                          </a:solidFill>
                          <a:latin typeface="Arial"/>
                        </a:rPr>
                        <a:t>Value Leak Analysis</a:t>
                      </a:r>
                    </a:p>
                  </a:txBody>
                  <a:tcPr marL="54864" marT="9144" marB="9144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KPI tree; data sources</a:t>
                      </a:r>
                    </a:p>
                  </a:txBody>
                  <a:tcPr marL="54864" marT="9144" marB="9144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Ranked value leaks with annualised $ and ease-to-fix</a:t>
                      </a:r>
                    </a:p>
                  </a:txBody>
                  <a:tcPr marL="54864" marT="9144" marB="9144"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04 Requirements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4283F"/>
                          </a:solidFill>
                          <a:latin typeface="Arial"/>
                        </a:rPr>
                        <a:t>Requirements Catalogue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To-Be map; fix list; constraints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Numbered functional / non-functional requirements (MoSCoW)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04 Requirements</a:t>
                      </a:r>
                    </a:p>
                  </a:txBody>
                  <a:tcPr marL="54864" marT="9144" marB="9144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4283F"/>
                          </a:solidFill>
                          <a:latin typeface="Arial"/>
                        </a:rPr>
                        <a:t>User Story + Acceptance Criteria</a:t>
                      </a:r>
                    </a:p>
                  </a:txBody>
                  <a:tcPr marL="54864" marT="9144" marB="9144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Requirements catalogue</a:t>
                      </a:r>
                    </a:p>
                  </a:txBody>
                  <a:tcPr marL="54864" marT="9144" marB="9144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Stories with Given/When/Then happy, alternative and failure paths</a:t>
                      </a:r>
                    </a:p>
                  </a:txBody>
                  <a:tcPr marL="54864" marT="9144" marB="9144"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05 Solution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4283F"/>
                          </a:solidFill>
                          <a:latin typeface="Arial"/>
                        </a:rPr>
                        <a:t>Solution Options Matrix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Requirements; constraint set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Weighted scored options + recommendation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05 Solution</a:t>
                      </a:r>
                    </a:p>
                  </a:txBody>
                  <a:tcPr marL="54864" marT="9144" marB="9144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4283F"/>
                          </a:solidFill>
                          <a:latin typeface="Arial"/>
                        </a:rPr>
                        <a:t>One-Page Business Case</a:t>
                      </a:r>
                    </a:p>
                  </a:txBody>
                  <a:tcPr marL="54864" marT="9144" marB="9144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Options matrix; cost-benefit model</a:t>
                      </a:r>
                    </a:p>
                  </a:txBody>
                  <a:tcPr marL="54864" marT="9144" marB="9144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The ask, headline numbers (NPV/payback), top risks, decision-by</a:t>
                      </a:r>
                    </a:p>
                  </a:txBody>
                  <a:tcPr marL="54864" marT="9144" marB="9144"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06 Delivery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4283F"/>
                          </a:solidFill>
                          <a:latin typeface="Arial"/>
                        </a:rPr>
                        <a:t>Delivery Roadmap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Approved backlog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Sequenced releases with the value each delivers</a:t>
                      </a:r>
                    </a:p>
                  </a:txBody>
                  <a:tcPr marL="54864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06 Delivery</a:t>
                      </a:r>
                    </a:p>
                  </a:txBody>
                  <a:tcPr marL="54864" marT="9144" marB="9144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4283F"/>
                          </a:solidFill>
                          <a:latin typeface="Arial"/>
                        </a:rPr>
                        <a:t>Benefits Realisation Plan</a:t>
                      </a:r>
                    </a:p>
                  </a:txBody>
                  <a:tcPr marL="54864" marT="9144" marB="9144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Business case; roadmap</a:t>
                      </a:r>
                    </a:p>
                  </a:txBody>
                  <a:tcPr marL="54864" marT="9144" marB="9144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13D"/>
                          </a:solidFill>
                          <a:latin typeface="Arial"/>
                        </a:rPr>
                        <a:t>Benefit -&gt; measure -&gt; baseline -&gt; target -&gt; owner -&gt; cadence</a:t>
                      </a:r>
                    </a:p>
                  </a:txBody>
                  <a:tcPr marL="54864" marT="9144" marB="9144"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6455664"/>
            <a:ext cx="11274552" cy="310896"/>
          </a:xfrm>
          <a:prstGeom prst="roundRect">
            <a:avLst/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01384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E6E80"/>
                </a:solidFill>
                <a:latin typeface="Arial"/>
              </a:rPr>
              <a:t>Count check:  </a:t>
            </a:r>
            <a:r>
              <a:rPr sz="1000" b="0">
                <a:solidFill>
                  <a:srgbClr val="21313D"/>
                </a:solidFill>
                <a:latin typeface="Arial"/>
              </a:rPr>
              <a:t>12 marquee templates ✓ matches the LinkedIn banner “12+ templates” · the two Process templates are now delivery-grade Silver models · 24 worked artefacts available in total.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320</Words>
  <Application>Microsoft Office PowerPoint</Application>
  <PresentationFormat>Widescreen</PresentationFormat>
  <Paragraphs>56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Chale Dodge</dc:creator>
  <cp:keywords/>
  <dc:description>generated using python-pptx</dc:description>
  <cp:lastModifiedBy>Chale Dodge</cp:lastModifiedBy>
  <cp:revision>2</cp:revision>
  <dcterms:created xsi:type="dcterms:W3CDTF">2013-01-27T09:14:16Z</dcterms:created>
  <dcterms:modified xsi:type="dcterms:W3CDTF">2026-05-25T14:36:02Z</dcterms:modified>
  <cp:category/>
</cp:coreProperties>
</file>