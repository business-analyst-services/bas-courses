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89" r:id="rId3"/>
    <p:sldId id="290" r:id="rId4"/>
    <p:sldId id="291" r:id="rId5"/>
    <p:sldId id="309" r:id="rId6"/>
    <p:sldId id="313" r:id="rId7"/>
    <p:sldId id="314" r:id="rId8"/>
    <p:sldId id="31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10C7A-38A8-403F-867A-FAFCBE3A8FDA}" v="1" dt="2026-05-25T14:39:15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e Dodge" userId="dc0199a935818bc1" providerId="LiveId" clId="{91991F84-C581-4593-8D69-68EBBDE776F9}"/>
    <pc:docChg chg="addSld delSld modSld">
      <pc:chgData name="Chale Dodge" userId="dc0199a935818bc1" providerId="LiveId" clId="{91991F84-C581-4593-8D69-68EBBDE776F9}" dt="2026-05-25T14:40:05.473" v="1" actId="2696"/>
      <pc:docMkLst>
        <pc:docMk/>
      </pc:docMkLst>
      <pc:sldChg chg="add setBg">
        <pc:chgData name="Chale Dodge" userId="dc0199a935818bc1" providerId="LiveId" clId="{91991F84-C581-4593-8D69-68EBBDE776F9}" dt="2026-05-25T14:39:15.146" v="0"/>
        <pc:sldMkLst>
          <pc:docMk/>
          <pc:sldMk cId="0" sldId="309"/>
        </pc:sldMkLst>
      </pc:sldChg>
      <pc:sldChg chg="add del setBg">
        <pc:chgData name="Chale Dodge" userId="dc0199a935818bc1" providerId="LiveId" clId="{91991F84-C581-4593-8D69-68EBBDE776F9}" dt="2026-05-25T14:40:05.473" v="1" actId="2696"/>
        <pc:sldMkLst>
          <pc:docMk/>
          <pc:sldMk cId="0" sldId="310"/>
        </pc:sldMkLst>
      </pc:sldChg>
      <pc:sldChg chg="add del setBg">
        <pc:chgData name="Chale Dodge" userId="dc0199a935818bc1" providerId="LiveId" clId="{91991F84-C581-4593-8D69-68EBBDE776F9}" dt="2026-05-25T14:40:05.473" v="1" actId="2696"/>
        <pc:sldMkLst>
          <pc:docMk/>
          <pc:sldMk cId="0" sldId="311"/>
        </pc:sldMkLst>
      </pc:sldChg>
      <pc:sldChg chg="add del setBg">
        <pc:chgData name="Chale Dodge" userId="dc0199a935818bc1" providerId="LiveId" clId="{91991F84-C581-4593-8D69-68EBBDE776F9}" dt="2026-05-25T14:40:05.473" v="1" actId="2696"/>
        <pc:sldMkLst>
          <pc:docMk/>
          <pc:sldMk cId="0" sldId="312"/>
        </pc:sldMkLst>
      </pc:sldChg>
      <pc:sldChg chg="add setBg">
        <pc:chgData name="Chale Dodge" userId="dc0199a935818bc1" providerId="LiveId" clId="{91991F84-C581-4593-8D69-68EBBDE776F9}" dt="2026-05-25T14:39:15.146" v="0"/>
        <pc:sldMkLst>
          <pc:docMk/>
          <pc:sldMk cId="0" sldId="313"/>
        </pc:sldMkLst>
      </pc:sldChg>
      <pc:sldChg chg="add setBg">
        <pc:chgData name="Chale Dodge" userId="dc0199a935818bc1" providerId="LiveId" clId="{91991F84-C581-4593-8D69-68EBBDE776F9}" dt="2026-05-25T14:39:15.146" v="0"/>
        <pc:sldMkLst>
          <pc:docMk/>
          <pc:sldMk cId="0" sldId="314"/>
        </pc:sldMkLst>
      </pc:sldChg>
      <pc:sldChg chg="add setBg">
        <pc:chgData name="Chale Dodge" userId="dc0199a935818bc1" providerId="LiveId" clId="{91991F84-C581-4593-8D69-68EBBDE776F9}" dt="2026-05-25T14:39:15.146" v="0"/>
        <pc:sldMkLst>
          <pc:docMk/>
          <pc:sldMk cId="0" sldId="31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Confirm Scope &amp; 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Process Scope Confirmation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State it in one clear sentence (plain language, with a number).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34542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40682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8698" y="2304288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698" y="2743200"/>
            <a:ext cx="34542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END EVENT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2139696"/>
            <a:ext cx="371033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7316" y="2139696"/>
            <a:ext cx="371033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5332" y="2304288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5332" y="2743200"/>
            <a:ext cx="34542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191256"/>
            <a:ext cx="56203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LANES (ROLES / SYSTEMS)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3520439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Oval 29"/>
          <p:cNvSpPr/>
          <p:nvPr/>
        </p:nvSpPr>
        <p:spPr>
          <a:xfrm>
            <a:off x="384048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58183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2" name="Oval 31"/>
          <p:cNvSpPr/>
          <p:nvPr/>
        </p:nvSpPr>
        <p:spPr>
          <a:xfrm>
            <a:off x="384048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3995927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3191256"/>
            <a:ext cx="56203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OUT OF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7287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187287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3591" y="3520439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Oval 37"/>
          <p:cNvSpPr/>
          <p:nvPr/>
        </p:nvSpPr>
        <p:spPr>
          <a:xfrm>
            <a:off x="6187287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3591" y="3758183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0" name="Oval 39"/>
          <p:cNvSpPr/>
          <p:nvPr/>
        </p:nvSpPr>
        <p:spPr>
          <a:xfrm>
            <a:off x="6187287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3591" y="3995927"/>
            <a:ext cx="54557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Map the As-Is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As-Is Swimlane + Task Inventory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371600"/>
            <a:ext cx="1554480" cy="87782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4447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8528" y="1371600"/>
            <a:ext cx="986911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2286000"/>
            <a:ext cx="1554480" cy="87782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3591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Onboarding 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2286000"/>
            <a:ext cx="9869119" cy="877824"/>
          </a:xfrm>
          <a:prstGeom prst="rect">
            <a:avLst/>
          </a:prstGeom>
          <a:solidFill>
            <a:srgbClr val="F2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3200400"/>
            <a:ext cx="1554480" cy="87782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2735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3200400"/>
            <a:ext cx="986911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" y="4114800"/>
            <a:ext cx="1554480" cy="87782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4187952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Core Banking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38528" y="4114800"/>
            <a:ext cx="9869119" cy="877824"/>
          </a:xfrm>
          <a:prstGeom prst="rect">
            <a:avLst/>
          </a:prstGeom>
          <a:solidFill>
            <a:srgbClr val="F2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48256" y="32918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48256" y="32918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57984" y="334670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&lt;task&gt;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57984" y="3730752"/>
            <a:ext cx="370967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57984" y="3721608"/>
            <a:ext cx="37096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&lt;dur&gt;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41648" y="23774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041648" y="23774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51376" y="243230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&lt;task&gt;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51376" y="2816352"/>
            <a:ext cx="370967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51376" y="2807208"/>
            <a:ext cx="37096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&lt;dur&gt;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307238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896A0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42062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35040" y="42062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4261103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&lt;task&gt;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4645151"/>
            <a:ext cx="370967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44768" y="4636007"/>
            <a:ext cx="37096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&lt;dur&gt;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1304" y="352958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896A0"/>
                </a:solidFill>
                <a:latin typeface="Arial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2" y="3291840"/>
            <a:ext cx="1828800" cy="69494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28432" y="3291840"/>
            <a:ext cx="45720" cy="69494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0" y="334670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4283F"/>
                </a:solidFill>
                <a:latin typeface="Arial"/>
              </a:rPr>
              <a:t>&lt;task&gt;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730752"/>
            <a:ext cx="370967" cy="20116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60" y="3721608"/>
            <a:ext cx="37096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&lt;dur&gt;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54696" y="398678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8896A0"/>
                </a:solidFill>
                <a:latin typeface="Arial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Identify Pain Points &amp; Value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Pain Point Register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5303" y="1828800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5303" y="1819656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425696"/>
            <a:ext cx="4185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416552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5303" y="4425696"/>
            <a:ext cx="418592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5303" y="4416552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303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02  ·  Process Mapping &amp; BPMN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Design the To-Be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To-Be Change Summary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371600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8999" y="1371600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5303" y="14996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5303" y="1828800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5303" y="1819656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21031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5303" y="2372868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4048" y="3968496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425696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416552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8999" y="3968496"/>
            <a:ext cx="5638647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68999" y="3968496"/>
            <a:ext cx="5638647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15303" y="4096511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&lt;item&gt;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15303" y="4425696"/>
            <a:ext cx="4185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5303" y="4416552"/>
            <a:ext cx="418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&lt;tag&gt;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303" y="4700016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303" y="4969764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02  ·  BPMN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BPMN — the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The shapes you use to map the As-Is and design the To-Be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BPMN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★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FLOW OBJECTS —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2388108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2342388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Start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543556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Begins the process (the trigger)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" y="3909059"/>
            <a:ext cx="347472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1446" y="3968130"/>
            <a:ext cx="229331" cy="22933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386333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Intermediate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064508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Something happens mid-flow (timer / message)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" y="5430012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5384292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End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585460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Ends the process (the outcome)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82696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82696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2424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ACTIVITIES &amp; GATEWAYS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2216277"/>
            <a:ext cx="621792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23944" y="215226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944" y="2353437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single unit of work, in one lane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2" y="3356991"/>
            <a:ext cx="621792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11880" y="3512439"/>
            <a:ext cx="219456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23944" y="3292983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Sub-process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23944" y="3494151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collapsed set of tasks (+)</a:t>
            </a:r>
          </a:p>
        </p:txBody>
      </p:sp>
      <p:sp>
        <p:nvSpPr>
          <p:cNvPr id="35" name="Diamond 34"/>
          <p:cNvSpPr/>
          <p:nvPr/>
        </p:nvSpPr>
        <p:spPr>
          <a:xfrm>
            <a:off x="3529584" y="4461129"/>
            <a:ext cx="384048" cy="38404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0E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9584" y="4451985"/>
            <a:ext cx="384048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6E80"/>
                </a:solidFill>
                <a:latin typeface="Arial"/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3944" y="4433697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Exclusive gateway (XOR)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23944" y="4634865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One path only — a decision</a:t>
            </a:r>
          </a:p>
        </p:txBody>
      </p:sp>
      <p:sp>
        <p:nvSpPr>
          <p:cNvPr id="39" name="Diamond 38"/>
          <p:cNvSpPr/>
          <p:nvPr/>
        </p:nvSpPr>
        <p:spPr>
          <a:xfrm>
            <a:off x="3529584" y="5601843"/>
            <a:ext cx="384048" cy="38404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0E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29584" y="5592699"/>
            <a:ext cx="384048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6E80"/>
                </a:solidFill>
                <a:latin typeface="Arial"/>
              </a:rP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23944" y="5574411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Parallel gateway (AND)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23944" y="5775579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All paths run at once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08192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CONNECTING OBJECTS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99632" y="2561844"/>
            <a:ext cx="621792" cy="0"/>
          </a:xfrm>
          <a:prstGeom prst="line">
            <a:avLst/>
          </a:prstGeom>
          <a:ln w="2032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6793992" y="2497836"/>
            <a:ext cx="137160" cy="128016"/>
          </a:xfrm>
          <a:prstGeom prst="triangl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0" y="2342388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Sequence 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2543556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Order of steps within a lane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9632" y="4082796"/>
            <a:ext cx="621792" cy="0"/>
          </a:xfrm>
          <a:prstGeom prst="line">
            <a:avLst/>
          </a:prstGeom>
          <a:ln w="2032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6793992" y="4018787"/>
            <a:ext cx="137160" cy="128016"/>
          </a:xfrm>
          <a:prstGeom prst="triangle">
            <a:avLst/>
          </a:prstGeom>
          <a:solidFill>
            <a:srgbClr val="5B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49440" y="386333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Message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064508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message between pools (dashed)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199632" y="5603748"/>
            <a:ext cx="694944" cy="0"/>
          </a:xfrm>
          <a:prstGeom prst="line">
            <a:avLst/>
          </a:prstGeom>
          <a:ln w="1651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49440" y="5384292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Association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5585460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Links a note or data to a step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33688" y="1417320"/>
            <a:ext cx="2697480" cy="4946904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933688" y="1417320"/>
            <a:ext cx="2697480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43416" y="1435608"/>
            <a:ext cx="25146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 i="0">
                <a:solidFill>
                  <a:srgbClr val="FFFFFF"/>
                </a:solidFill>
                <a:latin typeface="Arial"/>
              </a:rPr>
              <a:t>SWIMLANES &amp; 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06840" y="2197989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42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006840" y="2197989"/>
            <a:ext cx="118872" cy="34747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74936" y="2152269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Pool / Lane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74936" y="2353437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Participant (pool); role or system (lane)</a:t>
            </a:r>
          </a:p>
        </p:txBody>
      </p:sp>
      <p:sp>
        <p:nvSpPr>
          <p:cNvPr id="64" name="Folded Corner 63"/>
          <p:cNvSpPr/>
          <p:nvPr/>
        </p:nvSpPr>
        <p:spPr>
          <a:xfrm>
            <a:off x="9171432" y="3320415"/>
            <a:ext cx="402336" cy="384048"/>
          </a:xfrm>
          <a:prstGeom prst="foldedCorner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74936" y="3292983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Data object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74936" y="3494151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Data a step consumes or produces</a:t>
            </a:r>
          </a:p>
        </p:txBody>
      </p:sp>
      <p:sp>
        <p:nvSpPr>
          <p:cNvPr id="67" name="Can 66"/>
          <p:cNvSpPr/>
          <p:nvPr/>
        </p:nvSpPr>
        <p:spPr>
          <a:xfrm>
            <a:off x="9171432" y="4461129"/>
            <a:ext cx="420624" cy="384048"/>
          </a:xfrm>
          <a:prstGeom prst="can">
            <a:avLst/>
          </a:prstGeom>
          <a:solidFill>
            <a:srgbClr val="FFFFFF"/>
          </a:solidFill>
          <a:ln w="1524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774936" y="4433697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Data store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74936" y="4634865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 system of record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116568" y="5638419"/>
            <a:ext cx="0" cy="310896"/>
          </a:xfrm>
          <a:prstGeom prst="line">
            <a:avLst/>
          </a:prstGeom>
          <a:ln w="1778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116568" y="5638419"/>
            <a:ext cx="73152" cy="0"/>
          </a:xfrm>
          <a:prstGeom prst="line">
            <a:avLst/>
          </a:prstGeom>
          <a:ln w="1778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116568" y="5949315"/>
            <a:ext cx="73152" cy="0"/>
          </a:xfrm>
          <a:prstGeom prst="line">
            <a:avLst/>
          </a:prstGeom>
          <a:ln w="17780">
            <a:solidFill>
              <a:srgbClr val="5B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262872" y="5693283"/>
            <a:ext cx="457200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B6B75"/>
                </a:solidFill>
                <a:latin typeface="Arial"/>
              </a:rPr>
              <a:t>abc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74936" y="5574411"/>
            <a:ext cx="17647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14283F"/>
                </a:solidFill>
                <a:latin typeface="Arial"/>
              </a:rPr>
              <a:t>Text annotation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74936" y="5775579"/>
            <a:ext cx="176479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B6B75"/>
                </a:solidFill>
                <a:latin typeface="Arial"/>
              </a:rPr>
              <a:t>An explanatory note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6592824"/>
            <a:ext cx="1133856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Rules of thumb: one start &amp; one end per pool · gateways balance (split = join) · every task in exactly one lane.  Notation: BPMN 2.0 (OMG).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"/>
            <a:ext cx="11274552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4283F"/>
                </a:solidFill>
                <a:latin typeface="Arial"/>
              </a:rPr>
              <a:t>As-Is and To-Be Process Models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74552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5B6B75"/>
                </a:solidFill>
                <a:latin typeface="Arial"/>
              </a:rPr>
              <a:t>Silver tier  ·  Delivery-grade depth  ·  Buildable from these models  ·  Roles, systems, controls, measures all explicit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87552"/>
            <a:ext cx="868680" cy="256032"/>
          </a:xfrm>
          <a:prstGeom prst="round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82980"/>
            <a:ext cx="86868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SILVER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5541264" cy="4956048"/>
          </a:xfrm>
          <a:prstGeom prst="rect">
            <a:avLst/>
          </a:prstGeom>
          <a:solidFill>
            <a:srgbClr val="F6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0488" y="1389888"/>
            <a:ext cx="5541264" cy="4956048"/>
          </a:xfrm>
          <a:prstGeom prst="rect">
            <a:avLst/>
          </a:prstGeom>
          <a:solidFill>
            <a:srgbClr val="EFF4FB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5541264" cy="365760"/>
          </a:xfrm>
          <a:prstGeom prst="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408176"/>
            <a:ext cx="526694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AS-IS PROCESS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389888"/>
            <a:ext cx="5541264" cy="36576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08176"/>
            <a:ext cx="5266944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TO-BE PROCESS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1865376"/>
            <a:ext cx="5248655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1956816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SECTION 1 — AS-IS PROCESS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139696"/>
            <a:ext cx="50291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Each major flow with role swim-lanes, system touchpoints, decision points and pain points annotated. Multiple flows where scope spans processes.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578608"/>
            <a:ext cx="502919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89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587752"/>
            <a:ext cx="4846319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B6B75"/>
                </a:solidFill>
                <a:latin typeface="Arial"/>
              </a:rPr>
              <a:t>[ Swim-lane process flow with system touchpoints and pain points marked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825496"/>
            <a:ext cx="484631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1">
                <a:solidFill>
                  <a:srgbClr val="9FB6C2"/>
                </a:solidFill>
                <a:latin typeface="Arial"/>
              </a:rPr>
              <a:t>Roles down the side · steps left to right · systems above each 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91840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SECTION 2 — ROLES &amp; RESPONSIBILITIES (RACI)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666744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3653028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657600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Responsible — does the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" y="3922776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" y="3909060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3632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Accountable — single named person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178808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" y="4165092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169664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Consulted — input before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4434840"/>
            <a:ext cx="182880" cy="182880"/>
          </a:xfrm>
          <a:prstGeom prst="roundRect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" y="4421124"/>
            <a:ext cx="18288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425696"/>
            <a:ext cx="2139696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Informed — notified 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4700016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One Accountable per activity. Multiple Rs OK.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SECTION 3 — DATA SOURCES</a:t>
            </a:r>
          </a:p>
        </p:txBody>
      </p:sp>
      <p:sp>
        <p:nvSpPr>
          <p:cNvPr id="35" name="Oval 34"/>
          <p:cNvSpPr/>
          <p:nvPr/>
        </p:nvSpPr>
        <p:spPr>
          <a:xfrm>
            <a:off x="3383280" y="3712463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11296" y="3657600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Data entities consumed</a:t>
            </a:r>
          </a:p>
        </p:txBody>
      </p:sp>
      <p:sp>
        <p:nvSpPr>
          <p:cNvPr id="37" name="Oval 36"/>
          <p:cNvSpPr/>
          <p:nvPr/>
        </p:nvSpPr>
        <p:spPr>
          <a:xfrm>
            <a:off x="3383280" y="3931920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11296" y="3877056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Data entities produced</a:t>
            </a:r>
          </a:p>
        </p:txBody>
      </p:sp>
      <p:sp>
        <p:nvSpPr>
          <p:cNvPr id="39" name="Oval 38"/>
          <p:cNvSpPr/>
          <p:nvPr/>
        </p:nvSpPr>
        <p:spPr>
          <a:xfrm>
            <a:off x="3383280" y="4151376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11296" y="4096512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Owner system / source of truth</a:t>
            </a:r>
          </a:p>
        </p:txBody>
      </p:sp>
      <p:sp>
        <p:nvSpPr>
          <p:cNvPr id="41" name="Oval 40"/>
          <p:cNvSpPr/>
          <p:nvPr/>
        </p:nvSpPr>
        <p:spPr>
          <a:xfrm>
            <a:off x="3383280" y="4370831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11296" y="4315968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Format and cadence</a:t>
            </a:r>
          </a:p>
        </p:txBody>
      </p:sp>
      <p:sp>
        <p:nvSpPr>
          <p:cNvPr id="43" name="Oval 42"/>
          <p:cNvSpPr/>
          <p:nvPr/>
        </p:nvSpPr>
        <p:spPr>
          <a:xfrm>
            <a:off x="3383280" y="4590288"/>
            <a:ext cx="64008" cy="64008"/>
          </a:xfrm>
          <a:prstGeom prst="ellipse">
            <a:avLst/>
          </a:prstGeom>
          <a:solidFill>
            <a:srgbClr val="536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11296" y="4535424"/>
            <a:ext cx="2267712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Manual handoffs flagged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7365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Cross-refs the As-Is/To-Be foundation doc.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4974336"/>
            <a:ext cx="5248655" cy="7863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2" y="5065775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536380"/>
                </a:solidFill>
                <a:latin typeface="Arial"/>
              </a:rPr>
              <a:t>PAIN POINT ANNOTATIONS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248655"/>
            <a:ext cx="502919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Every pain point pinned to the exact step where it occurs — red-numbered (P1, P2 …) on the diagram with a key listing each one.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36792" y="1865376"/>
            <a:ext cx="5248655" cy="12984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1956816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SECTION 4 — TO-BE PROCESS MODELS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2139696"/>
            <a:ext cx="50291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Future flows at the same depth as As-Is so they compare directly. Role changes, system changes and automation introduced are all explicit.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46520" y="2578608"/>
            <a:ext cx="502919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59" y="2651760"/>
            <a:ext cx="4846319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B6B75"/>
                </a:solidFill>
                <a:latin typeface="Arial"/>
              </a:rPr>
              <a:t>[ To-Be swim-lane with new roles, automated steps and controls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59" y="2871216"/>
            <a:ext cx="484631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1">
                <a:solidFill>
                  <a:srgbClr val="9FB6C2"/>
                </a:solidFill>
                <a:latin typeface="Arial"/>
              </a:rPr>
              <a:t>New steps in </a:t>
            </a:r>
            <a:r>
              <a:rPr sz="760" b="1" i="0">
                <a:solidFill>
                  <a:srgbClr val="1789A0"/>
                </a:solidFill>
                <a:latin typeface="Arial"/>
              </a:rPr>
              <a:t>teal</a:t>
            </a:r>
            <a:r>
              <a:rPr sz="760" b="0" i="1">
                <a:solidFill>
                  <a:srgbClr val="9FB6C2"/>
                </a:solidFill>
                <a:latin typeface="Arial"/>
              </a:rPr>
              <a:t> · Automated in light teal · Removed shown in grey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36792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025128" y="3273552"/>
            <a:ext cx="2560320" cy="159105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28231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SECTION 5 — SYSTEM INTERACTIONS</a:t>
            </a:r>
          </a:p>
        </p:txBody>
      </p:sp>
      <p:sp>
        <p:nvSpPr>
          <p:cNvPr id="58" name="Oval 57"/>
          <p:cNvSpPr/>
          <p:nvPr/>
        </p:nvSpPr>
        <p:spPr>
          <a:xfrm>
            <a:off x="6428231" y="3712463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56248" y="3657600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APIs invoked, sequence, payload</a:t>
            </a:r>
          </a:p>
        </p:txBody>
      </p:sp>
      <p:sp>
        <p:nvSpPr>
          <p:cNvPr id="60" name="Oval 59"/>
          <p:cNvSpPr/>
          <p:nvPr/>
        </p:nvSpPr>
        <p:spPr>
          <a:xfrm>
            <a:off x="6428231" y="395020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56248" y="3895344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Synchronous vs asynchronous</a:t>
            </a:r>
          </a:p>
        </p:txBody>
      </p:sp>
      <p:sp>
        <p:nvSpPr>
          <p:cNvPr id="62" name="Oval 61"/>
          <p:cNvSpPr/>
          <p:nvPr/>
        </p:nvSpPr>
        <p:spPr>
          <a:xfrm>
            <a:off x="6428231" y="418795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56248" y="4133087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Error handling and retries</a:t>
            </a:r>
          </a:p>
        </p:txBody>
      </p:sp>
      <p:sp>
        <p:nvSpPr>
          <p:cNvPr id="64" name="Oval 63"/>
          <p:cNvSpPr/>
          <p:nvPr/>
        </p:nvSpPr>
        <p:spPr>
          <a:xfrm>
            <a:off x="6428231" y="4425696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56248" y="4370832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Where data is mastered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8231" y="464515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Enough detail for a team to estimate from.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16568" y="336499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SECTION 6 — CONTROLS &amp; MEASURES</a:t>
            </a:r>
          </a:p>
        </p:txBody>
      </p:sp>
      <p:sp>
        <p:nvSpPr>
          <p:cNvPr id="68" name="Oval 67"/>
          <p:cNvSpPr/>
          <p:nvPr/>
        </p:nvSpPr>
        <p:spPr>
          <a:xfrm>
            <a:off x="9116568" y="3712463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44584" y="3657600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Operational metric capture points</a:t>
            </a:r>
          </a:p>
        </p:txBody>
      </p:sp>
      <p:sp>
        <p:nvSpPr>
          <p:cNvPr id="70" name="Oval 69"/>
          <p:cNvSpPr/>
          <p:nvPr/>
        </p:nvSpPr>
        <p:spPr>
          <a:xfrm>
            <a:off x="9116568" y="395020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44584" y="3895344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Quality control gates</a:t>
            </a:r>
          </a:p>
        </p:txBody>
      </p:sp>
      <p:sp>
        <p:nvSpPr>
          <p:cNvPr id="72" name="Oval 71"/>
          <p:cNvSpPr/>
          <p:nvPr/>
        </p:nvSpPr>
        <p:spPr>
          <a:xfrm>
            <a:off x="9116568" y="418795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44584" y="4133087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Compliance checkpoints</a:t>
            </a:r>
          </a:p>
        </p:txBody>
      </p:sp>
      <p:sp>
        <p:nvSpPr>
          <p:cNvPr id="74" name="Oval 73"/>
          <p:cNvSpPr/>
          <p:nvPr/>
        </p:nvSpPr>
        <p:spPr>
          <a:xfrm>
            <a:off x="9116568" y="4425696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44584" y="4370832"/>
            <a:ext cx="226771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21313D"/>
                </a:solidFill>
                <a:latin typeface="Arial"/>
              </a:rPr>
              <a:t>Exception escalation paths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16568" y="4645152"/>
            <a:ext cx="237743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5B6B75"/>
                </a:solidFill>
                <a:latin typeface="Arial"/>
              </a:rPr>
              <a:t>Measures map to the Project Vision targets.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36792" y="4974336"/>
            <a:ext cx="5248655" cy="7863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46520" y="5065775"/>
            <a:ext cx="5029199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283F"/>
                </a:solidFill>
                <a:latin typeface="Arial"/>
              </a:rPr>
              <a:t>SIDE-BY-SIDE COMPARISON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5248655"/>
            <a:ext cx="502919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21313D"/>
                </a:solidFill>
                <a:latin typeface="Arial"/>
              </a:rPr>
              <a:t>The acid test: a stakeholder seeing As-Is and To-Be side by side should clearly see the improvement. Same step / handoff / role count means it was drawn, not designed.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6419088"/>
            <a:ext cx="11274552" cy="36576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57200" y="6419088"/>
            <a:ext cx="82296" cy="3657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0080" y="6455664"/>
            <a:ext cx="237744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PURPOSE OF THE TEMPLATE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26080" y="6455664"/>
            <a:ext cx="8686800" cy="29260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E7F1F5"/>
                </a:solidFill>
                <a:latin typeface="Arial"/>
              </a:rPr>
              <a:t>Buildable process designs · Same depth As-Is and To-Be · Pain points and controls explicit · Side-by-side comparison defensible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02  ·  STEP 2  ·  MAP THE AS-IS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As-Is Process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Map the current flow — one box per task, in its 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YOUR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★ STEP 2 · AS-IS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417320" cy="37490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A&gt;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1417320"/>
            <a:ext cx="985723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837944"/>
            <a:ext cx="1417320" cy="37490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865376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B&gt;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1837944"/>
            <a:ext cx="9857232" cy="374904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258568"/>
            <a:ext cx="1417320" cy="374904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C&gt;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258568"/>
            <a:ext cx="985723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679192"/>
            <a:ext cx="1417320" cy="374904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06624"/>
            <a:ext cx="1252728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D&gt;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2679192"/>
            <a:ext cx="9857232" cy="374904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020824" y="1463040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20824" y="1463040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30552" y="1495044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&lt;task 1&gt;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&lt;dur · vol&gt;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7931" y="1371600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7931" y="1367028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57700" y="1883664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57700" y="1883664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67428" y="1915668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&lt;task 2&gt;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&lt;dur · vol&gt;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93107" y="1613916"/>
            <a:ext cx="164593" cy="420624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64807" y="1792224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7" y="1787652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94575" y="2304288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94575" y="2304288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04303" y="2336292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&lt;task 3&gt;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&lt;dur · vol&gt;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29983" y="2034540"/>
            <a:ext cx="164592" cy="420624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01684" y="2212848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01684" y="2208276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31451" y="2724912"/>
            <a:ext cx="2272283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331451" y="2724912"/>
            <a:ext cx="45720" cy="3017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41179" y="2756916"/>
            <a:ext cx="2089403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&lt;task 4&gt;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630" b="0" i="0">
                <a:solidFill>
                  <a:srgbClr val="5B6B75"/>
                </a:solidFill>
                <a:latin typeface="Arial"/>
              </a:rPr>
              <a:t>&lt;dur · vol&gt;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66859" y="2455164"/>
            <a:ext cx="164592" cy="420624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1338559" y="2633472"/>
            <a:ext cx="265176" cy="182880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338559" y="2628900"/>
            <a:ext cx="265176" cy="19202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1" i="0">
                <a:solidFill>
                  <a:srgbClr val="FFFFFF"/>
                </a:solidFill>
                <a:latin typeface="Arial"/>
              </a:rPr>
              <a:t>P4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145536"/>
            <a:ext cx="1127455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9655B"/>
                </a:solidFill>
                <a:latin typeface="Arial"/>
              </a:rPr>
              <a:t>Pain key:  </a:t>
            </a:r>
            <a:r>
              <a:rPr sz="800" b="0" i="0">
                <a:solidFill>
                  <a:srgbClr val="5B6B75"/>
                </a:solidFill>
                <a:latin typeface="Arial"/>
              </a:rPr>
              <a:t>P1 … Pn pinned to the step where each occurs — full detail in the Pain Point Register.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364992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536380"/>
                </a:solidFill>
                <a:latin typeface="Arial"/>
              </a:rPr>
              <a:t>ROLES &amp; RESPONSIBILITIES — RACI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57200" y="3566160"/>
          <a:ext cx="11274549" cy="1211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5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R — Responsible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A — Accountable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C — Consulted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I — Informed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&lt;activity 1&gt;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&lt;role&gt;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&lt;advisor&gt;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&lt;exec&gt;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&lt;activity 2&gt;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&lt;role&gt;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&lt;advisor&gt;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&lt;exec&gt;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&lt;activity 3&gt;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&lt;role&gt;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&lt;advisor&gt;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&lt;exec&gt;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14283F"/>
                          </a:solidFill>
                          <a:latin typeface="Arial"/>
                        </a:rPr>
                        <a:t>&lt;activity 4&gt;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&lt;role&gt;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&lt;advisor&gt;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21313D"/>
                          </a:solidFill>
                          <a:latin typeface="Arial"/>
                        </a:rPr>
                        <a:t>&lt;exec&gt;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457200" y="4901184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536380"/>
                </a:solidFill>
                <a:latin typeface="Arial"/>
              </a:rPr>
              <a:t>DATA SOURCES — PER STEP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457200" y="5102352"/>
          <a:ext cx="11274550" cy="1211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1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3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Consumes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Produces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Owner system / SoT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Format &amp; cadence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Manual?</a:t>
                      </a:r>
                    </a:p>
                  </a:txBody>
                  <a:tcPr marL="45720" marR="27432" marT="13716" marB="13716" anchor="ctr">
                    <a:solidFill>
                      <a:srgbClr val="536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1&gt;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&lt;consumed&gt;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&lt;produced&gt;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&lt;system / SoT&gt;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&lt;format · cadence&gt;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&lt;Y/N&gt;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2&gt;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&lt;consumed&gt;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&lt;produced&gt;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&lt;system / SoT&gt;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&lt;format · cadence&gt;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&lt;Y/N&gt;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3&gt;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&lt;consumed&gt;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&lt;produced&gt;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&lt;system / SoT&gt;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&lt;format · cadence&gt;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&lt;Y/N&gt;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4&gt;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&lt;consumed&gt;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&lt;produced&gt;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&lt;system / SoT&gt;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&lt;format · cadence&gt;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&lt;Y/N&gt;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592824"/>
            <a:ext cx="822960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BAS · PROCESS MODELS · SILVER TIER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85455" y="6592824"/>
            <a:ext cx="384048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9FB6C2"/>
                </a:solidFill>
                <a:latin typeface="Arial"/>
              </a:rPr>
              <a:t>YOUR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ow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02  ·  STEP 4  ·  DESIGN THE TO-BE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To-Be Process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The designed future flow — automation, controls,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YOUR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★ STEP 4 · TO-BE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417320" cy="32004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A&gt;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1417320"/>
            <a:ext cx="985723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417320" cy="320040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81051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B&gt;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1783080"/>
            <a:ext cx="9857232" cy="320040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148840"/>
            <a:ext cx="1417320" cy="320040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17627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C&gt;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148840"/>
            <a:ext cx="985723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14600"/>
            <a:ext cx="1417320" cy="320040"/>
          </a:xfrm>
          <a:prstGeom prst="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542032"/>
            <a:ext cx="12527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&lt;Role / system D&gt;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2514600"/>
            <a:ext cx="9857232" cy="320040"/>
          </a:xfrm>
          <a:prstGeom prst="rect">
            <a:avLst/>
          </a:prstGeom>
          <a:solidFill>
            <a:srgbClr val="F2F8FA"/>
          </a:solidFill>
          <a:ln w="9525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020824" y="1463040"/>
            <a:ext cx="2272283" cy="24688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20824" y="146304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30552" y="149504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&lt;future step 1&gt;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7700" y="1828800"/>
            <a:ext cx="2272283" cy="246888"/>
          </a:xfrm>
          <a:prstGeom prst="roundRect">
            <a:avLst/>
          </a:prstGeom>
          <a:solidFill>
            <a:srgbClr val="B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57700" y="182880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7428" y="186080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&lt;future step 2&gt;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93107" y="1586484"/>
            <a:ext cx="164593" cy="365759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94575" y="2194560"/>
            <a:ext cx="2272283" cy="24688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94575" y="219456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04303" y="222656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&lt;future step 3&gt;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29983" y="1952243"/>
            <a:ext cx="164592" cy="365761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331451" y="2560320"/>
            <a:ext cx="2272283" cy="246888"/>
          </a:xfrm>
          <a:prstGeom prst="roundRect">
            <a:avLst/>
          </a:prstGeom>
          <a:solidFill>
            <a:srgbClr val="B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31451" y="2560320"/>
            <a:ext cx="45720" cy="246888"/>
          </a:xfrm>
          <a:prstGeom prst="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41179" y="2592324"/>
            <a:ext cx="2089403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21313D"/>
                </a:solidFill>
                <a:latin typeface="Arial"/>
              </a:rPr>
              <a:t>&lt;future step 4&gt;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66859" y="2318004"/>
            <a:ext cx="164592" cy="365759"/>
          </a:xfrm>
          <a:prstGeom prst="line">
            <a:avLst/>
          </a:prstGeom>
          <a:ln w="15240">
            <a:solidFill>
              <a:srgbClr val="8896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66928" y="2962656"/>
            <a:ext cx="146304" cy="1463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8096" y="2939796"/>
            <a:ext cx="1828800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4283F"/>
                </a:solidFill>
                <a:latin typeface="Arial"/>
              </a:rPr>
              <a:t>New step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8216" y="2962656"/>
            <a:ext cx="146304" cy="146304"/>
          </a:xfrm>
          <a:prstGeom prst="rect">
            <a:avLst/>
          </a:prstGeom>
          <a:solidFill>
            <a:srgbClr val="BF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29384" y="2939796"/>
            <a:ext cx="1828800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4283F"/>
                </a:solidFill>
                <a:latin typeface="Arial"/>
              </a:rPr>
              <a:t>Automated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58084" y="2962656"/>
            <a:ext cx="146304" cy="146304"/>
          </a:xfrm>
          <a:prstGeom prst="rect">
            <a:avLst/>
          </a:prstGeom>
          <a:solidFill>
            <a:srgbClr val="D9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59252" y="2939796"/>
            <a:ext cx="1828800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4283F"/>
                </a:solidFill>
                <a:latin typeface="Arial"/>
              </a:rPr>
              <a:t>Removed / eliminated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218688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SYSTEM INTERACTIONS — PER TO-BE STEP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457200" y="3419856"/>
          <a:ext cx="11274550" cy="1165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To-Be step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Integration / API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Error handling &amp; retries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Data mastered in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1&gt;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&lt;API / integration&gt;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&lt;sync/async&gt;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&lt;error handling&gt;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&lt;data mastered in&gt;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2&gt;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&lt;API / integration&gt;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&lt;sync/async&gt;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&lt;error handling&gt;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&lt;data mastered in&gt;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3&gt;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&lt;API / integration&gt;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&lt;sync/async&gt;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&lt;error handling&gt;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&lt;data mastered in&gt;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&lt;step 4&gt;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&lt;API / integration&gt;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&lt;sync/async&gt;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&lt;error handling&gt;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&lt;data mastered in&gt;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457200" y="4645152"/>
            <a:ext cx="11274552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CONTROLS &amp; MEASURES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4846320"/>
          <a:ext cx="11274549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9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3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Control point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What's measured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Maps to target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27432" marT="13716" marB="13716" anchor="ctr">
                    <a:solidFill>
                      <a:srgbClr val="14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&lt;control point&gt;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&lt;type&gt;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&lt;what's measured&gt;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&lt;target&gt;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&lt;control point&gt;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&lt;type&gt;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&lt;what's measured&gt;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&lt;target&gt;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&lt;control point&gt;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&lt;type&gt;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&lt;what's measured&gt;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&lt;target&gt;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4283F"/>
                          </a:solidFill>
                          <a:latin typeface="Arial"/>
                        </a:rPr>
                        <a:t>&lt;control point&gt;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&lt;type&gt;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&lt;what's measured&gt;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&lt;target&gt;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0">
                          <a:solidFill>
                            <a:srgbClr val="21313D"/>
                          </a:solidFill>
                          <a:latin typeface="Arial"/>
                        </a:rPr>
                        <a:t>&lt;owner&gt;</a:t>
                      </a:r>
                    </a:p>
                  </a:txBody>
                  <a:tcPr marL="45720" marR="27432" marT="9144" marB="9144" anchor="ctr">
                    <a:solidFill>
                      <a:srgbClr val="F2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Rounded Rectangle 48"/>
          <p:cNvSpPr/>
          <p:nvPr/>
        </p:nvSpPr>
        <p:spPr>
          <a:xfrm>
            <a:off x="457200" y="6071616"/>
            <a:ext cx="11274552" cy="420624"/>
          </a:xfrm>
          <a:prstGeom prst="roundRect">
            <a:avLst/>
          </a:prstGeom>
          <a:solidFill>
            <a:srgbClr val="E7F1F5"/>
          </a:solidFill>
          <a:ln w="1270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3504" y="6089903"/>
            <a:ext cx="2103120" cy="38404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E6E80"/>
                </a:solidFill>
                <a:latin typeface="Arial"/>
              </a:rPr>
              <a:t>SIDE-BY-SIDE</a:t>
            </a:r>
            <a:r>
              <a:rPr sz="750" b="0" i="0">
                <a:solidFill>
                  <a:srgbClr val="5B6B75"/>
                </a:solidFill>
                <a:latin typeface="Arial"/>
              </a:rPr>
              <a:t>
The acid 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STEPS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0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&lt;n → n&gt;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4658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HANDOFFS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4658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&lt;n → n&gt;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0356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CYCLE TIME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0356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&lt;base → target&gt;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6054" y="6108192"/>
            <a:ext cx="2064257" cy="16459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MANUAL COST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6054" y="6254496"/>
            <a:ext cx="2064257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1" i="0">
                <a:solidFill>
                  <a:srgbClr val="14283F"/>
                </a:solidFill>
                <a:latin typeface="Arial"/>
              </a:rPr>
              <a:t>&lt;$ → auto&gt;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6592824"/>
            <a:ext cx="822960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BAS · PROCESS MODELS · SILVER TIER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85455" y="6592824"/>
            <a:ext cx="3840480" cy="2286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9FB6C2"/>
                </a:solidFill>
                <a:latin typeface="Arial"/>
              </a:rPr>
              <a:t>YOUR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1491</Words>
  <Application>Microsoft Office PowerPoint</Application>
  <PresentationFormat>Widescreen</PresentationFormat>
  <Paragraphs>339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Chale Dodge</cp:lastModifiedBy>
  <cp:revision>1</cp:revision>
  <dcterms:created xsi:type="dcterms:W3CDTF">2013-01-27T09:14:16Z</dcterms:created>
  <dcterms:modified xsi:type="dcterms:W3CDTF">2026-05-25T14:40:15Z</dcterms:modified>
  <cp:category/>
</cp:coreProperties>
</file>