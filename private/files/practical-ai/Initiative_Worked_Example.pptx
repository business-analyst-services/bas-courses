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e Dodge" userId="dc0199a935818bc1" providerId="LiveId" clId="{91991F84-C581-4593-8D69-68EBBDE776F9}"/>
    <pc:docChg chg="delSld">
      <pc:chgData name="Chale Dodge" userId="dc0199a935818bc1" providerId="LiveId" clId="{91991F84-C581-4593-8D69-68EBBDE776F9}" dt="2026-05-25T14:37:00.936" v="0" actId="47"/>
      <pc:docMkLst>
        <pc:docMk/>
      </pc:docMkLst>
      <pc:sldChg chg="del">
        <pc:chgData name="Chale Dodge" userId="dc0199a935818bc1" providerId="LiveId" clId="{91991F84-C581-4593-8D69-68EBBDE776F9}" dt="2026-05-25T14:37:00.936" v="0" actId="47"/>
        <pc:sldMkLst>
          <pc:docMk/>
          <pc:sldMk cId="0" sldId="32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B5AF-D367-0B74-B477-07E8FA25E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CE2A7-5325-D956-7C9A-6F0E8873E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08847-81B6-3EC5-91BB-33CCFFF30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64B0A-A0BB-4614-E77B-3237F50E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31DB4-531D-FEA9-FC0E-47890AF8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4085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C9CEF-D5EA-F96E-53FB-816CBC31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AE6C7-D058-A44B-B624-716441616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04058-1174-725A-BBBF-62D73C01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C6D61-2817-0C28-4F06-5E04C94F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06F91-8D27-0928-96EC-9FEF3DA5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16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4AB5-6988-C727-9019-064C84DAB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E3601-B8C6-9797-8CFB-E1AA436AF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7F745-3072-FA5D-19C3-0A46C1D0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5C395-2E0A-445C-5431-CCA3D063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2584F-9AEC-FBB7-8F32-1EB66D88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19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86ED-893F-DD13-A6AD-837B8811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E042B-E840-8D43-1666-F210E1A48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ACAC7-8B8D-FBEB-A944-97A524BB2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3E0A3-36B6-E83B-F658-32B641CA8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AC52F-57CF-0B8C-9579-5369CDCE6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5CAF8-EF5B-4817-7E2A-12809F0E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885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7ACC-D7A1-6E3D-5D7E-4737694B3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EF40E-C842-13AE-091E-989B116E2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4F659-D7E0-61FF-03D4-0DE0413D5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453B9-6220-08C9-5606-4FAAAE749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F3533-B8EA-33D3-66A1-AF68B3132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BA88E-A420-000E-C853-B806AC83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B8664-83C4-1125-ED74-38B152B24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DF039-F0FE-0EA1-F50D-54818748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5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DDE0-96E3-070B-B143-C3E9605A0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C80FB-4EB3-4779-1921-D862D482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CC175-53FB-1F3E-AAB0-A08E65E8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AF080-4D46-7B7E-30BB-141FEFA4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06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02BC3-1DBF-F439-B1B5-52C9F420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2B7658-69E3-A1C3-73F5-8930F605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683D5-A078-7DF0-DD22-A040EA7C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A75A-CC73-657F-54B2-F87D509A9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E7401-5CF7-C1E5-410E-46819383C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478E5-CA3D-E888-656D-7EF2D7D36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530D4-69CC-E3B7-F47A-D0588E2D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B9DE8-43CD-553E-23EA-7E9F7B53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E04D6-871F-CE1E-7ED9-C73F9105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268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EE97-2D94-0E87-D311-155565F0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09A716-A3A4-4826-EE62-6E9EDFA7C4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94851-E327-4D13-B4F3-7D8840A96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8DA46-2535-AF11-D445-79CF51D7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E35F4-888C-E6E9-32A8-23DE8A38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3726C-5CD0-FF06-433C-1B869DB7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183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84DE-40A7-F50C-98D2-635040FA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15FAC-7CF2-2727-8114-27F668A32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1867A-F378-0B51-F851-26B5FE9F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E2963-581E-F92D-0FE6-CA09DA97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45B9C-86A3-47BB-D280-0BDB7916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73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DDEF8-C351-D3A1-10CA-E8AF8BED4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157EC-AEB4-EE07-59BA-6962E88B7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D0409-204D-FD05-33E2-76E1872A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937A7-94C1-E230-72BD-A2FC634A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4C9CD-A0C4-4FE6-B6DC-CC4FD141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057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25CFA-B475-01E0-640A-D9117DFD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11FD1-ABB0-C855-A581-C73107733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D9516-2FF6-AB27-1B76-EB4EACA66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65675-F11D-4C7B-9F1F-A85B1A42188F}" type="datetimeFigureOut">
              <a:rPr lang="en-AU" smtClean="0"/>
              <a:t>26/05/2026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CCBD-1708-569A-6C53-40B346A9A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C4D4A-1731-0470-B181-99342F57A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66603-0BC8-46D6-8740-F2644D16C2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621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2608" y="201168"/>
            <a:ext cx="475488" cy="475488"/>
          </a:xfrm>
          <a:prstGeom prst="ellipse">
            <a:avLst/>
          </a:prstGeom>
          <a:noFill/>
          <a:ln w="25400">
            <a:solidFill>
              <a:srgbClr val="178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6888" y="201168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4283F"/>
                </a:solidFill>
                <a:latin typeface="Arial"/>
              </a:rPr>
              <a:t>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182880"/>
            <a:ext cx="7680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900" b="1">
                <a:solidFill>
                  <a:srgbClr val="14283F"/>
                </a:solidFill>
                <a:latin typeface="Arial"/>
              </a:rPr>
              <a:t>Real-time customer onboarding for a digital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60350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5"/>
                </a:solidFill>
                <a:latin typeface="Arial"/>
              </a:rPr>
              <a:t>Reduce time-to-first-transaction from 14 days to under 5 days within 12 months and cut drop-off below 10%.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201168"/>
            <a:ext cx="3258007" cy="868680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732519" y="274320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rg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041" y="332841"/>
            <a:ext cx="175564" cy="1755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98280" y="310896"/>
            <a:ext cx="270936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0E6E80"/>
                </a:solidFill>
                <a:latin typeface="Arial"/>
              </a:rPr>
              <a:t>OUR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7384" y="603504"/>
            <a:ext cx="2983687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21313D"/>
                </a:solidFill>
                <a:latin typeface="Arial"/>
              </a:rPr>
              <a:t>New customer onboarding takes 14 days, causing a 22% drop-off before the first transaction.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1115568"/>
            <a:ext cx="267004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" y="113385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6E80"/>
                </a:solidFill>
                <a:latin typeface="Arial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133856"/>
            <a:ext cx="16642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~12 weeks (Discovery → Delivery)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72384" y="1115568"/>
            <a:ext cx="267004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82112" y="113385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6E80"/>
                </a:solidFill>
                <a:latin typeface="Arial"/>
              </a:rPr>
              <a:t>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2504" y="1133856"/>
            <a:ext cx="16642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BA-led · sponsor + SMEs · Fintech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115568"/>
            <a:ext cx="267004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61888" y="1133856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0E6E80"/>
                </a:solidFill>
                <a:latin typeface="Arial"/>
              </a:rP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133856"/>
            <a:ext cx="16642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Time-to-first-transaction: 14 days → 5 days within 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115568"/>
            <a:ext cx="325800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B6B75"/>
                </a:solidFill>
                <a:latin typeface="Arial"/>
              </a:rPr>
              <a:t>WHAT WILL BE DELIVERED AFTER DISCOVERY 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2608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5760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peop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45920"/>
            <a:ext cx="219456" cy="219456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766773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66773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1–2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Frame the problem &amp;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Map stakeholders to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Discovery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Stakeholder 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42261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242261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315413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flow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565" y="1645920"/>
            <a:ext cx="219456" cy="219456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3716426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16426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51989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Process &amp; BPMN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51989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3–4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51989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51989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Map As-Is, quantify leaks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51989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Design the To-Be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51989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1989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As-Is / To-Be BPMN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1989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Pain Point Register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91914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191914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4265066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218" y="1645920"/>
            <a:ext cx="219456" cy="219456"/>
          </a:xfrm>
          <a:prstGeom prst="rect">
            <a:avLst/>
          </a:prstGeom>
        </p:spPr>
      </p:pic>
      <p:sp>
        <p:nvSpPr>
          <p:cNvPr id="53" name="Oval 52"/>
          <p:cNvSpPr/>
          <p:nvPr/>
        </p:nvSpPr>
        <p:spPr>
          <a:xfrm>
            <a:off x="5666079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6079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01642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Data &amp; KPIs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01642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5–6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01642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1642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North Star &amp; KPI tree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01642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Run value-leak analysis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01642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01642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KPI Tree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01642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Value Leak Analysis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41567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141567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6214719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lis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7871" y="1645920"/>
            <a:ext cx="219456" cy="219456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7615732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615732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51295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Requirements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51295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7–8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51295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51295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Capture &amp; slice requirements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1295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AC &amp; traceability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51295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51295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Requirements Catalogue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1295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Stories + AC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91220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091220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8164372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0" name="Picture 79" descr="puzz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7524" y="1645920"/>
            <a:ext cx="219456" cy="219456"/>
          </a:xfrm>
          <a:prstGeom prst="rect">
            <a:avLst/>
          </a:prstGeom>
        </p:spPr>
      </p:pic>
      <p:sp>
        <p:nvSpPr>
          <p:cNvPr id="81" name="Oval 80"/>
          <p:cNvSpPr/>
          <p:nvPr/>
        </p:nvSpPr>
        <p:spPr>
          <a:xfrm>
            <a:off x="9565386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565386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00948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Solution &amp; Case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00948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9–10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00948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00948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Generate &amp; score options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00948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Size costs &amp; benefits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00948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00948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Options Matrix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00948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Business Case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40874" y="1463040"/>
            <a:ext cx="1858213" cy="1783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0040874" y="1463040"/>
            <a:ext cx="1858213" cy="54864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114026" y="1572768"/>
            <a:ext cx="365760" cy="365760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4" name="Picture 93" descr="rock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7178" y="1645920"/>
            <a:ext cx="219456" cy="219456"/>
          </a:xfrm>
          <a:prstGeom prst="rect">
            <a:avLst/>
          </a:prstGeom>
        </p:spPr>
      </p:pic>
      <p:sp>
        <p:nvSpPr>
          <p:cNvPr id="95" name="Oval 94"/>
          <p:cNvSpPr/>
          <p:nvPr/>
        </p:nvSpPr>
        <p:spPr>
          <a:xfrm>
            <a:off x="11515039" y="1591056"/>
            <a:ext cx="292608" cy="292608"/>
          </a:xfrm>
          <a:prstGeom prst="ellipse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515039" y="160020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50601" y="1975104"/>
            <a:ext cx="1638757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4283F"/>
                </a:solidFill>
                <a:latin typeface="Arial"/>
              </a:rPr>
              <a:t>Delivery &amp; Change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150601" y="2304288"/>
            <a:ext cx="1638757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20" b="1">
                <a:solidFill>
                  <a:srgbClr val="0E6E80"/>
                </a:solidFill>
                <a:latin typeface="Arial"/>
              </a:rPr>
              <a:t>Wk 11–12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50601" y="24688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FOCUS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50601" y="25968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Sequence delivery &amp; change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50601" y="2761488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789A0"/>
                </a:solidFill>
                <a:latin typeface="Arial"/>
              </a:rPr>
              <a:t>• </a:t>
            </a:r>
            <a:r>
              <a:rPr sz="680" b="0">
                <a:solidFill>
                  <a:srgbClr val="21313D"/>
                </a:solidFill>
                <a:latin typeface="Arial"/>
              </a:rPr>
              <a:t>Plan benefits realisation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50601" y="2926080"/>
            <a:ext cx="163875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1">
                <a:solidFill>
                  <a:srgbClr val="5B6B75"/>
                </a:solidFill>
                <a:latin typeface="Arial"/>
              </a:rPr>
              <a:t>DELIVERABLES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50601" y="3054096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Delivery Roadmap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50601" y="3200400"/>
            <a:ext cx="165704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680" b="1">
                <a:solidFill>
                  <a:srgbClr val="1F9D8B"/>
                </a:solidFill>
                <a:latin typeface="Arial"/>
              </a:rPr>
              <a:t>• </a:t>
            </a:r>
            <a:r>
              <a:rPr sz="680" b="1">
                <a:solidFill>
                  <a:srgbClr val="14283F"/>
                </a:solidFill>
                <a:latin typeface="Arial"/>
              </a:rPr>
              <a:t>Benefits Plan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92608" y="3346704"/>
            <a:ext cx="2819323" cy="1225296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20624" y="3438144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ENGAGEMENT / COST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0624" y="3639312"/>
            <a:ext cx="25632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5B6B75"/>
                </a:solidFill>
                <a:latin typeface="Arial"/>
              </a:rPr>
              <a:t>Rate:  </a:t>
            </a:r>
            <a:r>
              <a:rPr sz="740" b="0">
                <a:solidFill>
                  <a:srgbClr val="21313D"/>
                </a:solidFill>
                <a:latin typeface="Arial"/>
              </a:rPr>
              <a:t>$1,200 / day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0624" y="3803904"/>
            <a:ext cx="25632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5B6B75"/>
                </a:solidFill>
                <a:latin typeface="Arial"/>
              </a:rPr>
              <a:t>Cadence:  </a:t>
            </a:r>
            <a:r>
              <a:rPr sz="740" b="0">
                <a:solidFill>
                  <a:srgbClr val="21313D"/>
                </a:solidFill>
                <a:latin typeface="Arial"/>
              </a:rPr>
              <a:t>4 days / week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0624" y="3968496"/>
            <a:ext cx="256329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5B6B75"/>
                </a:solidFill>
                <a:latin typeface="Arial"/>
              </a:rPr>
              <a:t>Year-1 cost:  </a:t>
            </a:r>
            <a:r>
              <a:rPr sz="740" b="0">
                <a:solidFill>
                  <a:srgbClr val="21313D"/>
                </a:solidFill>
                <a:latin typeface="Arial"/>
              </a:rPr>
              <a:t>$480k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20624" y="4187952"/>
            <a:ext cx="2563291" cy="292608"/>
          </a:xfrm>
          <a:prstGeom prst="round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12064" y="4197096"/>
            <a:ext cx="24535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1">
                <a:solidFill>
                  <a:srgbClr val="23A6BC"/>
                </a:solidFill>
                <a:latin typeface="Arial"/>
              </a:rPr>
              <a:t>3-YR TOTAL  </a:t>
            </a:r>
            <a:r>
              <a:rPr sz="1200" b="1">
                <a:solidFill>
                  <a:srgbClr val="FFFFFF"/>
                </a:solidFill>
                <a:latin typeface="Arial"/>
              </a:rPr>
              <a:t>$820k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221659" y="3346704"/>
            <a:ext cx="281932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3221659" y="3346704"/>
            <a:ext cx="2819323" cy="45720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349675" y="3456432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ROI / BENEFITS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49675" y="3694176"/>
            <a:ext cx="16915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14283F"/>
                </a:solidFill>
                <a:latin typeface="Arial"/>
              </a:rPr>
              <a:t>Time-to-first-transaction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913254" y="3694176"/>
            <a:ext cx="9997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21313D"/>
                </a:solidFill>
                <a:latin typeface="Arial"/>
              </a:rPr>
              <a:t>14 days → 5 days within 12 months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49675" y="3968496"/>
            <a:ext cx="16915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14283F"/>
                </a:solidFill>
                <a:latin typeface="Arial"/>
              </a:rPr>
              <a:t>Annual benefit (Yr 2)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913254" y="3968496"/>
            <a:ext cx="9997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21313D"/>
                </a:solidFill>
                <a:latin typeface="Arial"/>
              </a:rPr>
              <a:t>$560k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49675" y="4242816"/>
            <a:ext cx="16915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1">
                <a:solidFill>
                  <a:srgbClr val="14283F"/>
                </a:solidFill>
                <a:latin typeface="Arial"/>
              </a:rPr>
              <a:t>NPV (3-yr) · payback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913254" y="4242816"/>
            <a:ext cx="99971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21313D"/>
                </a:solidFill>
                <a:latin typeface="Arial"/>
              </a:rPr>
              <a:t>$890k · 14 months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150711" y="3346704"/>
            <a:ext cx="2819323" cy="1225296"/>
          </a:xfrm>
          <a:prstGeom prst="roundRect">
            <a:avLst/>
          </a:prstGeom>
          <a:solidFill>
            <a:srgbClr val="F3FAF8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150711" y="3346704"/>
            <a:ext cx="54864" cy="12252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315303" y="3438144"/>
            <a:ext cx="254500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KEY INSIGHT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315303" y="3639312"/>
            <a:ext cx="250842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0">
                <a:solidFill>
                  <a:srgbClr val="21313D"/>
                </a:solidFill>
                <a:latin typeface="Arial"/>
              </a:rPr>
              <a:t>Most initiatives fail on the early decisions, not delivery. Reframing this as the decisions to be made — then running it through the chain — is what unlocks the outcome.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9079763" y="3346704"/>
            <a:ext cx="281932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079763" y="3346704"/>
            <a:ext cx="2819323" cy="45720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9207779" y="3456432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0E6E80"/>
                </a:solidFill>
                <a:latin typeface="Arial"/>
              </a:rPr>
              <a:t>RECOMMENDED OPTION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207779" y="3675888"/>
            <a:ext cx="256329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4283F"/>
                </a:solidFill>
                <a:latin typeface="Arial"/>
              </a:rPr>
              <a:t>Option B - Buy the SaaS ID-verification platform and integrate via middleware.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207779" y="4334256"/>
            <a:ext cx="25632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5B6B75"/>
                </a:solidFill>
                <a:latin typeface="Arial"/>
              </a:rPr>
              <a:t>Phased: MVP first, then scale.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2608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KEY ACTIVITIES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92608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292608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Sponsor &amp; stakeholder interviews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2608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SME process walkthroughs &amp; observation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92608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Data profiling &amp; benchmarks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21659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KEY STAKEHOLDERS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21659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3221659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Priya Singh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21659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Marcus Lee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21659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Compliance Director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21659" y="5458968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CFO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50711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KEY INPUTS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150711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6150711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Initiative brief &amp; problem statement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50711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Sponsor: Head of Customer Operations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50711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Process: Customer onboarding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50711" y="5458968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Constraints: PSD2/Open Banking, AML/KYC, PCI DSS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79763" y="4700016"/>
            <a:ext cx="281932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14283F"/>
                </a:solidFill>
                <a:latin typeface="Arial"/>
              </a:rPr>
              <a:t>EXPECTED OUTCOMES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079763" y="4901183"/>
            <a:ext cx="310896" cy="2011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079763" y="4992624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Decision Register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79763" y="5148072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To-Be process &amp; fixes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79763" y="5303520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One-page business case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79763" y="5458968"/>
            <a:ext cx="281932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760" b="1">
                <a:solidFill>
                  <a:srgbClr val="1789A0"/>
                </a:solidFill>
                <a:latin typeface="Arial"/>
              </a:rPr>
              <a:t>• </a:t>
            </a:r>
            <a:r>
              <a:rPr sz="760" b="0">
                <a:solidFill>
                  <a:srgbClr val="21313D"/>
                </a:solidFill>
                <a:latin typeface="Arial"/>
              </a:rPr>
              <a:t>Benefits realisation plan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292608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384048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5" name="Picture 154" descr="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69" y="5883249"/>
            <a:ext cx="175564" cy="175564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713232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Reduced delivery risk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242261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2333701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9" name="Picture 158" descr="gea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2222" y="5883249"/>
            <a:ext cx="175564" cy="175564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2662885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Operational efficiency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191914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4283354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3" name="Picture 162" descr="tren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1876" y="5883249"/>
            <a:ext cx="175564" cy="175564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4612538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Data-driven decisions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141567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6233007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7" name="Picture 166" descr="puzzl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529" y="5883249"/>
            <a:ext cx="175564" cy="175564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6562191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Scalable solution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8091220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8182660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1" name="Picture 170" descr="star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1182" y="5883249"/>
            <a:ext cx="175564" cy="175564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8511844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Lasting adoption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0040874" y="5760720"/>
            <a:ext cx="1858213" cy="420624"/>
          </a:xfrm>
          <a:prstGeom prst="roundRect">
            <a:avLst/>
          </a:prstGeom>
          <a:solidFill>
            <a:srgbClr val="F2F8FA"/>
          </a:solidFill>
          <a:ln w="1270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0132314" y="5824728"/>
            <a:ext cx="292608" cy="292608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" name="Picture 174" descr="peop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835" y="5883249"/>
            <a:ext cx="175564" cy="175564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10461498" y="5797296"/>
            <a:ext cx="140101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</a:pPr>
            <a:r>
              <a:rPr sz="740" b="1">
                <a:solidFill>
                  <a:srgbClr val="14283F"/>
                </a:solidFill>
                <a:latin typeface="Arial"/>
              </a:rPr>
              <a:t>Stronger outcomes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0" y="6327648"/>
            <a:ext cx="12191695" cy="53035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0" y="6327648"/>
            <a:ext cx="91440" cy="53035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82879" y="6437376"/>
            <a:ext cx="310896" cy="310896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0" name="Picture 179" descr="star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059" y="6499555"/>
            <a:ext cx="186537" cy="186537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658368" y="6382512"/>
            <a:ext cx="1043604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Approve $480k year-1 to cut onboarding from 14 to 5 days; NPV $890k, payback 14 months.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814255" y="6382512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23A6BC"/>
                </a:solidFill>
                <a:latin typeface="Arial"/>
              </a:rPr>
              <a:t>BAS · FINTECH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Widescreen</PresentationFormat>
  <Paragraphs>110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Chale Dodge</dc:creator>
  <cp:lastModifiedBy>Chale Dodge</cp:lastModifiedBy>
  <cp:revision>1</cp:revision>
  <dcterms:created xsi:type="dcterms:W3CDTF">2026-05-25T14:33:22Z</dcterms:created>
  <dcterms:modified xsi:type="dcterms:W3CDTF">2026-05-25T14:37:04Z</dcterms:modified>
</cp:coreProperties>
</file>