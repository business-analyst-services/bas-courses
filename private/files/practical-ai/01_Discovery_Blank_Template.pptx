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5" Type="http://schemas.openxmlformats.org/officeDocument/2006/relationships/slide" Target="slides/slide1.xml"/><Relationship Id="rId36" Type="http://schemas.openxmlformats.org/officeDocument/2006/relationships/slide" Target="slides/slide2.xml"/><Relationship Id="rId37" Type="http://schemas.openxmlformats.org/officeDocument/2006/relationships/slide" Target="slides/slide3.xml"/><Relationship Id="rId38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eopl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PLAYBOOK 01  ·  Discovery &amp; Stakeholder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Frame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</a:t>
            </a:r>
            <a:r>
              <a:rPr sz="1000" b="1">
                <a:solidFill>
                  <a:srgbClr val="0E6E80"/>
                </a:solidFill>
                <a:latin typeface="Arial"/>
              </a:rPr>
              <a:t>Discovery Brief — blank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YOUR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11423599" cy="603504"/>
          </a:xfrm>
          <a:prstGeom prst="roundRect">
            <a:avLst/>
          </a:prstGeom>
          <a:solidFill>
            <a:srgbClr val="F3FAF8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54864" cy="60350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426464"/>
            <a:ext cx="110578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PROBLEM 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91056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4283F"/>
                </a:solidFill>
                <a:latin typeface="Arial"/>
              </a:rPr>
              <a:t>State it in one clear sentence (plain language, with a number).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2139696"/>
            <a:ext cx="11423599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139696"/>
            <a:ext cx="11423599" cy="5486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2304288"/>
            <a:ext cx="111675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14283F"/>
                </a:solidFill>
                <a:latin typeface="Arial"/>
              </a:rPr>
              <a:t>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2743200"/>
            <a:ext cx="1116756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TARGET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3191256"/>
            <a:ext cx="5620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ASSUMPTIONS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429000"/>
            <a:ext cx="365760" cy="22860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4048" y="3584447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3520439"/>
            <a:ext cx="54557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22" name="Oval 21"/>
          <p:cNvSpPr/>
          <p:nvPr/>
        </p:nvSpPr>
        <p:spPr>
          <a:xfrm>
            <a:off x="384048" y="3822191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758183"/>
            <a:ext cx="54557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24" name="Oval 23"/>
          <p:cNvSpPr/>
          <p:nvPr/>
        </p:nvSpPr>
        <p:spPr>
          <a:xfrm>
            <a:off x="384048" y="4059935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3995927"/>
            <a:ext cx="54557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7287" y="3191256"/>
            <a:ext cx="5620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OPEN QUESTIONS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87287" y="3429000"/>
            <a:ext cx="365760" cy="22860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187287" y="3584447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3591" y="3520439"/>
            <a:ext cx="54557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0" name="Oval 29"/>
          <p:cNvSpPr/>
          <p:nvPr/>
        </p:nvSpPr>
        <p:spPr>
          <a:xfrm>
            <a:off x="6187287" y="3822191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3591" y="3758183"/>
            <a:ext cx="54557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2" name="Oval 31"/>
          <p:cNvSpPr/>
          <p:nvPr/>
        </p:nvSpPr>
        <p:spPr>
          <a:xfrm>
            <a:off x="6187287" y="4059935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33591" y="3995927"/>
            <a:ext cx="54557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Industry Domain Pack · YOUR PROJECT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88575" y="950976"/>
            <a:ext cx="1691640" cy="237744"/>
          </a:xfrm>
          <a:prstGeom prst="roundRect">
            <a:avLst/>
          </a:prstGeom>
          <a:solidFill>
            <a:srgbClr val="23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88575" y="960120"/>
            <a:ext cx="16916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★ MARQUEE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eopl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PLAYBOOK 01  ·  Discovery &amp; Stakeholder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Identify Stakeholders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</a:t>
            </a:r>
            <a:r>
              <a:rPr sz="1000" b="1">
                <a:solidFill>
                  <a:srgbClr val="0E6E80"/>
                </a:solidFill>
                <a:latin typeface="Arial"/>
              </a:rPr>
              <a:t>Stakeholder Register — blank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YOUR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3710330" cy="64008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&lt;item&gt;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828800"/>
            <a:ext cx="418592" cy="201168"/>
          </a:xfrm>
          <a:prstGeom prst="round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819656"/>
            <a:ext cx="4185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372868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0682" y="1371600"/>
            <a:ext cx="3710330" cy="64008"/>
          </a:xfrm>
          <a:prstGeom prst="rect">
            <a:avLst/>
          </a:prstGeom>
          <a:solidFill>
            <a:srgbClr val="889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6986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&lt;item&gt;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6986" y="1828800"/>
            <a:ext cx="418592" cy="201168"/>
          </a:xfrm>
          <a:prstGeom prst="roundRect">
            <a:avLst/>
          </a:prstGeom>
          <a:solidFill>
            <a:srgbClr val="889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6986" y="1819656"/>
            <a:ext cx="4185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6986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6986" y="2372868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7316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7316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3620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&lt;item&gt;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3620" y="1828800"/>
            <a:ext cx="418592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3620" y="1819656"/>
            <a:ext cx="4185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3620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3620" y="2372868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4048" y="3968496"/>
            <a:ext cx="3710330" cy="64008"/>
          </a:xfrm>
          <a:prstGeom prst="rect">
            <a:avLst/>
          </a:prstGeom>
          <a:solidFill>
            <a:srgbClr val="889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&lt;item&gt;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" y="4425696"/>
            <a:ext cx="418592" cy="201168"/>
          </a:xfrm>
          <a:prstGeom prst="roundRect">
            <a:avLst/>
          </a:prstGeom>
          <a:solidFill>
            <a:srgbClr val="889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4416552"/>
            <a:ext cx="4185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4969764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40682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40682" y="3968496"/>
            <a:ext cx="3710330" cy="64008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6986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&lt;item&gt;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86986" y="4425696"/>
            <a:ext cx="418592" cy="201168"/>
          </a:xfrm>
          <a:prstGeom prst="round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6986" y="4416552"/>
            <a:ext cx="4185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6986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6986" y="4969764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Industry Domain Pack · YOUR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eopl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PLAYBOOK 01  ·  Discovery &amp; Stakeholder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Map Influence &amp; Interest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</a:t>
            </a:r>
            <a:r>
              <a:rPr sz="1000" b="1">
                <a:solidFill>
                  <a:srgbClr val="0E6E80"/>
                </a:solidFill>
                <a:latin typeface="Arial"/>
              </a:rPr>
              <a:t>Stakeholder Map (2x2) — blank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YOUR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7" y="1417320"/>
            <a:ext cx="2340863" cy="2340863"/>
          </a:xfrm>
          <a:prstGeom prst="rect">
            <a:avLst/>
          </a:prstGeom>
          <a:solidFill>
            <a:srgbClr val="E7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82111" y="1417320"/>
            <a:ext cx="2340863" cy="2340863"/>
          </a:xfrm>
          <a:prstGeom prst="rect">
            <a:avLst/>
          </a:prstGeom>
          <a:solidFill>
            <a:srgbClr val="E3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7" y="3758183"/>
            <a:ext cx="2340863" cy="2340863"/>
          </a:xfrm>
          <a:prstGeom prst="rect">
            <a:avLst/>
          </a:prstGeom>
          <a:solidFill>
            <a:srgbClr val="F2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82111" y="3758183"/>
            <a:ext cx="2340863" cy="2340863"/>
          </a:xfrm>
          <a:prstGeom prst="rect">
            <a:avLst/>
          </a:prstGeom>
          <a:solidFill>
            <a:srgbClr val="F3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7" y="1417320"/>
            <a:ext cx="4681727" cy="4681727"/>
          </a:xfrm>
          <a:prstGeom prst="rect">
            <a:avLst/>
          </a:prstGeom>
          <a:noFill/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3182111" y="1417320"/>
            <a:ext cx="0" cy="4681727"/>
          </a:xfrm>
          <a:prstGeom prst="line">
            <a:avLst/>
          </a:prstGeom>
          <a:ln w="17780">
            <a:solidFill>
              <a:srgbClr val="14283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41247" y="3758183"/>
            <a:ext cx="4681728" cy="0"/>
          </a:xfrm>
          <a:prstGeom prst="line">
            <a:avLst/>
          </a:prstGeom>
          <a:ln w="17780">
            <a:solidFill>
              <a:srgbClr val="14283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96112" y="1453896"/>
            <a:ext cx="224942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5B6B75"/>
                </a:solidFill>
                <a:latin typeface="Arial"/>
              </a:rPr>
              <a:t>MANAGE CLOSELY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82111" y="1453896"/>
            <a:ext cx="224942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5B6B75"/>
                </a:solidFill>
                <a:latin typeface="Arial"/>
              </a:rPr>
              <a:t>PARTNER (KEY PLAYERS)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5897879"/>
            <a:ext cx="224942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5B6B75"/>
                </a:solidFill>
                <a:latin typeface="Arial"/>
              </a:rPr>
              <a:t>MONITOR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82111" y="5897879"/>
            <a:ext cx="224942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5B6B75"/>
                </a:solidFill>
                <a:latin typeface="Arial"/>
              </a:rPr>
              <a:t>KEEP INFORMED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6135623"/>
            <a:ext cx="468172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4283F"/>
                </a:solidFill>
                <a:latin typeface="Arial"/>
              </a:rPr>
              <a:t>INTEREST  →</a:t>
            </a:r>
          </a:p>
        </p:txBody>
      </p:sp>
      <p:sp>
        <p:nvSpPr>
          <p:cNvPr id="22" name="TextBox 21"/>
          <p:cNvSpPr txBox="1"/>
          <p:nvPr/>
        </p:nvSpPr>
        <p:spPr>
          <a:xfrm rot="16200000">
            <a:off x="-1645919" y="3666744"/>
            <a:ext cx="468172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4283F"/>
                </a:solidFill>
                <a:latin typeface="Arial"/>
              </a:rPr>
              <a:t>INFLUENCE  →</a:t>
            </a:r>
          </a:p>
        </p:txBody>
      </p:sp>
      <p:sp>
        <p:nvSpPr>
          <p:cNvPr id="23" name="Oval 22"/>
          <p:cNvSpPr/>
          <p:nvPr/>
        </p:nvSpPr>
        <p:spPr>
          <a:xfrm>
            <a:off x="3829507" y="2532888"/>
            <a:ext cx="109728" cy="109728"/>
          </a:xfrm>
          <a:prstGeom prst="ellipse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75811" y="2496312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&lt;name&gt;</a:t>
            </a:r>
          </a:p>
        </p:txBody>
      </p:sp>
      <p:sp>
        <p:nvSpPr>
          <p:cNvPr id="25" name="Oval 24"/>
          <p:cNvSpPr/>
          <p:nvPr/>
        </p:nvSpPr>
        <p:spPr>
          <a:xfrm>
            <a:off x="4765852" y="2532888"/>
            <a:ext cx="109728" cy="109728"/>
          </a:xfrm>
          <a:prstGeom prst="ellipse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12156" y="2496312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&lt;name&gt;</a:t>
            </a:r>
          </a:p>
        </p:txBody>
      </p:sp>
      <p:sp>
        <p:nvSpPr>
          <p:cNvPr id="27" name="Oval 26"/>
          <p:cNvSpPr/>
          <p:nvPr/>
        </p:nvSpPr>
        <p:spPr>
          <a:xfrm>
            <a:off x="3829507" y="4873752"/>
            <a:ext cx="109728" cy="109728"/>
          </a:xfrm>
          <a:prstGeom prst="ellipse">
            <a:avLst/>
          </a:prstGeom>
          <a:solidFill>
            <a:srgbClr val="889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75811" y="4837176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&lt;name&gt;</a:t>
            </a:r>
          </a:p>
        </p:txBody>
      </p:sp>
      <p:sp>
        <p:nvSpPr>
          <p:cNvPr id="29" name="Oval 28"/>
          <p:cNvSpPr/>
          <p:nvPr/>
        </p:nvSpPr>
        <p:spPr>
          <a:xfrm>
            <a:off x="4765852" y="4873752"/>
            <a:ext cx="109728" cy="109728"/>
          </a:xfrm>
          <a:prstGeom prst="ellipse">
            <a:avLst/>
          </a:prstGeom>
          <a:solidFill>
            <a:srgbClr val="889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12156" y="4837176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&lt;name&gt;</a:t>
            </a:r>
          </a:p>
        </p:txBody>
      </p:sp>
      <p:sp>
        <p:nvSpPr>
          <p:cNvPr id="31" name="Oval 30"/>
          <p:cNvSpPr/>
          <p:nvPr/>
        </p:nvSpPr>
        <p:spPr>
          <a:xfrm>
            <a:off x="1488643" y="2532888"/>
            <a:ext cx="109728" cy="109728"/>
          </a:xfrm>
          <a:prstGeom prst="ellipse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34947" y="2496312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&lt;name&gt;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88736" y="1417320"/>
            <a:ext cx="591891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4283F"/>
                </a:solidFill>
                <a:latin typeface="Arial"/>
              </a:rPr>
              <a:t>HOW TO ENGAGE</a:t>
            </a:r>
          </a:p>
        </p:txBody>
      </p:sp>
      <p:sp>
        <p:nvSpPr>
          <p:cNvPr id="34" name="Oval 33"/>
          <p:cNvSpPr/>
          <p:nvPr/>
        </p:nvSpPr>
        <p:spPr>
          <a:xfrm>
            <a:off x="5888736" y="1709928"/>
            <a:ext cx="91440" cy="91440"/>
          </a:xfrm>
          <a:prstGeom prst="ellipse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53327" y="1673352"/>
            <a:ext cx="573603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4283F"/>
                </a:solidFill>
                <a:latin typeface="Arial"/>
              </a:rPr>
              <a:t>Accelerator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53327" y="1874520"/>
            <a:ext cx="57360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solidFill>
                  <a:srgbClr val="5B6B75"/>
                </a:solidFill>
                <a:latin typeface="Arial"/>
              </a:rPr>
              <a:t>…</a:t>
            </a:r>
          </a:p>
        </p:txBody>
      </p:sp>
      <p:sp>
        <p:nvSpPr>
          <p:cNvPr id="37" name="Oval 36"/>
          <p:cNvSpPr/>
          <p:nvPr/>
        </p:nvSpPr>
        <p:spPr>
          <a:xfrm>
            <a:off x="5888736" y="2203704"/>
            <a:ext cx="91440" cy="91440"/>
          </a:xfrm>
          <a:prstGeom prst="ellipse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53327" y="2167128"/>
            <a:ext cx="573603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4283F"/>
                </a:solidFill>
                <a:latin typeface="Arial"/>
              </a:rPr>
              <a:t>Blocker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53327" y="2368296"/>
            <a:ext cx="57360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solidFill>
                  <a:srgbClr val="5B6B75"/>
                </a:solidFill>
                <a:latin typeface="Arial"/>
              </a:rPr>
              <a:t>…</a:t>
            </a:r>
          </a:p>
        </p:txBody>
      </p:sp>
      <p:sp>
        <p:nvSpPr>
          <p:cNvPr id="40" name="Oval 39"/>
          <p:cNvSpPr/>
          <p:nvPr/>
        </p:nvSpPr>
        <p:spPr>
          <a:xfrm>
            <a:off x="5888736" y="2697480"/>
            <a:ext cx="91440" cy="91440"/>
          </a:xfrm>
          <a:prstGeom prst="ellipse">
            <a:avLst/>
          </a:prstGeom>
          <a:solidFill>
            <a:srgbClr val="889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53327" y="2660904"/>
            <a:ext cx="573603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4283F"/>
                </a:solidFill>
                <a:latin typeface="Arial"/>
              </a:rPr>
              <a:t>Neutral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53327" y="2862072"/>
            <a:ext cx="57360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solidFill>
                  <a:srgbClr val="5B6B75"/>
                </a:solidFill>
                <a:latin typeface="Arial"/>
              </a:rPr>
              <a:t>…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Industry Domain Pack · YOUR PROJECT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088575" y="950976"/>
            <a:ext cx="1691640" cy="237744"/>
          </a:xfrm>
          <a:prstGeom prst="roundRect">
            <a:avLst/>
          </a:prstGeom>
          <a:solidFill>
            <a:srgbClr val="23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88575" y="960120"/>
            <a:ext cx="16916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★ MARQUEE TEMPLATE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eopl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PLAYBOOK 01  ·  Discovery &amp; Stakeholder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Surface the Real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</a:t>
            </a:r>
            <a:r>
              <a:rPr sz="1000" b="1">
                <a:solidFill>
                  <a:srgbClr val="0E6E80"/>
                </a:solidFill>
                <a:latin typeface="Arial"/>
              </a:rPr>
              <a:t>Decision Register — blank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YOUR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Industry Domain Pack · YOUR PROJECT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75488" y="1645920"/>
            <a:ext cx="11240719" cy="0"/>
          </a:xfrm>
          <a:prstGeom prst="line">
            <a:avLst/>
          </a:prstGeom>
          <a:ln w="1778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75488" y="1600200"/>
            <a:ext cx="0" cy="91440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8288" y="1737360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Now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285667" y="1600200"/>
            <a:ext cx="0" cy="91440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828467" y="1737360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Wk2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095847" y="1600200"/>
            <a:ext cx="0" cy="91440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638647" y="1737360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Wk4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906027" y="1600200"/>
            <a:ext cx="0" cy="91440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448827" y="1737360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Wk6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1716207" y="1600200"/>
            <a:ext cx="0" cy="91440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1259007" y="1737360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Wk8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285667" y="1975104"/>
            <a:ext cx="0" cy="219456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095847" y="1975104"/>
            <a:ext cx="0" cy="1275587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906027" y="1975104"/>
            <a:ext cx="0" cy="2331719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311117" y="1975104"/>
            <a:ext cx="0" cy="3387851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Diamond 51"/>
          <p:cNvSpPr/>
          <p:nvPr/>
        </p:nvSpPr>
        <p:spPr>
          <a:xfrm>
            <a:off x="3194227" y="1554480"/>
            <a:ext cx="182880" cy="182880"/>
          </a:xfrm>
          <a:prstGeom prst="diamond">
            <a:avLst/>
          </a:prstGeom>
          <a:solidFill>
            <a:srgbClr val="1789A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37027" y="1371600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789A0"/>
                </a:solidFill>
                <a:latin typeface="Arial"/>
              </a:rPr>
              <a:t>Wk 2</a:t>
            </a:r>
          </a:p>
        </p:txBody>
      </p:sp>
      <p:sp>
        <p:nvSpPr>
          <p:cNvPr id="54" name="Diamond 53"/>
          <p:cNvSpPr/>
          <p:nvPr/>
        </p:nvSpPr>
        <p:spPr>
          <a:xfrm>
            <a:off x="6004407" y="1554480"/>
            <a:ext cx="182880" cy="182880"/>
          </a:xfrm>
          <a:prstGeom prst="diamond">
            <a:avLst/>
          </a:prstGeom>
          <a:solidFill>
            <a:srgbClr val="1F3B5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47207" y="1371600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F3B59"/>
                </a:solidFill>
                <a:latin typeface="Arial"/>
              </a:rPr>
              <a:t>Wk 4</a:t>
            </a:r>
          </a:p>
        </p:txBody>
      </p:sp>
      <p:sp>
        <p:nvSpPr>
          <p:cNvPr id="56" name="Diamond 55"/>
          <p:cNvSpPr/>
          <p:nvPr/>
        </p:nvSpPr>
        <p:spPr>
          <a:xfrm>
            <a:off x="8814587" y="1554480"/>
            <a:ext cx="182880" cy="182880"/>
          </a:xfrm>
          <a:prstGeom prst="diamond">
            <a:avLst/>
          </a:prstGeom>
          <a:solidFill>
            <a:srgbClr val="1789A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57387" y="1371600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789A0"/>
                </a:solidFill>
                <a:latin typeface="Arial"/>
              </a:rPr>
              <a:t>Wk 6</a:t>
            </a:r>
          </a:p>
        </p:txBody>
      </p:sp>
      <p:sp>
        <p:nvSpPr>
          <p:cNvPr id="58" name="Diamond 57"/>
          <p:cNvSpPr/>
          <p:nvPr/>
        </p:nvSpPr>
        <p:spPr>
          <a:xfrm>
            <a:off x="10219677" y="1554480"/>
            <a:ext cx="182880" cy="182880"/>
          </a:xfrm>
          <a:prstGeom prst="diamond">
            <a:avLst/>
          </a:prstGeom>
          <a:solidFill>
            <a:srgbClr val="1F3B5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62477" y="1371600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F3B59"/>
                </a:solidFill>
                <a:latin typeface="Arial"/>
              </a:rPr>
              <a:t>Wk 7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685467" y="2194560"/>
            <a:ext cx="3200400" cy="841248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831771" y="2286000"/>
            <a:ext cx="29260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&lt;decision 1&gt;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31771" y="2761488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Owner: … · by Wk 2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495647" y="3250691"/>
            <a:ext cx="3200400" cy="841248"/>
          </a:xfrm>
          <a:prstGeom prst="roundRect">
            <a:avLst/>
          </a:prstGeom>
          <a:solidFill>
            <a:srgbClr val="1F3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641951" y="3342132"/>
            <a:ext cx="29260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&lt;decision 2&gt;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641951" y="3817620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Owner: … · by Wk 4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305827" y="4306823"/>
            <a:ext cx="3200400" cy="841248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52131" y="4398263"/>
            <a:ext cx="29260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&lt;decision 3&gt;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52131" y="4873751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Owner: … · by Wk 6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515807" y="5362955"/>
            <a:ext cx="3200400" cy="841248"/>
          </a:xfrm>
          <a:prstGeom prst="roundRect">
            <a:avLst/>
          </a:prstGeom>
          <a:solidFill>
            <a:srgbClr val="1F3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662111" y="5454395"/>
            <a:ext cx="29260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&lt;decision 4&gt;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62111" y="5929883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Owner: … · by Wk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